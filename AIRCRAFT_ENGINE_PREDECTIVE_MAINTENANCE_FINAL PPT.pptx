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sldIdLst>
    <p:sldId id="256" r:id="rId2"/>
    <p:sldId id="259" r:id="rId3"/>
    <p:sldId id="269" r:id="rId4"/>
    <p:sldId id="270" r:id="rId5"/>
    <p:sldId id="261" r:id="rId6"/>
    <p:sldId id="278" r:id="rId7"/>
    <p:sldId id="285" r:id="rId8"/>
    <p:sldId id="258" r:id="rId9"/>
    <p:sldId id="271" r:id="rId10"/>
    <p:sldId id="272" r:id="rId11"/>
    <p:sldId id="279" r:id="rId12"/>
    <p:sldId id="273" r:id="rId13"/>
    <p:sldId id="265" r:id="rId14"/>
    <p:sldId id="280" r:id="rId15"/>
    <p:sldId id="276" r:id="rId16"/>
    <p:sldId id="281" r:id="rId17"/>
    <p:sldId id="266" r:id="rId18"/>
    <p:sldId id="257" r:id="rId19"/>
    <p:sldId id="283" r:id="rId20"/>
    <p:sldId id="284" r:id="rId21"/>
    <p:sldId id="286" r:id="rId22"/>
    <p:sldId id="267" r:id="rId23"/>
    <p:sldId id="274" r:id="rId24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 Display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 Display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 Display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 Display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 Display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 Display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 Display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 Display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ptos Display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6DCF9"/>
    <a:srgbClr val="111184"/>
    <a:srgbClr val="4E95D9"/>
    <a:srgbClr val="4EAC5A"/>
    <a:srgbClr val="7030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915" dt="2026-10-07T17:42:18.005"/>
    <p1510:client id="{5C142BB4-6AC4-409C-9F42-80173219789A}" v="6" dt="2026-10-07T15:16:49.806"/>
    <p1510:client id="{6A029C32-90AA-3D94-6F5D-60B63500ADE7}" v="312" dt="2026-10-07T16:54:46.381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D3CB"/>
          </a:solidFill>
        </a:fill>
      </a:tcStyle>
    </a:wholeTbl>
    <a:band2H>
      <a:tcTxStyle/>
      <a:tcStyle>
        <a:tcBdr/>
        <a:fill>
          <a:solidFill>
            <a:srgbClr val="E7EAE7"/>
          </a:solidFill>
        </a:fill>
      </a:tcStyle>
    </a:band2H>
    <a:firstCol>
      <a:tcTxStyle b="on" i="off">
        <a:font>
          <a:latin typeface="Aptos SemiBold"/>
          <a:ea typeface="Aptos SemiBold"/>
          <a:cs typeface="Aptos Semi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ptos SemiBold"/>
          <a:ea typeface="Aptos SemiBold"/>
          <a:cs typeface="Aptos Semi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Aptos SemiBold"/>
          <a:ea typeface="Aptos SemiBold"/>
          <a:cs typeface="Aptos Semi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1D8"/>
          </a:solidFill>
        </a:fill>
      </a:tcStyle>
    </a:wholeTbl>
    <a:band2H>
      <a:tcTxStyle/>
      <a:tcStyle>
        <a:tcBdr/>
        <a:fill>
          <a:solidFill>
            <a:srgbClr val="E7E9EC"/>
          </a:solidFill>
        </a:fill>
      </a:tcStyle>
    </a:band2H>
    <a:firstCol>
      <a:tcTxStyle b="on" i="off">
        <a:font>
          <a:latin typeface="Aptos SemiBold"/>
          <a:ea typeface="Aptos SemiBold"/>
          <a:cs typeface="Aptos Semi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Aptos SemiBold"/>
          <a:ea typeface="Aptos SemiBold"/>
          <a:cs typeface="Aptos Semi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Aptos SemiBold"/>
          <a:ea typeface="Aptos SemiBold"/>
          <a:cs typeface="Aptos Semi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6D4CC"/>
          </a:solidFill>
        </a:fill>
      </a:tcStyle>
    </a:wholeTbl>
    <a:band2H>
      <a:tcTxStyle/>
      <a:tcStyle>
        <a:tcBdr/>
        <a:fill>
          <a:solidFill>
            <a:srgbClr val="FBEBE7"/>
          </a:solidFill>
        </a:fill>
      </a:tcStyle>
    </a:band2H>
    <a:firstCol>
      <a:tcTxStyle b="on" i="off">
        <a:font>
          <a:latin typeface="Aptos SemiBold"/>
          <a:ea typeface="Aptos SemiBold"/>
          <a:cs typeface="Aptos Semi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Aptos SemiBold"/>
          <a:ea typeface="Aptos SemiBold"/>
          <a:cs typeface="Aptos Semi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Aptos SemiBold"/>
          <a:ea typeface="Aptos SemiBold"/>
          <a:cs typeface="Aptos Semi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Aptos SemiBold"/>
          <a:ea typeface="Aptos SemiBold"/>
          <a:cs typeface="Aptos Semi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ptos SemiBold"/>
          <a:ea typeface="Aptos SemiBold"/>
          <a:cs typeface="Aptos SemiBold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Aptos SemiBold"/>
          <a:ea typeface="Aptos SemiBold"/>
          <a:cs typeface="Aptos SemiBold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Aptos SemiBold"/>
          <a:ea typeface="Aptos SemiBold"/>
          <a:cs typeface="Aptos Semi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Aptos SemiBold"/>
          <a:ea typeface="Aptos SemiBold"/>
          <a:cs typeface="Aptos Semi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Aptos SemiBold"/>
          <a:ea typeface="Aptos SemiBold"/>
          <a:cs typeface="Aptos SemiBold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Aptos SemiBold"/>
          <a:ea typeface="Aptos SemiBold"/>
          <a:cs typeface="Aptos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Aptos SemiBold"/>
          <a:ea typeface="Aptos SemiBold"/>
          <a:cs typeface="Aptos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Aptos SemiBold"/>
          <a:ea typeface="Aptos SemiBold"/>
          <a:cs typeface="Aptos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4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userId="S::urn:spo:tenantanon#a5716187-2f88-4bb0-905f-9272724a64cd::" providerId="AD" clId="Web-{00000000-0000-0000-0000-000000000000}"/>
    <pc:docChg chg="addSld delSld modSld sldOrd">
      <pc:chgData name="Guest User" userId="S::urn:spo:tenantanon#a5716187-2f88-4bb0-905f-9272724a64cd::" providerId="AD" clId="Web-{00000000-0000-0000-0000-000000000000}" dt="2026-10-07T17:43:13.476" v="746" actId="1076"/>
      <pc:docMkLst>
        <pc:docMk/>
      </pc:docMkLst>
      <pc:sldChg chg="modSp">
        <pc:chgData name="Guest User" userId="S::urn:spo:tenantanon#a5716187-2f88-4bb0-905f-9272724a64cd::" providerId="AD" clId="Web-{00000000-0000-0000-0000-000000000000}" dt="2026-10-07T16:59:34.529" v="32" actId="20577"/>
        <pc:sldMkLst>
          <pc:docMk/>
          <pc:sldMk cId="0" sldId="258"/>
        </pc:sldMkLst>
        <pc:spChg chg="mod">
          <ac:chgData name="Guest User" userId="S::urn:spo:tenantanon#a5716187-2f88-4bb0-905f-9272724a64cd::" providerId="AD" clId="Web-{00000000-0000-0000-0000-000000000000}" dt="2026-10-07T16:58:55.029" v="13" actId="14100"/>
          <ac:spMkLst>
            <pc:docMk/>
            <pc:sldMk cId="0" sldId="258"/>
            <ac:spMk id="9" creationId="{00000000-0000-0000-0000-000000000000}"/>
          </ac:spMkLst>
        </pc:spChg>
        <pc:spChg chg="mod">
          <ac:chgData name="Guest User" userId="S::urn:spo:tenantanon#a5716187-2f88-4bb0-905f-9272724a64cd::" providerId="AD" clId="Web-{00000000-0000-0000-0000-000000000000}" dt="2026-10-07T16:59:34.529" v="32" actId="20577"/>
          <ac:spMkLst>
            <pc:docMk/>
            <pc:sldMk cId="0" sldId="258"/>
            <ac:spMk id="48" creationId="{00000000-0000-0000-0000-000000000000}"/>
          </ac:spMkLst>
        </pc:spChg>
      </pc:sldChg>
      <pc:sldChg chg="modSp">
        <pc:chgData name="Guest User" userId="S::urn:spo:tenantanon#a5716187-2f88-4bb0-905f-9272724a64cd::" providerId="AD" clId="Web-{00000000-0000-0000-0000-000000000000}" dt="2026-10-07T17:09:16.111" v="223"/>
        <pc:sldMkLst>
          <pc:docMk/>
          <pc:sldMk cId="0" sldId="265"/>
        </pc:sldMkLst>
        <pc:graphicFrameChg chg="mod modGraphic">
          <ac:chgData name="Guest User" userId="S::urn:spo:tenantanon#a5716187-2f88-4bb0-905f-9272724a64cd::" providerId="AD" clId="Web-{00000000-0000-0000-0000-000000000000}" dt="2026-10-07T17:09:16.111" v="223"/>
          <ac:graphicFrameMkLst>
            <pc:docMk/>
            <pc:sldMk cId="0" sldId="265"/>
            <ac:graphicFrameMk id="3" creationId="{D050EE6C-B4EC-B777-A323-E96FB6A83692}"/>
          </ac:graphicFrameMkLst>
        </pc:graphicFrameChg>
      </pc:sldChg>
      <pc:sldChg chg="modSp">
        <pc:chgData name="Guest User" userId="S::urn:spo:tenantanon#a5716187-2f88-4bb0-905f-9272724a64cd::" providerId="AD" clId="Web-{00000000-0000-0000-0000-000000000000}" dt="2026-10-07T17:01:32.903" v="37"/>
        <pc:sldMkLst>
          <pc:docMk/>
          <pc:sldMk cId="930356573" sldId="271"/>
        </pc:sldMkLst>
        <pc:spChg chg="mod">
          <ac:chgData name="Guest User" userId="S::urn:spo:tenantanon#a5716187-2f88-4bb0-905f-9272724a64cd::" providerId="AD" clId="Web-{00000000-0000-0000-0000-000000000000}" dt="2026-10-07T17:01:32.903" v="37"/>
          <ac:spMkLst>
            <pc:docMk/>
            <pc:sldMk cId="930356573" sldId="271"/>
            <ac:spMk id="17" creationId="{1BB6448F-3B0A-0B82-F257-52E96AEA8F24}"/>
          </ac:spMkLst>
        </pc:spChg>
      </pc:sldChg>
      <pc:sldChg chg="modSp">
        <pc:chgData name="Guest User" userId="S::urn:spo:tenantanon#a5716187-2f88-4bb0-905f-9272724a64cd::" providerId="AD" clId="Web-{00000000-0000-0000-0000-000000000000}" dt="2026-10-07T17:02:19.872" v="61" actId="20577"/>
        <pc:sldMkLst>
          <pc:docMk/>
          <pc:sldMk cId="0" sldId="272"/>
        </pc:sldMkLst>
        <pc:spChg chg="mod">
          <ac:chgData name="Guest User" userId="S::urn:spo:tenantanon#a5716187-2f88-4bb0-905f-9272724a64cd::" providerId="AD" clId="Web-{00000000-0000-0000-0000-000000000000}" dt="2026-10-07T17:02:19.872" v="61" actId="20577"/>
          <ac:spMkLst>
            <pc:docMk/>
            <pc:sldMk cId="0" sldId="272"/>
            <ac:spMk id="8" creationId="{00000000-0000-0000-0000-000000000000}"/>
          </ac:spMkLst>
        </pc:spChg>
      </pc:sldChg>
      <pc:sldChg chg="modSp">
        <pc:chgData name="Guest User" userId="S::urn:spo:tenantanon#a5716187-2f88-4bb0-905f-9272724a64cd::" providerId="AD" clId="Web-{00000000-0000-0000-0000-000000000000}" dt="2026-10-07T17:05:55.049" v="146" actId="1076"/>
        <pc:sldMkLst>
          <pc:docMk/>
          <pc:sldMk cId="0" sldId="273"/>
        </pc:sldMkLst>
        <pc:spChg chg="mod">
          <ac:chgData name="Guest User" userId="S::urn:spo:tenantanon#a5716187-2f88-4bb0-905f-9272724a64cd::" providerId="AD" clId="Web-{00000000-0000-0000-0000-000000000000}" dt="2026-10-07T17:05:29.689" v="126" actId="20577"/>
          <ac:spMkLst>
            <pc:docMk/>
            <pc:sldMk cId="0" sldId="273"/>
            <ac:spMk id="9" creationId="{00000000-0000-0000-0000-000000000000}"/>
          </ac:spMkLst>
        </pc:spChg>
        <pc:spChg chg="mod">
          <ac:chgData name="Guest User" userId="S::urn:spo:tenantanon#a5716187-2f88-4bb0-905f-9272724a64cd::" providerId="AD" clId="Web-{00000000-0000-0000-0000-000000000000}" dt="2026-10-07T17:05:40.096" v="145" actId="20577"/>
          <ac:spMkLst>
            <pc:docMk/>
            <pc:sldMk cId="0" sldId="273"/>
            <ac:spMk id="16" creationId="{00000000-0000-0000-0000-000000000000}"/>
          </ac:spMkLst>
        </pc:spChg>
        <pc:spChg chg="mod">
          <ac:chgData name="Guest User" userId="S::urn:spo:tenantanon#a5716187-2f88-4bb0-905f-9272724a64cd::" providerId="AD" clId="Web-{00000000-0000-0000-0000-000000000000}" dt="2026-10-07T17:05:55.049" v="146" actId="1076"/>
          <ac:spMkLst>
            <pc:docMk/>
            <pc:sldMk cId="0" sldId="273"/>
            <ac:spMk id="10241" creationId="{00000000-0000-0000-0000-000000000000}"/>
          </ac:spMkLst>
        </pc:spChg>
      </pc:sldChg>
      <pc:sldChg chg="addSp modSp ord">
        <pc:chgData name="Guest User" userId="S::urn:spo:tenantanon#a5716187-2f88-4bb0-905f-9272724a64cd::" providerId="AD" clId="Web-{00000000-0000-0000-0000-000000000000}" dt="2026-10-07T17:08:24.845" v="215"/>
        <pc:sldMkLst>
          <pc:docMk/>
          <pc:sldMk cId="0" sldId="274"/>
        </pc:sldMkLst>
        <pc:spChg chg="add mod">
          <ac:chgData name="Guest User" userId="S::urn:spo:tenantanon#a5716187-2f88-4bb0-905f-9272724a64cd::" providerId="AD" clId="Web-{00000000-0000-0000-0000-000000000000}" dt="2026-10-07T17:08:02.767" v="212"/>
          <ac:spMkLst>
            <pc:docMk/>
            <pc:sldMk cId="0" sldId="274"/>
            <ac:spMk id="2" creationId="{F2162F7E-2A67-2822-59DB-D31AA770FE6B}"/>
          </ac:spMkLst>
        </pc:spChg>
        <pc:spChg chg="mod">
          <ac:chgData name="Guest User" userId="S::urn:spo:tenantanon#a5716187-2f88-4bb0-905f-9272724a64cd::" providerId="AD" clId="Web-{00000000-0000-0000-0000-000000000000}" dt="2026-10-07T17:07:24.642" v="175" actId="20577"/>
          <ac:spMkLst>
            <pc:docMk/>
            <pc:sldMk cId="0" sldId="274"/>
            <ac:spMk id="5" creationId="{00000000-0000-0000-0000-000000000000}"/>
          </ac:spMkLst>
        </pc:spChg>
      </pc:sldChg>
      <pc:sldChg chg="del ord">
        <pc:chgData name="Guest User" userId="S::urn:spo:tenantanon#a5716187-2f88-4bb0-905f-9272724a64cd::" providerId="AD" clId="Web-{00000000-0000-0000-0000-000000000000}" dt="2026-10-07T17:32:27.201" v="718"/>
        <pc:sldMkLst>
          <pc:docMk/>
          <pc:sldMk cId="0" sldId="275"/>
        </pc:sldMkLst>
      </pc:sldChg>
      <pc:sldChg chg="addSp delSp modSp">
        <pc:chgData name="Guest User" userId="S::urn:spo:tenantanon#a5716187-2f88-4bb0-905f-9272724a64cd::" providerId="AD" clId="Web-{00000000-0000-0000-0000-000000000000}" dt="2026-10-07T17:43:13.476" v="746" actId="1076"/>
        <pc:sldMkLst>
          <pc:docMk/>
          <pc:sldMk cId="0" sldId="276"/>
        </pc:sldMkLst>
        <pc:spChg chg="add del mod">
          <ac:chgData name="Guest User" userId="S::urn:spo:tenantanon#a5716187-2f88-4bb0-905f-9272724a64cd::" providerId="AD" clId="Web-{00000000-0000-0000-0000-000000000000}" dt="2026-10-07T17:41:54.379" v="738"/>
          <ac:spMkLst>
            <pc:docMk/>
            <pc:sldMk cId="0" sldId="276"/>
            <ac:spMk id="2" creationId="{DBEFEE99-AB6D-BA63-C22F-DF4C3AF35C77}"/>
          </ac:spMkLst>
        </pc:spChg>
        <pc:spChg chg="add del mod">
          <ac:chgData name="Guest User" userId="S::urn:spo:tenantanon#a5716187-2f88-4bb0-905f-9272724a64cd::" providerId="AD" clId="Web-{00000000-0000-0000-0000-000000000000}" dt="2026-10-07T17:42:18.005" v="741"/>
          <ac:spMkLst>
            <pc:docMk/>
            <pc:sldMk cId="0" sldId="276"/>
            <ac:spMk id="3" creationId="{CF9B9603-E3F0-5E2F-D5FB-6679DD9D1791}"/>
          </ac:spMkLst>
        </pc:spChg>
        <pc:spChg chg="mod">
          <ac:chgData name="Guest User" userId="S::urn:spo:tenantanon#a5716187-2f88-4bb0-905f-9272724a64cd::" providerId="AD" clId="Web-{00000000-0000-0000-0000-000000000000}" dt="2026-10-07T17:40:49.002" v="727" actId="1076"/>
          <ac:spMkLst>
            <pc:docMk/>
            <pc:sldMk cId="0" sldId="276"/>
            <ac:spMk id="6" creationId="{00000000-0000-0000-0000-000000000000}"/>
          </ac:spMkLst>
        </pc:spChg>
        <pc:spChg chg="del">
          <ac:chgData name="Guest User" userId="S::urn:spo:tenantanon#a5716187-2f88-4bb0-905f-9272724a64cd::" providerId="AD" clId="Web-{00000000-0000-0000-0000-000000000000}" dt="2026-10-07T17:40:30.017" v="725"/>
          <ac:spMkLst>
            <pc:docMk/>
            <pc:sldMk cId="0" sldId="276"/>
            <ac:spMk id="8" creationId="{00000000-0000-0000-0000-000000000000}"/>
          </ac:spMkLst>
        </pc:spChg>
        <pc:spChg chg="del">
          <ac:chgData name="Guest User" userId="S::urn:spo:tenantanon#a5716187-2f88-4bb0-905f-9272724a64cd::" providerId="AD" clId="Web-{00000000-0000-0000-0000-000000000000}" dt="2026-10-07T17:40:32.829" v="726"/>
          <ac:spMkLst>
            <pc:docMk/>
            <pc:sldMk cId="0" sldId="276"/>
            <ac:spMk id="9" creationId="{00000000-0000-0000-0000-000000000000}"/>
          </ac:spMkLst>
        </pc:spChg>
        <pc:graphicFrameChg chg="mod">
          <ac:chgData name="Guest User" userId="S::urn:spo:tenantanon#a5716187-2f88-4bb0-905f-9272724a64cd::" providerId="AD" clId="Web-{00000000-0000-0000-0000-000000000000}" dt="2026-10-07T17:43:13.476" v="746" actId="1076"/>
          <ac:graphicFrameMkLst>
            <pc:docMk/>
            <pc:sldMk cId="0" sldId="276"/>
            <ac:graphicFrameMk id="7" creationId="{00000000-0000-0000-0000-000000000000}"/>
          </ac:graphicFrameMkLst>
        </pc:graphicFrameChg>
      </pc:sldChg>
      <pc:sldChg chg="modSp">
        <pc:chgData name="Guest User" userId="S::urn:spo:tenantanon#a5716187-2f88-4bb0-905f-9272724a64cd::" providerId="AD" clId="Web-{00000000-0000-0000-0000-000000000000}" dt="2026-10-07T17:04:28.497" v="109" actId="20577"/>
        <pc:sldMkLst>
          <pc:docMk/>
          <pc:sldMk cId="0" sldId="279"/>
        </pc:sldMkLst>
        <pc:spChg chg="mod">
          <ac:chgData name="Guest User" userId="S::urn:spo:tenantanon#a5716187-2f88-4bb0-905f-9272724a64cd::" providerId="AD" clId="Web-{00000000-0000-0000-0000-000000000000}" dt="2026-10-07T17:04:28.497" v="109" actId="20577"/>
          <ac:spMkLst>
            <pc:docMk/>
            <pc:sldMk cId="0" sldId="279"/>
            <ac:spMk id="45057" creationId="{00000000-0000-0000-0000-000000000000}"/>
          </ac:spMkLst>
        </pc:spChg>
      </pc:sldChg>
      <pc:sldChg chg="addSp delSp modSp">
        <pc:chgData name="Guest User" userId="S::urn:spo:tenantanon#a5716187-2f88-4bb0-905f-9272724a64cd::" providerId="AD" clId="Web-{00000000-0000-0000-0000-000000000000}" dt="2026-10-07T17:39:34.530" v="721" actId="1076"/>
        <pc:sldMkLst>
          <pc:docMk/>
          <pc:sldMk cId="0" sldId="280"/>
        </pc:sldMkLst>
        <pc:picChg chg="add mod">
          <ac:chgData name="Guest User" userId="S::urn:spo:tenantanon#a5716187-2f88-4bb0-905f-9272724a64cd::" providerId="AD" clId="Web-{00000000-0000-0000-0000-000000000000}" dt="2026-10-07T17:39:34.530" v="721" actId="1076"/>
          <ac:picMkLst>
            <pc:docMk/>
            <pc:sldMk cId="0" sldId="280"/>
            <ac:picMk id="2" creationId="{B6B94969-7DD3-D62A-F436-D1941658F91D}"/>
          </ac:picMkLst>
        </pc:picChg>
        <pc:picChg chg="del">
          <ac:chgData name="Guest User" userId="S::urn:spo:tenantanon#a5716187-2f88-4bb0-905f-9272724a64cd::" providerId="AD" clId="Web-{00000000-0000-0000-0000-000000000000}" dt="2026-10-07T17:39:05.733" v="719"/>
          <ac:picMkLst>
            <pc:docMk/>
            <pc:sldMk cId="0" sldId="280"/>
            <ac:picMk id="3" creationId="{B2F929A1-1B06-2A76-576B-CD8AE06C6450}"/>
          </ac:picMkLst>
        </pc:picChg>
      </pc:sldChg>
      <pc:sldChg chg="addSp delSp modSp">
        <pc:chgData name="Guest User" userId="S::urn:spo:tenantanon#a5716187-2f88-4bb0-905f-9272724a64cd::" providerId="AD" clId="Web-{00000000-0000-0000-0000-000000000000}" dt="2026-10-07T17:32:15.013" v="717" actId="1076"/>
        <pc:sldMkLst>
          <pc:docMk/>
          <pc:sldMk cId="0" sldId="281"/>
        </pc:sldMkLst>
        <pc:spChg chg="add del">
          <ac:chgData name="Guest User" userId="S::urn:spo:tenantanon#a5716187-2f88-4bb0-905f-9272724a64cd::" providerId="AD" clId="Web-{00000000-0000-0000-0000-000000000000}" dt="2026-10-07T17:13:37.688" v="225"/>
          <ac:spMkLst>
            <pc:docMk/>
            <pc:sldMk cId="0" sldId="281"/>
            <ac:spMk id="3" creationId="{CF611516-234B-6CD3-66E3-0F336B2D409E}"/>
          </ac:spMkLst>
        </pc:spChg>
        <pc:spChg chg="add mod">
          <ac:chgData name="Guest User" userId="S::urn:spo:tenantanon#a5716187-2f88-4bb0-905f-9272724a64cd::" providerId="AD" clId="Web-{00000000-0000-0000-0000-000000000000}" dt="2026-10-07T17:32:15.013" v="717" actId="1076"/>
          <ac:spMkLst>
            <pc:docMk/>
            <pc:sldMk cId="0" sldId="281"/>
            <ac:spMk id="7" creationId="{8560CC06-5E8F-83E3-56A3-F4D48C1DBA14}"/>
          </ac:spMkLst>
        </pc:spChg>
        <pc:spChg chg="add mod">
          <ac:chgData name="Guest User" userId="S::urn:spo:tenantanon#a5716187-2f88-4bb0-905f-9272724a64cd::" providerId="AD" clId="Web-{00000000-0000-0000-0000-000000000000}" dt="2026-10-07T17:31:41.810" v="710" actId="1076"/>
          <ac:spMkLst>
            <pc:docMk/>
            <pc:sldMk cId="0" sldId="281"/>
            <ac:spMk id="9" creationId="{CD642867-7F32-6189-6127-CBFD63AAD545}"/>
          </ac:spMkLst>
        </pc:spChg>
        <pc:spChg chg="add mod">
          <ac:chgData name="Guest User" userId="S::urn:spo:tenantanon#a5716187-2f88-4bb0-905f-9272724a64cd::" providerId="AD" clId="Web-{00000000-0000-0000-0000-000000000000}" dt="2026-10-07T17:31:41.841" v="711" actId="1076"/>
          <ac:spMkLst>
            <pc:docMk/>
            <pc:sldMk cId="0" sldId="281"/>
            <ac:spMk id="11" creationId="{59C51EBB-35B6-6BDD-547E-CB8C7FC39006}"/>
          </ac:spMkLst>
        </pc:spChg>
        <pc:spChg chg="add mod">
          <ac:chgData name="Guest User" userId="S::urn:spo:tenantanon#a5716187-2f88-4bb0-905f-9272724a64cd::" providerId="AD" clId="Web-{00000000-0000-0000-0000-000000000000}" dt="2026-10-07T17:31:41.873" v="712" actId="1076"/>
          <ac:spMkLst>
            <pc:docMk/>
            <pc:sldMk cId="0" sldId="281"/>
            <ac:spMk id="13" creationId="{49BD70B6-7533-DF4D-96E4-3B61E75479BF}"/>
          </ac:spMkLst>
        </pc:spChg>
        <pc:spChg chg="mod">
          <ac:chgData name="Guest User" userId="S::urn:spo:tenantanon#a5716187-2f88-4bb0-905f-9272724a64cd::" providerId="AD" clId="Web-{00000000-0000-0000-0000-000000000000}" dt="2026-10-07T17:31:48.841" v="713" actId="1076"/>
          <ac:spMkLst>
            <pc:docMk/>
            <pc:sldMk cId="0" sldId="281"/>
            <ac:spMk id="20" creationId="{00000000-0000-0000-0000-000000000000}"/>
          </ac:spMkLst>
        </pc:spChg>
        <pc:spChg chg="mod">
          <ac:chgData name="Guest User" userId="S::urn:spo:tenantanon#a5716187-2f88-4bb0-905f-9272724a64cd::" providerId="AD" clId="Web-{00000000-0000-0000-0000-000000000000}" dt="2026-10-07T17:32:08.419" v="716" actId="1076"/>
          <ac:spMkLst>
            <pc:docMk/>
            <pc:sldMk cId="0" sldId="281"/>
            <ac:spMk id="47105" creationId="{00000000-0000-0000-0000-000000000000}"/>
          </ac:spMkLst>
        </pc:spChg>
        <pc:graphicFrameChg chg="mod">
          <ac:chgData name="Guest User" userId="S::urn:spo:tenantanon#a5716187-2f88-4bb0-905f-9272724a64cd::" providerId="AD" clId="Web-{00000000-0000-0000-0000-000000000000}" dt="2026-10-07T17:31:59.919" v="715" actId="1076"/>
          <ac:graphicFrameMkLst>
            <pc:docMk/>
            <pc:sldMk cId="0" sldId="281"/>
            <ac:graphicFrameMk id="4" creationId="{00000000-0000-0000-0000-000000000000}"/>
          </ac:graphicFrameMkLst>
        </pc:graphicFrameChg>
      </pc:sldChg>
      <pc:sldChg chg="modSp">
        <pc:chgData name="Guest User" userId="S::urn:spo:tenantanon#a5716187-2f88-4bb0-905f-9272724a64cd::" providerId="AD" clId="Web-{00000000-0000-0000-0000-000000000000}" dt="2026-10-07T17:20:45.015" v="280" actId="20577"/>
        <pc:sldMkLst>
          <pc:docMk/>
          <pc:sldMk cId="3410360904" sldId="284"/>
        </pc:sldMkLst>
        <pc:spChg chg="mod">
          <ac:chgData name="Guest User" userId="S::urn:spo:tenantanon#a5716187-2f88-4bb0-905f-9272724a64cd::" providerId="AD" clId="Web-{00000000-0000-0000-0000-000000000000}" dt="2026-10-07T17:18:09.015" v="244" actId="20577"/>
          <ac:spMkLst>
            <pc:docMk/>
            <pc:sldMk cId="3410360904" sldId="284"/>
            <ac:spMk id="20" creationId="{00000000-0000-0000-0000-000000000000}"/>
          </ac:spMkLst>
        </pc:spChg>
        <pc:spChg chg="mod">
          <ac:chgData name="Guest User" userId="S::urn:spo:tenantanon#a5716187-2f88-4bb0-905f-9272724a64cd::" providerId="AD" clId="Web-{00000000-0000-0000-0000-000000000000}" dt="2026-10-07T17:19:25.218" v="268" actId="20577"/>
          <ac:spMkLst>
            <pc:docMk/>
            <pc:sldMk cId="3410360904" sldId="284"/>
            <ac:spMk id="21" creationId="{00000000-0000-0000-0000-000000000000}"/>
          </ac:spMkLst>
        </pc:spChg>
        <pc:spChg chg="mod">
          <ac:chgData name="Guest User" userId="S::urn:spo:tenantanon#a5716187-2f88-4bb0-905f-9272724a64cd::" providerId="AD" clId="Web-{00000000-0000-0000-0000-000000000000}" dt="2026-10-07T17:20:45.015" v="280" actId="20577"/>
          <ac:spMkLst>
            <pc:docMk/>
            <pc:sldMk cId="3410360904" sldId="284"/>
            <ac:spMk id="23" creationId="{00000000-0000-0000-0000-000000000000}"/>
          </ac:spMkLst>
        </pc:spChg>
      </pc:sldChg>
      <pc:sldChg chg="addSp delSp modSp add replId">
        <pc:chgData name="Guest User" userId="S::urn:spo:tenantanon#a5716187-2f88-4bb0-905f-9272724a64cd::" providerId="AD" clId="Web-{00000000-0000-0000-0000-000000000000}" dt="2026-10-07T17:29:34.904" v="708" actId="14100"/>
        <pc:sldMkLst>
          <pc:docMk/>
          <pc:sldMk cId="165356368" sldId="286"/>
        </pc:sldMkLst>
        <pc:spChg chg="mod">
          <ac:chgData name="Guest User" userId="S::urn:spo:tenantanon#a5716187-2f88-4bb0-905f-9272724a64cd::" providerId="AD" clId="Web-{00000000-0000-0000-0000-000000000000}" dt="2026-10-07T17:21:25.921" v="306" actId="20577"/>
          <ac:spMkLst>
            <pc:docMk/>
            <pc:sldMk cId="165356368" sldId="286"/>
            <ac:spMk id="2" creationId="{910DA4E8-BBE4-873F-78BF-9A2391722199}"/>
          </ac:spMkLst>
        </pc:spChg>
        <pc:spChg chg="del">
          <ac:chgData name="Guest User" userId="S::urn:spo:tenantanon#a5716187-2f88-4bb0-905f-9272724a64cd::" providerId="AD" clId="Web-{00000000-0000-0000-0000-000000000000}" dt="2026-10-07T17:26:28.608" v="587"/>
          <ac:spMkLst>
            <pc:docMk/>
            <pc:sldMk cId="165356368" sldId="286"/>
            <ac:spMk id="3" creationId="{634779BF-8C96-061B-45AC-2FCF6E958603}"/>
          </ac:spMkLst>
        </pc:spChg>
        <pc:spChg chg="del">
          <ac:chgData name="Guest User" userId="S::urn:spo:tenantanon#a5716187-2f88-4bb0-905f-9272724a64cd::" providerId="AD" clId="Web-{00000000-0000-0000-0000-000000000000}" dt="2026-10-07T17:26:31.248" v="588"/>
          <ac:spMkLst>
            <pc:docMk/>
            <pc:sldMk cId="165356368" sldId="286"/>
            <ac:spMk id="4" creationId="{FD9406DC-7D60-0BEB-0060-CFCACE87F841}"/>
          </ac:spMkLst>
        </pc:spChg>
        <pc:spChg chg="mod">
          <ac:chgData name="Guest User" userId="S::urn:spo:tenantanon#a5716187-2f88-4bb0-905f-9272724a64cd::" providerId="AD" clId="Web-{00000000-0000-0000-0000-000000000000}" dt="2026-10-07T17:21:40.530" v="307" actId="1076"/>
          <ac:spMkLst>
            <pc:docMk/>
            <pc:sldMk cId="165356368" sldId="286"/>
            <ac:spMk id="6" creationId="{11D87B4B-0872-504C-BF96-DE0568F92CD6}"/>
          </ac:spMkLst>
        </pc:spChg>
        <pc:spChg chg="mod">
          <ac:chgData name="Guest User" userId="S::urn:spo:tenantanon#a5716187-2f88-4bb0-905f-9272724a64cd::" providerId="AD" clId="Web-{00000000-0000-0000-0000-000000000000}" dt="2026-10-07T17:21:45.546" v="310" actId="1076"/>
          <ac:spMkLst>
            <pc:docMk/>
            <pc:sldMk cId="165356368" sldId="286"/>
            <ac:spMk id="7" creationId="{29063765-4058-F06C-EE60-FE7B808AF204}"/>
          </ac:spMkLst>
        </pc:spChg>
        <pc:spChg chg="mod">
          <ac:chgData name="Guest User" userId="S::urn:spo:tenantanon#a5716187-2f88-4bb0-905f-9272724a64cd::" providerId="AD" clId="Web-{00000000-0000-0000-0000-000000000000}" dt="2026-10-07T17:21:55.062" v="318" actId="20577"/>
          <ac:spMkLst>
            <pc:docMk/>
            <pc:sldMk cId="165356368" sldId="286"/>
            <ac:spMk id="8" creationId="{FC7E87C2-77C0-2F00-062F-37A7F0546D78}"/>
          </ac:spMkLst>
        </pc:spChg>
        <pc:spChg chg="mod">
          <ac:chgData name="Guest User" userId="S::urn:spo:tenantanon#a5716187-2f88-4bb0-905f-9272724a64cd::" providerId="AD" clId="Web-{00000000-0000-0000-0000-000000000000}" dt="2026-10-07T17:22:20.265" v="371" actId="20577"/>
          <ac:spMkLst>
            <pc:docMk/>
            <pc:sldMk cId="165356368" sldId="286"/>
            <ac:spMk id="9" creationId="{5EC9F3A0-426B-83A8-BA9A-2E3C5FB7D1F0}"/>
          </ac:spMkLst>
        </pc:spChg>
        <pc:spChg chg="mod">
          <ac:chgData name="Guest User" userId="S::urn:spo:tenantanon#a5716187-2f88-4bb0-905f-9272724a64cd::" providerId="AD" clId="Web-{00000000-0000-0000-0000-000000000000}" dt="2026-10-07T17:27:59.545" v="639" actId="20577"/>
          <ac:spMkLst>
            <pc:docMk/>
            <pc:sldMk cId="165356368" sldId="286"/>
            <ac:spMk id="12" creationId="{2F04E0D2-132D-41BB-372E-CFDDB7E13A11}"/>
          </ac:spMkLst>
        </pc:spChg>
        <pc:spChg chg="mod">
          <ac:chgData name="Guest User" userId="S::urn:spo:tenantanon#a5716187-2f88-4bb0-905f-9272724a64cd::" providerId="AD" clId="Web-{00000000-0000-0000-0000-000000000000}" dt="2026-10-07T17:24:17.093" v="472" actId="20577"/>
          <ac:spMkLst>
            <pc:docMk/>
            <pc:sldMk cId="165356368" sldId="286"/>
            <ac:spMk id="13" creationId="{A579BB32-AA33-7E22-B855-0ECD037D9537}"/>
          </ac:spMkLst>
        </pc:spChg>
        <pc:spChg chg="mod">
          <ac:chgData name="Guest User" userId="S::urn:spo:tenantanon#a5716187-2f88-4bb0-905f-9272724a64cd::" providerId="AD" clId="Web-{00000000-0000-0000-0000-000000000000}" dt="2026-10-07T17:24:42.577" v="475" actId="1076"/>
          <ac:spMkLst>
            <pc:docMk/>
            <pc:sldMk cId="165356368" sldId="286"/>
            <ac:spMk id="14" creationId="{DDDFE624-372C-6E4B-2707-7AEB09197EFC}"/>
          </ac:spMkLst>
        </pc:spChg>
        <pc:spChg chg="mod">
          <ac:chgData name="Guest User" userId="S::urn:spo:tenantanon#a5716187-2f88-4bb0-905f-9272724a64cd::" providerId="AD" clId="Web-{00000000-0000-0000-0000-000000000000}" dt="2026-10-07T17:24:53.889" v="478" actId="1076"/>
          <ac:spMkLst>
            <pc:docMk/>
            <pc:sldMk cId="165356368" sldId="286"/>
            <ac:spMk id="15" creationId="{88918F85-E42A-AE3E-9081-ABBBDDF975F3}"/>
          </ac:spMkLst>
        </pc:spChg>
        <pc:spChg chg="mod">
          <ac:chgData name="Guest User" userId="S::urn:spo:tenantanon#a5716187-2f88-4bb0-905f-9272724a64cd::" providerId="AD" clId="Web-{00000000-0000-0000-0000-000000000000}" dt="2026-10-07T17:26:18.983" v="586" actId="20577"/>
          <ac:spMkLst>
            <pc:docMk/>
            <pc:sldMk cId="165356368" sldId="286"/>
            <ac:spMk id="16" creationId="{4F0B8A0E-2783-D2A0-A055-8132BEA34718}"/>
          </ac:spMkLst>
        </pc:spChg>
        <pc:spChg chg="mod">
          <ac:chgData name="Guest User" userId="S::urn:spo:tenantanon#a5716187-2f88-4bb0-905f-9272724a64cd::" providerId="AD" clId="Web-{00000000-0000-0000-0000-000000000000}" dt="2026-10-07T17:29:34.904" v="708" actId="14100"/>
          <ac:spMkLst>
            <pc:docMk/>
            <pc:sldMk cId="165356368" sldId="286"/>
            <ac:spMk id="17" creationId="{BDE15C61-81CC-3EA8-06D0-FB37B2FF3DCD}"/>
          </ac:spMkLst>
        </pc:spChg>
        <pc:spChg chg="mod">
          <ac:chgData name="Guest User" userId="S::urn:spo:tenantanon#a5716187-2f88-4bb0-905f-9272724a64cd::" providerId="AD" clId="Web-{00000000-0000-0000-0000-000000000000}" dt="2026-10-07T17:25:27.749" v="515" actId="20577"/>
          <ac:spMkLst>
            <pc:docMk/>
            <pc:sldMk cId="165356368" sldId="286"/>
            <ac:spMk id="20" creationId="{2FAF4CA7-8A78-2097-8B8F-728A0A3D0229}"/>
          </ac:spMkLst>
        </pc:spChg>
        <pc:spChg chg="mod">
          <ac:chgData name="Guest User" userId="S::urn:spo:tenantanon#a5716187-2f88-4bb0-905f-9272724a64cd::" providerId="AD" clId="Web-{00000000-0000-0000-0000-000000000000}" dt="2026-10-07T17:23:12.233" v="412" actId="20577"/>
          <ac:spMkLst>
            <pc:docMk/>
            <pc:sldMk cId="165356368" sldId="286"/>
            <ac:spMk id="21" creationId="{44977AEC-9123-4444-27A7-CC7D6659863D}"/>
          </ac:spMkLst>
        </pc:spChg>
        <pc:spChg chg="del">
          <ac:chgData name="Guest User" userId="S::urn:spo:tenantanon#a5716187-2f88-4bb0-905f-9272724a64cd::" providerId="AD" clId="Web-{00000000-0000-0000-0000-000000000000}" dt="2026-10-07T17:25:01.280" v="480"/>
          <ac:spMkLst>
            <pc:docMk/>
            <pc:sldMk cId="165356368" sldId="286"/>
            <ac:spMk id="22" creationId="{EF6678B8-1F6E-731C-377F-AFE04E7CDE42}"/>
          </ac:spMkLst>
        </pc:spChg>
        <pc:spChg chg="del">
          <ac:chgData name="Guest User" userId="S::urn:spo:tenantanon#a5716187-2f88-4bb0-905f-9272724a64cd::" providerId="AD" clId="Web-{00000000-0000-0000-0000-000000000000}" dt="2026-10-07T17:24:59.421" v="479"/>
          <ac:spMkLst>
            <pc:docMk/>
            <pc:sldMk cId="165356368" sldId="286"/>
            <ac:spMk id="23" creationId="{4D45F228-9C62-442A-FBFE-17600AC28420}"/>
          </ac:spMkLst>
        </pc:spChg>
        <pc:spChg chg="add mod">
          <ac:chgData name="Guest User" userId="S::urn:spo:tenantanon#a5716187-2f88-4bb0-905f-9272724a64cd::" providerId="AD" clId="Web-{00000000-0000-0000-0000-000000000000}" dt="2026-10-07T17:28:57.482" v="707" actId="20577"/>
          <ac:spMkLst>
            <pc:docMk/>
            <pc:sldMk cId="165356368" sldId="286"/>
            <ac:spMk id="25" creationId="{75752060-8BD5-A9A2-1B77-CCF2019D67A6}"/>
          </ac:spMkLst>
        </pc:spChg>
        <pc:picChg chg="del">
          <ac:chgData name="Guest User" userId="S::urn:spo:tenantanon#a5716187-2f88-4bb0-905f-9272724a64cd::" providerId="AD" clId="Web-{00000000-0000-0000-0000-000000000000}" dt="2026-10-07T17:21:03.452" v="282"/>
          <ac:picMkLst>
            <pc:docMk/>
            <pc:sldMk cId="165356368" sldId="286"/>
            <ac:picMk id="5" creationId="{991833B2-58C9-3A40-DDA6-564B8DBF3CC0}"/>
          </ac:picMkLst>
        </pc:picChg>
      </pc:sldChg>
    </pc:docChg>
  </pc:docChgLst>
  <pc:docChgLst>
    <pc:chgData name="Guest User" userId="S::urn:spo:tenantanon#a5716187-2f88-4bb0-905f-9272724a64cd::" providerId="AD" clId="Web-{6A029C32-90AA-3D94-6F5D-60B63500ADE7}"/>
    <pc:docChg chg="modSld">
      <pc:chgData name="Guest User" userId="S::urn:spo:tenantanon#a5716187-2f88-4bb0-905f-9272724a64cd::" providerId="AD" clId="Web-{6A029C32-90AA-3D94-6F5D-60B63500ADE7}" dt="2026-10-07T16:54:44.959" v="293" actId="20577"/>
      <pc:docMkLst>
        <pc:docMk/>
      </pc:docMkLst>
      <pc:sldChg chg="modSp">
        <pc:chgData name="Guest User" userId="S::urn:spo:tenantanon#a5716187-2f88-4bb0-905f-9272724a64cd::" providerId="AD" clId="Web-{6A029C32-90AA-3D94-6F5D-60B63500ADE7}" dt="2026-10-07T16:54:44.959" v="293" actId="20577"/>
        <pc:sldMkLst>
          <pc:docMk/>
          <pc:sldMk cId="0" sldId="261"/>
        </pc:sldMkLst>
        <pc:spChg chg="mod">
          <ac:chgData name="Guest User" userId="S::urn:spo:tenantanon#a5716187-2f88-4bb0-905f-9272724a64cd::" providerId="AD" clId="Web-{6A029C32-90AA-3D94-6F5D-60B63500ADE7}" dt="2026-10-07T16:54:44.959" v="293" actId="20577"/>
          <ac:spMkLst>
            <pc:docMk/>
            <pc:sldMk cId="0" sldId="261"/>
            <ac:spMk id="37" creationId="{00000000-0000-0000-0000-000000000000}"/>
          </ac:spMkLst>
        </pc:spChg>
      </pc:sldChg>
      <pc:sldChg chg="modSp">
        <pc:chgData name="Guest User" userId="S::urn:spo:tenantanon#a5716187-2f88-4bb0-905f-9272724a64cd::" providerId="AD" clId="Web-{6A029C32-90AA-3D94-6F5D-60B63500ADE7}" dt="2026-10-07T16:54:02.739" v="291" actId="20577"/>
        <pc:sldMkLst>
          <pc:docMk/>
          <pc:sldMk cId="336529604" sldId="269"/>
        </pc:sldMkLst>
        <pc:spChg chg="mod">
          <ac:chgData name="Guest User" userId="S::urn:spo:tenantanon#a5716187-2f88-4bb0-905f-9272724a64cd::" providerId="AD" clId="Web-{6A029C32-90AA-3D94-6F5D-60B63500ADE7}" dt="2026-10-07T16:54:02.739" v="291" actId="20577"/>
          <ac:spMkLst>
            <pc:docMk/>
            <pc:sldMk cId="336529604" sldId="269"/>
            <ac:spMk id="172" creationId="{BEF3FF07-F5C5-0477-7BC5-01AB0BF6F486}"/>
          </ac:spMkLst>
        </pc:spChg>
        <pc:graphicFrameChg chg="mod modGraphic">
          <ac:chgData name="Guest User" userId="S::urn:spo:tenantanon#a5716187-2f88-4bb0-905f-9272724a64cd::" providerId="AD" clId="Web-{6A029C32-90AA-3D94-6F5D-60B63500ADE7}" dt="2026-10-07T16:53:39.301" v="279"/>
          <ac:graphicFrameMkLst>
            <pc:docMk/>
            <pc:sldMk cId="336529604" sldId="269"/>
            <ac:graphicFrameMk id="4" creationId="{E22F8DB3-EE28-08DD-5041-21C576E10C88}"/>
          </ac:graphicFrameMkLst>
        </pc:graphicFrameChg>
      </pc:sldChg>
    </pc:docChg>
  </pc:docChgLst>
  <pc:docChgLst>
    <pc:chgData name="Prabhala Srinivasa Vara Prasad" userId="3f64ea99-38fd-4243-83f0-360f1e12c04a" providerId="ADAL" clId="{BCE35579-0467-4B88-9C5C-3C16F401672F}"/>
    <pc:docChg chg="undo custSel addSld delSld modSld">
      <pc:chgData name="Prabhala Srinivasa Vara Prasad" userId="3f64ea99-38fd-4243-83f0-360f1e12c04a" providerId="ADAL" clId="{BCE35579-0467-4B88-9C5C-3C16F401672F}" dt="2026-10-07T15:57:39.368" v="411" actId="1076"/>
      <pc:docMkLst>
        <pc:docMk/>
      </pc:docMkLst>
      <pc:sldChg chg="modSp mod">
        <pc:chgData name="Prabhala Srinivasa Vara Prasad" userId="3f64ea99-38fd-4243-83f0-360f1e12c04a" providerId="ADAL" clId="{BCE35579-0467-4B88-9C5C-3C16F401672F}" dt="2026-10-07T15:21:16.686" v="409" actId="20577"/>
        <pc:sldMkLst>
          <pc:docMk/>
          <pc:sldMk cId="0" sldId="259"/>
        </pc:sldMkLst>
        <pc:spChg chg="mod">
          <ac:chgData name="Prabhala Srinivasa Vara Prasad" userId="3f64ea99-38fd-4243-83f0-360f1e12c04a" providerId="ADAL" clId="{BCE35579-0467-4B88-9C5C-3C16F401672F}" dt="2026-10-07T15:21:16.686" v="409" actId="20577"/>
          <ac:spMkLst>
            <pc:docMk/>
            <pc:sldMk cId="0" sldId="259"/>
            <ac:spMk id="172" creationId="{00000000-0000-0000-0000-000000000000}"/>
          </ac:spMkLst>
        </pc:spChg>
      </pc:sldChg>
      <pc:sldChg chg="modSp mod">
        <pc:chgData name="Prabhala Srinivasa Vara Prasad" userId="3f64ea99-38fd-4243-83f0-360f1e12c04a" providerId="ADAL" clId="{BCE35579-0467-4B88-9C5C-3C16F401672F}" dt="2026-10-07T15:02:43.271" v="2" actId="6549"/>
        <pc:sldMkLst>
          <pc:docMk/>
          <pc:sldMk cId="336529604" sldId="269"/>
        </pc:sldMkLst>
        <pc:spChg chg="mod">
          <ac:chgData name="Prabhala Srinivasa Vara Prasad" userId="3f64ea99-38fd-4243-83f0-360f1e12c04a" providerId="ADAL" clId="{BCE35579-0467-4B88-9C5C-3C16F401672F}" dt="2026-10-07T15:02:43.271" v="2" actId="6549"/>
          <ac:spMkLst>
            <pc:docMk/>
            <pc:sldMk cId="336529604" sldId="269"/>
            <ac:spMk id="172" creationId="{BEF3FF07-F5C5-0477-7BC5-01AB0BF6F486}"/>
          </ac:spMkLst>
        </pc:spChg>
      </pc:sldChg>
      <pc:sldChg chg="addSp delSp modSp mod">
        <pc:chgData name="Prabhala Srinivasa Vara Prasad" userId="3f64ea99-38fd-4243-83f0-360f1e12c04a" providerId="ADAL" clId="{BCE35579-0467-4B88-9C5C-3C16F401672F}" dt="2026-10-07T15:57:39.368" v="411" actId="1076"/>
        <pc:sldMkLst>
          <pc:docMk/>
          <pc:sldMk cId="3429581344" sldId="270"/>
        </pc:sldMkLst>
        <pc:spChg chg="del mod">
          <ac:chgData name="Prabhala Srinivasa Vara Prasad" userId="3f64ea99-38fd-4243-83f0-360f1e12c04a" providerId="ADAL" clId="{BCE35579-0467-4B88-9C5C-3C16F401672F}" dt="2026-10-07T15:09:36.265" v="224" actId="478"/>
          <ac:spMkLst>
            <pc:docMk/>
            <pc:sldMk cId="3429581344" sldId="270"/>
            <ac:spMk id="172" creationId="{CD65F603-4906-F2D3-25C5-82E4D0C3B6DC}"/>
          </ac:spMkLst>
        </pc:spChg>
        <pc:graphicFrameChg chg="add mod modGraphic">
          <ac:chgData name="Prabhala Srinivasa Vara Prasad" userId="3f64ea99-38fd-4243-83f0-360f1e12c04a" providerId="ADAL" clId="{BCE35579-0467-4B88-9C5C-3C16F401672F}" dt="2026-10-07T15:57:39.368" v="411" actId="1076"/>
          <ac:graphicFrameMkLst>
            <pc:docMk/>
            <pc:sldMk cId="3429581344" sldId="270"/>
            <ac:graphicFrameMk id="2" creationId="{01EFCCB5-F93E-B6BF-E598-3CCFF40DCC6C}"/>
          </ac:graphicFrameMkLst>
        </pc:graphicFrameChg>
      </pc:sldChg>
      <pc:sldChg chg="addSp delSp modSp add del mod">
        <pc:chgData name="Prabhala Srinivasa Vara Prasad" userId="3f64ea99-38fd-4243-83f0-360f1e12c04a" providerId="ADAL" clId="{BCE35579-0467-4B88-9C5C-3C16F401672F}" dt="2026-10-07T15:18:07.199" v="403" actId="2696"/>
        <pc:sldMkLst>
          <pc:docMk/>
          <pc:sldMk cId="3881386288" sldId="286"/>
        </pc:sldMkLst>
        <pc:spChg chg="add del">
          <ac:chgData name="Prabhala Srinivasa Vara Prasad" userId="3f64ea99-38fd-4243-83f0-360f1e12c04a" providerId="ADAL" clId="{BCE35579-0467-4B88-9C5C-3C16F401672F}" dt="2026-10-07T15:14:22.834" v="310" actId="478"/>
          <ac:spMkLst>
            <pc:docMk/>
            <pc:sldMk cId="3881386288" sldId="286"/>
            <ac:spMk id="172" creationId="{5796D798-820C-3060-62ED-52AB5B7B74A8}"/>
          </ac:spMkLst>
        </pc:spChg>
        <pc:graphicFrameChg chg="add mod modGraphic">
          <ac:chgData name="Prabhala Srinivasa Vara Prasad" userId="3f64ea99-38fd-4243-83f0-360f1e12c04a" providerId="ADAL" clId="{BCE35579-0467-4B88-9C5C-3C16F401672F}" dt="2026-10-07T15:18:01.045" v="402" actId="20577"/>
          <ac:graphicFrameMkLst>
            <pc:docMk/>
            <pc:sldMk cId="3881386288" sldId="286"/>
            <ac:graphicFrameMk id="2" creationId="{2A1F9D37-6B50-66C2-FC41-4529CE630744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1F3A"/>
                </a:solidFill>
                <a:latin typeface="Cambria"/>
              </a:defRPr>
            </a:pPr>
            <a:r>
              <a:rPr lang="en-US" sz="1300" b="0" i="0" u="none" strike="noStrike">
                <a:solidFill>
                  <a:srgbClr val="0B1F3A"/>
                </a:solidFill>
                <a:latin typeface="Cambria"/>
              </a:rPr>
              <a:t>Out-of-fold ROC-AUC by variant</a:t>
            </a:r>
          </a:p>
        </c:rich>
      </c:tx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Original landing snapshot</c:v>
                </c:pt>
              </c:strCache>
            </c:strRef>
          </c:tx>
          <c:spPr>
            <a:solidFill>
              <a:srgbClr val="B0413E"/>
            </a:solidFill>
            <a:effectLst/>
          </c:spPr>
          <c:invertIfNegative val="0"/>
          <c:dLbls>
            <c:numFmt formatCode="0.000;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 i="0" u="none" strike="noStrike">
                    <a:solidFill>
                      <a:srgbClr val="FFFFFF"/>
                    </a:solidFill>
                    <a:latin typeface="Calibri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Landing
snapshot</c:v>
                </c:pt>
                <c:pt idx="1">
                  <c:v>V1
Trailing</c:v>
                </c:pt>
                <c:pt idx="2">
                  <c:v>V2
Cross-side</c:v>
                </c:pt>
                <c:pt idx="3">
                  <c:v>V3
Fault hist.</c:v>
                </c:pt>
                <c:pt idx="4">
                  <c:v>V3.1
Land. mem.</c:v>
                </c:pt>
                <c:pt idx="5">
                  <c:v>V3.2
All-code 500</c:v>
                </c:pt>
                <c:pt idx="6">
                  <c:v>V3.2
All-code 1K</c:v>
                </c:pt>
                <c:pt idx="7">
                  <c:v>V4
Propagation</c:v>
                </c:pt>
                <c:pt idx="8">
                  <c:v>V4A
Integrity</c:v>
                </c:pt>
                <c:pt idx="9">
                  <c:v>V4B
8004 model</c:v>
                </c:pt>
                <c:pt idx="10">
                  <c:v>V4B.1
Combined</c:v>
                </c:pt>
                <c:pt idx="11">
                  <c:v>11007A
reference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0.52100000000000002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D11-A34C-9E63-4A22A33D130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Step change (V1, V3)</c:v>
                </c:pt>
              </c:strCache>
            </c:strRef>
          </c:tx>
          <c:spPr>
            <a:solidFill>
              <a:srgbClr val="2E8B57"/>
            </a:solidFill>
            <a:effectLst/>
          </c:spPr>
          <c:invertIfNegative val="0"/>
          <c:dLbls>
            <c:numFmt formatCode="0.000;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 i="0" u="none" strike="noStrike">
                    <a:solidFill>
                      <a:srgbClr val="FFFFFF"/>
                    </a:solidFill>
                    <a:latin typeface="Calibri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Landing
snapshot</c:v>
                </c:pt>
                <c:pt idx="1">
                  <c:v>V1
Trailing</c:v>
                </c:pt>
                <c:pt idx="2">
                  <c:v>V2
Cross-side</c:v>
                </c:pt>
                <c:pt idx="3">
                  <c:v>V3
Fault hist.</c:v>
                </c:pt>
                <c:pt idx="4">
                  <c:v>V3.1
Land. mem.</c:v>
                </c:pt>
                <c:pt idx="5">
                  <c:v>V3.2
All-code 500</c:v>
                </c:pt>
                <c:pt idx="6">
                  <c:v>V3.2
All-code 1K</c:v>
                </c:pt>
                <c:pt idx="7">
                  <c:v>V4
Propagation</c:v>
                </c:pt>
                <c:pt idx="8">
                  <c:v>V4A
Integrity</c:v>
                </c:pt>
                <c:pt idx="9">
                  <c:v>V4B
8004 model</c:v>
                </c:pt>
                <c:pt idx="10">
                  <c:v>V4B.1
Combined</c:v>
                </c:pt>
                <c:pt idx="11">
                  <c:v>11007A
reference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</c:v>
                </c:pt>
                <c:pt idx="1">
                  <c:v>0.68900000000000006</c:v>
                </c:pt>
                <c:pt idx="2">
                  <c:v>0</c:v>
                </c:pt>
                <c:pt idx="3">
                  <c:v>0.73900000000000043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D11-A34C-9E63-4A22A33D130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Incremental variants</c:v>
                </c:pt>
              </c:strCache>
            </c:strRef>
          </c:tx>
          <c:spPr>
            <a:solidFill>
              <a:srgbClr val="3D5A80"/>
            </a:solidFill>
            <a:effectLst/>
          </c:spPr>
          <c:invertIfNegative val="0"/>
          <c:dLbls>
            <c:numFmt formatCode="0.000;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 i="0" u="none" strike="noStrike">
                    <a:solidFill>
                      <a:srgbClr val="FFFFFF"/>
                    </a:solidFill>
                    <a:latin typeface="Calibri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Landing
snapshot</c:v>
                </c:pt>
                <c:pt idx="1">
                  <c:v>V1
Trailing</c:v>
                </c:pt>
                <c:pt idx="2">
                  <c:v>V2
Cross-side</c:v>
                </c:pt>
                <c:pt idx="3">
                  <c:v>V3
Fault hist.</c:v>
                </c:pt>
                <c:pt idx="4">
                  <c:v>V3.1
Land. mem.</c:v>
                </c:pt>
                <c:pt idx="5">
                  <c:v>V3.2
All-code 500</c:v>
                </c:pt>
                <c:pt idx="6">
                  <c:v>V3.2
All-code 1K</c:v>
                </c:pt>
                <c:pt idx="7">
                  <c:v>V4
Propagation</c:v>
                </c:pt>
                <c:pt idx="8">
                  <c:v>V4A
Integrity</c:v>
                </c:pt>
                <c:pt idx="9">
                  <c:v>V4B
8004 model</c:v>
                </c:pt>
                <c:pt idx="10">
                  <c:v>V4B.1
Combined</c:v>
                </c:pt>
                <c:pt idx="11">
                  <c:v>11007A
reference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0.68700000000000061</c:v>
                </c:pt>
                <c:pt idx="3">
                  <c:v>0</c:v>
                </c:pt>
                <c:pt idx="4">
                  <c:v>0.74100000000000044</c:v>
                </c:pt>
                <c:pt idx="5">
                  <c:v>0.74000000000000044</c:v>
                </c:pt>
                <c:pt idx="6">
                  <c:v>0.74600000000000044</c:v>
                </c:pt>
                <c:pt idx="7">
                  <c:v>0.73900000000000043</c:v>
                </c:pt>
                <c:pt idx="8">
                  <c:v>0.73200000000000043</c:v>
                </c:pt>
                <c:pt idx="9">
                  <c:v>0.74000000000000044</c:v>
                </c:pt>
                <c:pt idx="10">
                  <c:v>0.74000000000000044</c:v>
                </c:pt>
                <c:pt idx="1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D11-A34C-9E63-4A22A33D130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overlap val="100"/>
        <c:axId val="98255232"/>
        <c:axId val="98256768"/>
      </c:barChart>
      <c:catAx>
        <c:axId val="9825523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1C2833"/>
                </a:solidFill>
                <a:latin typeface="Calibri"/>
              </a:defRPr>
            </a:pPr>
            <a:endParaRPr lang="en-US"/>
          </a:p>
        </c:txPr>
        <c:crossAx val="98256768"/>
        <c:crosses val="autoZero"/>
        <c:auto val="1"/>
        <c:lblAlgn val="ctr"/>
        <c:lblOffset val="100"/>
        <c:noMultiLvlLbl val="1"/>
      </c:catAx>
      <c:valAx>
        <c:axId val="98256768"/>
        <c:scaling>
          <c:orientation val="minMax"/>
          <c:max val="0.85000000000000042"/>
          <c:min val="0.45"/>
        </c:scaling>
        <c:delete val="0"/>
        <c:axPos val="l"/>
        <c:majorGridlines>
          <c:spPr>
            <a:ln w="12700" cap="flat">
              <a:solidFill>
                <a:srgbClr val="E2E6EC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C"/>
                </a:solidFill>
                <a:latin typeface="Arial"/>
              </a:defRPr>
            </a:pPr>
            <a:endParaRPr lang="en-US"/>
          </a:p>
        </c:txPr>
        <c:crossAx val="98255232"/>
        <c:crosses val="autoZero"/>
        <c:crossBetween val="between"/>
        <c:majorUnit val="5.000000000000001E-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C2833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2" name="Shape 9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Aptos Display"/>
      </a:defRPr>
    </a:lvl1pPr>
    <a:lvl2pPr indent="228600" latinLnBrk="0">
      <a:defRPr sz="1200">
        <a:latin typeface="+mn-lt"/>
        <a:ea typeface="+mn-ea"/>
        <a:cs typeface="+mn-cs"/>
        <a:sym typeface="Aptos Display"/>
      </a:defRPr>
    </a:lvl2pPr>
    <a:lvl3pPr indent="457200" latinLnBrk="0">
      <a:defRPr sz="1200">
        <a:latin typeface="+mn-lt"/>
        <a:ea typeface="+mn-ea"/>
        <a:cs typeface="+mn-cs"/>
        <a:sym typeface="Aptos Display"/>
      </a:defRPr>
    </a:lvl3pPr>
    <a:lvl4pPr indent="685800" latinLnBrk="0">
      <a:defRPr sz="1200">
        <a:latin typeface="+mn-lt"/>
        <a:ea typeface="+mn-ea"/>
        <a:cs typeface="+mn-cs"/>
        <a:sym typeface="Aptos Display"/>
      </a:defRPr>
    </a:lvl4pPr>
    <a:lvl5pPr indent="914400" latinLnBrk="0">
      <a:defRPr sz="1200">
        <a:latin typeface="+mn-lt"/>
        <a:ea typeface="+mn-ea"/>
        <a:cs typeface="+mn-cs"/>
        <a:sym typeface="Aptos Display"/>
      </a:defRPr>
    </a:lvl5pPr>
    <a:lvl6pPr indent="1143000" latinLnBrk="0">
      <a:defRPr sz="1200">
        <a:latin typeface="+mn-lt"/>
        <a:ea typeface="+mn-ea"/>
        <a:cs typeface="+mn-cs"/>
        <a:sym typeface="Aptos Display"/>
      </a:defRPr>
    </a:lvl6pPr>
    <a:lvl7pPr indent="1371600" latinLnBrk="0">
      <a:defRPr sz="1200">
        <a:latin typeface="+mn-lt"/>
        <a:ea typeface="+mn-ea"/>
        <a:cs typeface="+mn-cs"/>
        <a:sym typeface="Aptos Display"/>
      </a:defRPr>
    </a:lvl7pPr>
    <a:lvl8pPr indent="1600200" latinLnBrk="0">
      <a:defRPr sz="1200">
        <a:latin typeface="+mn-lt"/>
        <a:ea typeface="+mn-ea"/>
        <a:cs typeface="+mn-cs"/>
        <a:sym typeface="Aptos Display"/>
      </a:defRPr>
    </a:lvl8pPr>
    <a:lvl9pPr indent="1828800" latinLnBrk="0">
      <a:defRPr sz="1200">
        <a:latin typeface="+mn-lt"/>
        <a:ea typeface="+mn-ea"/>
        <a:cs typeface="+mn-cs"/>
        <a:sym typeface="Aptos Display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1943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6643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11D8F6-D53A-3566-43AC-6649E0D74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6AD26E-B303-C49C-EC65-B8599607B1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F4A1F5-2EDA-835F-10A9-2B12120132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8736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784E86-7216-B5B7-979A-C3352A2B4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B58498-E024-F6FB-34DF-635AB5F618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0A3300-4772-927B-468E-E49F8F1305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270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&lt;Email&gt;TR SSA&lt;/Email&gt; identifies the electrical and hydraulic overview, PDA, command and indication circuits, deploy/stow switches, multiplexer, and ECU comparison behavior. citeturn5search96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3" y="8685610"/>
            <a:ext cx="2971800" cy="457200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3" y="8685610"/>
            <a:ext cx="2971800" cy="457200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3" y="8685610"/>
            <a:ext cx="2971800" cy="457200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3" y="8685610"/>
            <a:ext cx="2971800" cy="457200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3" y="8685610"/>
            <a:ext cx="2971800" cy="457200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5699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Uploaded file: SAVINGS_PROJECTIONS_27 SEPT 2026.xlsx.
Visual on this slide was generated with Microsoft Copilot.
Periodic inspection cost of $180,000 per 100 engines is shown separately in the workbook projection.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Uploaded file: SAVINGS_PROJECTIONS_27 SEPT 2026.xlsx.
Visual on this slide was generated with Microsoft Copilot.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Uploaded file: SAVINGS_PROJECTIONS_27 SEPT 2026.xlsx.
Visual on this slide was generated with Microsoft Copilot.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EE38FA-7FB1-390B-AC71-2DBA562B1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D4E89E-101A-E8B2-9CD4-0C5AD572EF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C84216-D7DB-8637-D028-61C763260A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Uploaded file: SAVINGS_PROJECTIONS_27 SEPT 2026.xlsx.
Visual on this slide was generated with Microsoft Copilot.
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2F2644-170E-8743-10EC-47443E34C2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6803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3" y="8685610"/>
            <a:ext cx="2971800" cy="457200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1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757575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757575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757575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757575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757575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>
            <a:spLocks noGrp="1"/>
          </p:cNvSpPr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/>
            </a:lvl1pPr>
            <a:lvl2pPr marL="0" indent="457200">
              <a:buSzTx/>
              <a:buFontTx/>
              <a:buNone/>
              <a:defRPr sz="2400"/>
            </a:lvl2pPr>
            <a:lvl3pPr marL="0" indent="914400">
              <a:buSzTx/>
              <a:buFontTx/>
              <a:buNone/>
              <a:defRPr sz="2400"/>
            </a:lvl3pPr>
            <a:lvl4pPr marL="0" indent="1371600">
              <a:buSzTx/>
              <a:buFontTx/>
              <a:buNone/>
              <a:defRPr sz="2400"/>
            </a:lvl4pPr>
            <a:lvl5pPr marL="0" indent="1828800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/>
            </a:pPr>
            <a:endParaRPr/>
          </a:p>
        </p:txBody>
      </p:sp>
      <p:sp>
        <p:nvSpPr>
          <p:cNvPr id="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73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1367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90265" y="6404292"/>
            <a:ext cx="263536" cy="2692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757575"/>
                </a:solidFill>
              </a:defRPr>
            </a:lvl1pPr>
          </a:lstStyle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ptos Display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ptos Display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ptos Display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ptos Display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ptos Display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ptos Display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ptos Display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ptos Display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ptos Display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ptos Display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ptos Display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ptos Display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ptos Display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ptos Display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ptos Display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ptos Display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ptos Display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ptos Display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 Display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 Display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 Display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 Display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 Display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 Display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 Display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 Display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ptos Display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itle 16"/>
          <p:cNvSpPr txBox="1"/>
          <p:nvPr/>
        </p:nvSpPr>
        <p:spPr>
          <a:xfrm>
            <a:off x="350367" y="314632"/>
            <a:ext cx="6373521" cy="2429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 anchor="t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4800" kern="100">
                <a:solidFill>
                  <a:schemeClr val="bg1"/>
                </a:solidFill>
                <a:effectLst/>
                <a:latin typeface="Cambria" panose="02040503050406030204" pitchFamily="18" charset="0"/>
                <a:ea typeface="Aptos" panose="020B0004020202020204" pitchFamily="34" charset="0"/>
                <a:cs typeface="Calibri" panose="020F0502020204030204" pitchFamily="34" charset="0"/>
              </a:rPr>
              <a:t>A Machine Learning Approach for Aircraft Engine Fault Prediction</a:t>
            </a:r>
            <a:endParaRPr lang="en-IN" sz="2400" kern="100">
              <a:solidFill>
                <a:schemeClr val="bg1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1B466414-7842-D775-5976-9887819F1D07}"/>
              </a:ext>
            </a:extLst>
          </p:cNvPr>
          <p:cNvSpPr txBox="1"/>
          <p:nvPr/>
        </p:nvSpPr>
        <p:spPr>
          <a:xfrm>
            <a:off x="667676" y="3429000"/>
            <a:ext cx="4855841" cy="16158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defRPr sz="1600" b="1">
                <a:solidFill>
                  <a:srgbClr val="111184"/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pPr algn="ctr">
              <a:lnSpc>
                <a:spcPct val="150000"/>
              </a:lnSpc>
              <a:buNone/>
            </a:pPr>
            <a:r>
              <a:rPr lang="en-US" sz="1800" b="0">
                <a:solidFill>
                  <a:schemeClr val="bg1"/>
                </a:solidFill>
                <a:latin typeface="Aptos" panose="020B0004020202020204" pitchFamily="34" charset="0"/>
              </a:rPr>
              <a:t>Capstone Project: EMBA Winter batch 24-26</a:t>
            </a:r>
            <a:br>
              <a:rPr lang="en-US" sz="1800" b="0">
                <a:solidFill>
                  <a:schemeClr val="bg1"/>
                </a:solidFill>
                <a:latin typeface="Aptos" panose="020B0004020202020204" pitchFamily="34" charset="0"/>
              </a:rPr>
            </a:br>
            <a:r>
              <a:rPr lang="en-IN" sz="1800" kern="100">
                <a:solidFill>
                  <a:schemeClr val="bg1"/>
                </a:solidFill>
                <a:effectLst/>
                <a:latin typeface="Candara" panose="020E050203030302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Area of Interest: </a:t>
            </a:r>
            <a:r>
              <a:rPr lang="en-IN" sz="1800" b="1" kern="100">
                <a:solidFill>
                  <a:schemeClr val="bg1"/>
                </a:solidFill>
                <a:effectLst/>
                <a:latin typeface="Candara" panose="020E050203030302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Decision Sciences</a:t>
            </a:r>
            <a:endParaRPr lang="en-IN" sz="1600" kern="100">
              <a:solidFill>
                <a:schemeClr val="bg1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buNone/>
            </a:pPr>
            <a:r>
              <a:rPr lang="en-IN" sz="1800" kern="100">
                <a:solidFill>
                  <a:schemeClr val="bg1"/>
                </a:solidFill>
                <a:effectLst/>
                <a:latin typeface="Candara" panose="020E050203030302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Mentor: </a:t>
            </a:r>
            <a:r>
              <a:rPr lang="en-IN" sz="1800" b="1" kern="100">
                <a:solidFill>
                  <a:schemeClr val="bg1"/>
                </a:solidFill>
                <a:effectLst/>
                <a:latin typeface="Candara" panose="020E050203030302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Professor Shiv Shanker Singh Patel</a:t>
            </a:r>
            <a:endParaRPr lang="en-IN" sz="1600" kern="100">
              <a:solidFill>
                <a:schemeClr val="bg1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1600"/>
              </a:spcAft>
            </a:pPr>
            <a:endParaRPr lang="en-US" sz="1800" b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DB1D7F-F95C-E4FE-0197-ECD84C2BACA0}"/>
              </a:ext>
            </a:extLst>
          </p:cNvPr>
          <p:cNvSpPr txBox="1"/>
          <p:nvPr/>
        </p:nvSpPr>
        <p:spPr>
          <a:xfrm>
            <a:off x="0" y="5729684"/>
            <a:ext cx="4326195" cy="116955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IN" sz="1400" i="1">
                <a:solidFill>
                  <a:schemeClr val="bg1"/>
                </a:solidFill>
              </a:rPr>
              <a:t>2461034	Kaumudi </a:t>
            </a:r>
            <a:r>
              <a:rPr lang="en-IN" sz="1400" i="1" err="1">
                <a:solidFill>
                  <a:schemeClr val="bg1"/>
                </a:solidFill>
              </a:rPr>
              <a:t>deshkar</a:t>
            </a:r>
            <a:endParaRPr lang="en-IN" sz="1400" i="1">
              <a:solidFill>
                <a:schemeClr val="bg1"/>
              </a:solidFill>
            </a:endParaRPr>
          </a:p>
          <a:p>
            <a:r>
              <a:rPr lang="en-IN" sz="1400" i="1">
                <a:solidFill>
                  <a:schemeClr val="bg1"/>
                </a:solidFill>
              </a:rPr>
              <a:t>2461039	Madhava Rao </a:t>
            </a:r>
            <a:r>
              <a:rPr lang="en-IN" sz="1400" i="1" err="1">
                <a:solidFill>
                  <a:schemeClr val="bg1"/>
                </a:solidFill>
              </a:rPr>
              <a:t>Gadicherla</a:t>
            </a:r>
            <a:endParaRPr lang="en-IN" sz="1400" i="1">
              <a:solidFill>
                <a:schemeClr val="bg1"/>
              </a:solidFill>
            </a:endParaRPr>
          </a:p>
          <a:p>
            <a:r>
              <a:rPr lang="en-IN" sz="1400" i="1">
                <a:solidFill>
                  <a:schemeClr val="bg1"/>
                </a:solidFill>
              </a:rPr>
              <a:t>2461047	Mohit Kushwaha</a:t>
            </a:r>
          </a:p>
          <a:p>
            <a:r>
              <a:rPr lang="en-IN" sz="1400" i="1">
                <a:solidFill>
                  <a:schemeClr val="bg1"/>
                </a:solidFill>
              </a:rPr>
              <a:t>2461056	</a:t>
            </a:r>
            <a:r>
              <a:rPr lang="en-IN" sz="1400" i="1" err="1">
                <a:solidFill>
                  <a:schemeClr val="bg1"/>
                </a:solidFill>
              </a:rPr>
              <a:t>Prabhala</a:t>
            </a:r>
            <a:r>
              <a:rPr lang="en-IN" sz="1400" i="1">
                <a:solidFill>
                  <a:schemeClr val="bg1"/>
                </a:solidFill>
              </a:rPr>
              <a:t> Srinivasa Vara Prasad</a:t>
            </a:r>
          </a:p>
          <a:p>
            <a:r>
              <a:rPr lang="en-IN" sz="1400" i="1">
                <a:solidFill>
                  <a:schemeClr val="bg1"/>
                </a:solidFill>
              </a:rPr>
              <a:t>2461084	Satya Sai Kiran Kumar </a:t>
            </a:r>
            <a:r>
              <a:rPr lang="en-IN" sz="1400" i="1" err="1">
                <a:solidFill>
                  <a:schemeClr val="bg1"/>
                </a:solidFill>
              </a:rPr>
              <a:t>Dakavarapu</a:t>
            </a:r>
            <a:endParaRPr lang="en-IN" sz="1400" i="1">
              <a:solidFill>
                <a:schemeClr val="bg1"/>
              </a:solidFill>
            </a:endParaRPr>
          </a:p>
        </p:txBody>
      </p:sp>
      <p:pic>
        <p:nvPicPr>
          <p:cNvPr id="3" name="Image 0" descr="/mnt/data/840ef9dc0a.png">
            <a:extLst>
              <a:ext uri="{FF2B5EF4-FFF2-40B4-BE49-F238E27FC236}">
                <a16:creationId xmlns:a16="http://schemas.microsoft.com/office/drawing/2014/main" id="{1FA47CE4-2F8F-6FAE-4C2E-5A341969D31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3422" r="23422"/>
          <a:stretch/>
        </p:blipFill>
        <p:spPr>
          <a:xfrm>
            <a:off x="6723888" y="0"/>
            <a:ext cx="5468112" cy="685800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Root Analysis"/>
          <p:cNvSpPr txBox="1"/>
          <p:nvPr/>
        </p:nvSpPr>
        <p:spPr>
          <a:xfrm>
            <a:off x="8815278" y="1547518"/>
            <a:ext cx="2514600" cy="27699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numCol="1" anchor="ctr">
            <a:spAutoFit/>
          </a:bodyPr>
          <a:lstStyle>
            <a:lvl1pPr algn="ctr">
              <a:defRPr>
                <a:solidFill>
                  <a:srgbClr val="FFFFFF"/>
                </a:solidFill>
                <a:latin typeface="Aptos SemiBold"/>
                <a:ea typeface="Aptos SemiBold"/>
                <a:cs typeface="Aptos SemiBold"/>
                <a:sym typeface="Aptos SemiBold"/>
              </a:defRPr>
            </a:lvl1pPr>
          </a:lstStyle>
          <a:p>
            <a:r>
              <a:t>Root Analysis</a:t>
            </a:r>
          </a:p>
        </p:txBody>
      </p:sp>
      <p:sp>
        <p:nvSpPr>
          <p:cNvPr id="165" name="Title 16"/>
          <p:cNvSpPr txBox="1"/>
          <p:nvPr/>
        </p:nvSpPr>
        <p:spPr>
          <a:xfrm>
            <a:off x="558717" y="203708"/>
            <a:ext cx="6354990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b">
            <a:spAutoFit/>
          </a:bodyPr>
          <a:lstStyle>
            <a:lvl1pPr>
              <a:lnSpc>
                <a:spcPct val="90000"/>
              </a:lnSpc>
              <a:spcBef>
                <a:spcPts val="600"/>
              </a:spcBef>
              <a:defRPr sz="4400" b="1"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rPr sz="4000">
                <a:solidFill>
                  <a:srgbClr val="111184"/>
                </a:solidFill>
                <a:latin typeface="Book Antiqua" panose="02040602050305030304" pitchFamily="18" charset="0"/>
              </a:rPr>
              <a:t>Problem &amp; Context</a:t>
            </a:r>
          </a:p>
        </p:txBody>
      </p:sp>
      <p:sp>
        <p:nvSpPr>
          <p:cNvPr id="172" name="Text Placeholder 10"/>
          <p:cNvSpPr txBox="1"/>
          <p:nvPr/>
        </p:nvSpPr>
        <p:spPr>
          <a:xfrm>
            <a:off x="558717" y="1686017"/>
            <a:ext cx="10753390" cy="53553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r>
              <a:rPr lang="en-IN" b="1">
                <a:solidFill>
                  <a:srgbClr val="111184"/>
                </a:solidFill>
              </a:rPr>
              <a:t>Today's approach</a:t>
            </a:r>
            <a:endParaRPr lang="en-IN">
              <a:solidFill>
                <a:srgbClr val="111184"/>
              </a:solidFill>
            </a:endParaRPr>
          </a:p>
          <a:p>
            <a:pPr lvl="0"/>
            <a:r>
              <a:rPr lang="en-IN"/>
              <a:t>Periodic maintenance is done at fixed time or flight-hour intervals to meet safety and aviation standards</a:t>
            </a:r>
          </a:p>
          <a:p>
            <a:pPr lvl="0"/>
            <a:r>
              <a:rPr lang="en-IN"/>
              <a:t>But unplanned maintenance from component failures is costly, and it grounds the aircraft resulting to customer dissatisfaction</a:t>
            </a:r>
          </a:p>
          <a:p>
            <a:endParaRPr lang="en-IN" b="1">
              <a:solidFill>
                <a:srgbClr val="111184"/>
              </a:solidFill>
            </a:endParaRPr>
          </a:p>
          <a:p>
            <a:r>
              <a:rPr lang="en-IN" b="1">
                <a:solidFill>
                  <a:srgbClr val="111184"/>
                </a:solidFill>
              </a:rPr>
              <a:t>Our approach</a:t>
            </a:r>
            <a:endParaRPr lang="en-IN">
              <a:solidFill>
                <a:srgbClr val="111184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/>
              <a:t>Use multi-sensor (IOT) engine data and past failure records to detect failure patterns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/>
              <a:t>Predict failures early so maintenance can be planned, cost-effective and timely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/>
              <a:t>Keep aircraft flying more, which improves availability for customers</a:t>
            </a:r>
          </a:p>
          <a:p>
            <a:pPr lvl="0"/>
            <a:endParaRPr lang="en-IN" b="1">
              <a:solidFill>
                <a:srgbClr val="111184"/>
              </a:solidFill>
            </a:endParaRPr>
          </a:p>
          <a:p>
            <a:pPr lvl="0"/>
            <a:r>
              <a:rPr lang="en-IN" b="1">
                <a:solidFill>
                  <a:srgbClr val="111184"/>
                </a:solidFill>
              </a:rPr>
              <a:t>What we're building</a:t>
            </a:r>
            <a:r>
              <a:rPr lang="en-IN" b="1"/>
              <a:t>:</a:t>
            </a:r>
            <a:r>
              <a:rPr lang="en-IN"/>
              <a:t> A Machine Learning solution that warns of an upcoming failure early enough to plan maintenance</a:t>
            </a:r>
          </a:p>
          <a:p>
            <a:pPr lvl="0"/>
            <a:endParaRPr lang="en-IN" b="1">
              <a:solidFill>
                <a:srgbClr val="111184"/>
              </a:solidFill>
            </a:endParaRPr>
          </a:p>
          <a:p>
            <a:pPr lvl="0"/>
            <a:r>
              <a:rPr lang="en-IN" b="1">
                <a:solidFill>
                  <a:srgbClr val="111184"/>
                </a:solidFill>
              </a:rPr>
              <a:t>Why it matters:</a:t>
            </a:r>
            <a:r>
              <a:rPr lang="en-IN">
                <a:solidFill>
                  <a:srgbClr val="111184"/>
                </a:solidFill>
              </a:rPr>
              <a:t> </a:t>
            </a:r>
          </a:p>
          <a:p>
            <a:pPr lvl="1"/>
            <a:r>
              <a:rPr lang="en-IN"/>
              <a:t>Higher aircraft availability for operators</a:t>
            </a:r>
          </a:p>
          <a:p>
            <a:pPr lvl="1"/>
            <a:r>
              <a:rPr lang="en-IN"/>
              <a:t>Less unplanned downtime</a:t>
            </a:r>
          </a:p>
          <a:p>
            <a:pPr lvl="1"/>
            <a:r>
              <a:rPr lang="en-IN"/>
              <a:t>Lower financial losses</a:t>
            </a:r>
          </a:p>
          <a:p>
            <a:br>
              <a:rPr lang="en-IN"/>
            </a:br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ADE269-8C08-785A-11F0-02676F47344B}"/>
              </a:ext>
            </a:extLst>
          </p:cNvPr>
          <p:cNvSpPr txBox="1"/>
          <p:nvPr/>
        </p:nvSpPr>
        <p:spPr>
          <a:xfrm>
            <a:off x="1336835" y="6284960"/>
            <a:ext cx="9458632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IN" i="1"/>
              <a:t>Move from fixed-interval and unplanned maintenance to data-driven, condition-based maintenance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4C8D81-07AD-C262-5404-DB42B830A837}"/>
              </a:ext>
            </a:extLst>
          </p:cNvPr>
          <p:cNvSpPr txBox="1"/>
          <p:nvPr/>
        </p:nvSpPr>
        <p:spPr>
          <a:xfrm>
            <a:off x="340514" y="1023541"/>
            <a:ext cx="8744493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lang="en-IN" sz="1800" b="1" i="1">
                <a:solidFill>
                  <a:srgbClr val="4E95D9"/>
                </a:solidFill>
              </a:rPr>
              <a:t>Predict engine failures before they happen, so maintenance can be done just in time.</a:t>
            </a:r>
            <a:endParaRPr lang="en-IN" sz="1800" i="1">
              <a:solidFill>
                <a:srgbClr val="4E95D9"/>
              </a:solidFill>
            </a:endParaRP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584A98-74EE-C87A-97B8-F4C408416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Root Analysis">
            <a:extLst>
              <a:ext uri="{FF2B5EF4-FFF2-40B4-BE49-F238E27FC236}">
                <a16:creationId xmlns:a16="http://schemas.microsoft.com/office/drawing/2014/main" id="{1317C6D7-13C3-4584-EDAC-490EDCA8E8AE}"/>
              </a:ext>
            </a:extLst>
          </p:cNvPr>
          <p:cNvSpPr txBox="1"/>
          <p:nvPr/>
        </p:nvSpPr>
        <p:spPr>
          <a:xfrm>
            <a:off x="8815278" y="1547518"/>
            <a:ext cx="2514600" cy="27699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numCol="1" anchor="ctr">
            <a:spAutoFit/>
          </a:bodyPr>
          <a:lstStyle>
            <a:lvl1pPr algn="ctr">
              <a:defRPr>
                <a:solidFill>
                  <a:srgbClr val="FFFFFF"/>
                </a:solidFill>
                <a:latin typeface="Aptos SemiBold"/>
                <a:ea typeface="Aptos SemiBold"/>
                <a:cs typeface="Aptos SemiBold"/>
                <a:sym typeface="Aptos SemiBold"/>
              </a:defRPr>
            </a:lvl1pPr>
          </a:lstStyle>
          <a:p>
            <a:r>
              <a:t>Root Analysis</a:t>
            </a:r>
          </a:p>
        </p:txBody>
      </p:sp>
      <p:sp>
        <p:nvSpPr>
          <p:cNvPr id="165" name="Title 16">
            <a:extLst>
              <a:ext uri="{FF2B5EF4-FFF2-40B4-BE49-F238E27FC236}">
                <a16:creationId xmlns:a16="http://schemas.microsoft.com/office/drawing/2014/main" id="{0FD413FE-6DFB-1DB1-21F1-ECB4FC2B6612}"/>
              </a:ext>
            </a:extLst>
          </p:cNvPr>
          <p:cNvSpPr txBox="1"/>
          <p:nvPr/>
        </p:nvSpPr>
        <p:spPr>
          <a:xfrm>
            <a:off x="421064" y="144156"/>
            <a:ext cx="9666831" cy="5931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 anchor="b">
            <a:spAutoFit/>
          </a:bodyPr>
          <a:lstStyle>
            <a:lvl1pPr>
              <a:lnSpc>
                <a:spcPct val="90000"/>
              </a:lnSpc>
              <a:spcBef>
                <a:spcPts val="600"/>
              </a:spcBef>
              <a:defRPr sz="4400" b="1"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rPr lang="en-IN" sz="3600">
                <a:solidFill>
                  <a:srgbClr val="111184"/>
                </a:solidFill>
              </a:rPr>
              <a:t>Brief about Aircraft Engine Data </a:t>
            </a:r>
            <a:endParaRPr sz="3600">
              <a:solidFill>
                <a:srgbClr val="111184"/>
              </a:solidFill>
              <a:latin typeface="Aptos" panose="020B0004020202020204" pitchFamily="34" charset="0"/>
            </a:endParaRPr>
          </a:p>
        </p:txBody>
      </p:sp>
      <p:sp>
        <p:nvSpPr>
          <p:cNvPr id="172" name="Text Placeholder 10">
            <a:extLst>
              <a:ext uri="{FF2B5EF4-FFF2-40B4-BE49-F238E27FC236}">
                <a16:creationId xmlns:a16="http://schemas.microsoft.com/office/drawing/2014/main" id="{BEF3FF07-F5C5-0477-7BC5-01AB0BF6F486}"/>
              </a:ext>
            </a:extLst>
          </p:cNvPr>
          <p:cNvSpPr txBox="1"/>
          <p:nvPr/>
        </p:nvSpPr>
        <p:spPr>
          <a:xfrm>
            <a:off x="421064" y="1007394"/>
            <a:ext cx="8394213" cy="53553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tIns="45720" rIns="45719" bIns="45720" anchor="t">
            <a:spAutoFit/>
          </a:bodyPr>
          <a:lstStyle/>
          <a:p>
            <a:r>
              <a:rPr lang="en-IN" b="1">
                <a:solidFill>
                  <a:srgbClr val="111184"/>
                </a:solidFill>
              </a:rPr>
              <a:t>Data is available</a:t>
            </a:r>
            <a:endParaRPr lang="en-IN">
              <a:solidFill>
                <a:srgbClr val="111184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/>
              <a:t>Modern engines have control and monitoring systems that record operational and health parameters throughout flight </a:t>
            </a:r>
            <a:r>
              <a:rPr lang="en-IN" b="1"/>
              <a:t>(Engine Fault Records)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/>
              <a:t>This produces large volumes of telemetry data for tracking performance, spotting anomalies and supporting maintenance decisions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/>
              <a:t>Data-driven health monitoring now complements traditional maintenance practices</a:t>
            </a:r>
          </a:p>
          <a:p>
            <a:endParaRPr lang="en-IN" b="1">
              <a:solidFill>
                <a:srgbClr val="111184"/>
              </a:solidFill>
            </a:endParaRPr>
          </a:p>
          <a:p>
            <a:r>
              <a:rPr lang="en-IN" b="1">
                <a:solidFill>
                  <a:srgbClr val="111184"/>
                </a:solidFill>
              </a:rPr>
              <a:t>Faults have many sources</a:t>
            </a:r>
            <a:endParaRPr lang="en-IN">
              <a:solidFill>
                <a:srgbClr val="111184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/>
              <a:t>Component degradation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/>
              <a:t>Sensor failures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/>
              <a:t>Actuator malfunctions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/>
              <a:t>Control-system failures</a:t>
            </a:r>
          </a:p>
          <a:p>
            <a:endParaRPr lang="en-IN" b="1">
              <a:solidFill>
                <a:srgbClr val="111184"/>
              </a:solidFill>
            </a:endParaRPr>
          </a:p>
          <a:p>
            <a:r>
              <a:rPr lang="en-IN" b="1">
                <a:solidFill>
                  <a:srgbClr val="111184"/>
                </a:solidFill>
              </a:rPr>
              <a:t>Why early detection matters</a:t>
            </a:r>
            <a:endParaRPr lang="en-IN">
              <a:solidFill>
                <a:srgbClr val="111184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/>
              <a:t>Better operational reliability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/>
              <a:t>Lower maintenance costs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/>
              <a:t>Less unplanned aircraft downtime</a:t>
            </a:r>
          </a:p>
          <a:p>
            <a:br>
              <a:rPr lang="en-IN"/>
            </a:br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3037D7-F154-3F45-0B92-14376C6ACA6F}"/>
              </a:ext>
            </a:extLst>
          </p:cNvPr>
          <p:cNvSpPr txBox="1"/>
          <p:nvPr/>
        </p:nvSpPr>
        <p:spPr>
          <a:xfrm>
            <a:off x="1336835" y="6284960"/>
            <a:ext cx="9458632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IN" i="1"/>
              <a:t>Move from fixed-interval and unplanned maintenance to data-driven, condition-based maintenance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22F8DB3-EE28-08DD-5041-21C576E10C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3889001"/>
              </p:ext>
            </p:extLst>
          </p:nvPr>
        </p:nvGraphicFramePr>
        <p:xfrm>
          <a:off x="9290310" y="1007394"/>
          <a:ext cx="2695212" cy="4522051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695212">
                  <a:extLst>
                    <a:ext uri="{9D8B030D-6E8A-4147-A177-3AD203B41FA5}">
                      <a16:colId xmlns:a16="http://schemas.microsoft.com/office/drawing/2014/main" val="2601938520"/>
                    </a:ext>
                  </a:extLst>
                </a:gridCol>
              </a:tblGrid>
              <a:tr h="2954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ENGINE DATA RECORDS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615580007"/>
                  </a:ext>
                </a:extLst>
              </a:tr>
              <a:tr h="24862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CHIP 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856773676"/>
                  </a:ext>
                </a:extLst>
              </a:tr>
              <a:tr h="24862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CLM_PERF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114470814"/>
                  </a:ext>
                </a:extLst>
              </a:tr>
              <a:tr h="24862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CRU_PERF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854680702"/>
                  </a:ext>
                </a:extLst>
              </a:tr>
              <a:tr h="24862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CONTROLLER_STATS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568770024"/>
                  </a:ext>
                </a:extLst>
              </a:tr>
              <a:tr h="24862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CONTOLLER_TIME_AT_TEMP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390060679"/>
                  </a:ext>
                </a:extLst>
              </a:tr>
              <a:tr h="24862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ENG_RED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540107103"/>
                  </a:ext>
                </a:extLst>
              </a:tr>
              <a:tr h="24862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ENG_STATS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828273800"/>
                  </a:ext>
                </a:extLst>
              </a:tr>
              <a:tr h="24862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ENG_PLA_T0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047810384"/>
                  </a:ext>
                </a:extLst>
              </a:tr>
              <a:tr h="24862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FAULT _RECORDS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21725704"/>
                  </a:ext>
                </a:extLst>
              </a:tr>
              <a:tr h="24862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IGNI_REC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209830712"/>
                  </a:ext>
                </a:extLst>
              </a:tr>
              <a:tr h="24862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A_LIFE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335430403"/>
                  </a:ext>
                </a:extLst>
              </a:tr>
              <a:tr h="24862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B_LIFE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053000311"/>
                  </a:ext>
                </a:extLst>
              </a:tr>
              <a:tr h="24862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INCI_REC_A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337968173"/>
                  </a:ext>
                </a:extLst>
              </a:tr>
              <a:tr h="24862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INC_REC_B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608895291"/>
                  </a:ext>
                </a:extLst>
              </a:tr>
              <a:tr h="24862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RLDW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937479601"/>
                  </a:ext>
                </a:extLst>
              </a:tr>
              <a:tr h="24862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STS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220906197"/>
                  </a:ext>
                </a:extLst>
              </a:tr>
              <a:tr h="24862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TAKEOFF_PERF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0976198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529604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2A55C-04E5-54A8-EBEB-75F404641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Root Analysis">
            <a:extLst>
              <a:ext uri="{FF2B5EF4-FFF2-40B4-BE49-F238E27FC236}">
                <a16:creationId xmlns:a16="http://schemas.microsoft.com/office/drawing/2014/main" id="{E8093DAA-3928-9A60-6143-9984A6376006}"/>
              </a:ext>
            </a:extLst>
          </p:cNvPr>
          <p:cNvSpPr txBox="1"/>
          <p:nvPr/>
        </p:nvSpPr>
        <p:spPr>
          <a:xfrm>
            <a:off x="8815278" y="1547518"/>
            <a:ext cx="2514600" cy="27699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numCol="1" anchor="ctr">
            <a:spAutoFit/>
          </a:bodyPr>
          <a:lstStyle>
            <a:lvl1pPr algn="ctr">
              <a:defRPr>
                <a:solidFill>
                  <a:srgbClr val="FFFFFF"/>
                </a:solidFill>
                <a:latin typeface="Aptos SemiBold"/>
                <a:ea typeface="Aptos SemiBold"/>
                <a:cs typeface="Aptos SemiBold"/>
                <a:sym typeface="Aptos SemiBold"/>
              </a:defRPr>
            </a:lvl1pPr>
          </a:lstStyle>
          <a:p>
            <a:r>
              <a:t>Root Analysis</a:t>
            </a:r>
          </a:p>
        </p:txBody>
      </p:sp>
      <p:sp>
        <p:nvSpPr>
          <p:cNvPr id="165" name="Title 16">
            <a:extLst>
              <a:ext uri="{FF2B5EF4-FFF2-40B4-BE49-F238E27FC236}">
                <a16:creationId xmlns:a16="http://schemas.microsoft.com/office/drawing/2014/main" id="{7B4F7015-200C-E4B6-67D5-25C831A1CAEB}"/>
              </a:ext>
            </a:extLst>
          </p:cNvPr>
          <p:cNvSpPr txBox="1"/>
          <p:nvPr/>
        </p:nvSpPr>
        <p:spPr>
          <a:xfrm>
            <a:off x="421064" y="146401"/>
            <a:ext cx="9666831" cy="5909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 anchor="b">
            <a:spAutoFit/>
          </a:bodyPr>
          <a:lstStyle>
            <a:lvl1pPr>
              <a:lnSpc>
                <a:spcPct val="90000"/>
              </a:lnSpc>
              <a:spcBef>
                <a:spcPts val="600"/>
              </a:spcBef>
              <a:defRPr sz="4400" b="1"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rPr lang="en-IN" sz="3600">
                <a:solidFill>
                  <a:srgbClr val="111184"/>
                </a:solidFill>
              </a:rPr>
              <a:t>End-to-End Pipeline Overview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ADDD97-BD7E-4876-4B65-B01CC0E55CDF}"/>
              </a:ext>
            </a:extLst>
          </p:cNvPr>
          <p:cNvSpPr txBox="1"/>
          <p:nvPr/>
        </p:nvSpPr>
        <p:spPr>
          <a:xfrm>
            <a:off x="1336835" y="6284960"/>
            <a:ext cx="9458632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IN" i="1"/>
              <a:t>Move from fixed-interval and unplanned maintenance to data-driven, condition-based maintenance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F42E67D-472F-3F95-D5BE-1ADD4F6F730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948" b="11554"/>
          <a:stretch>
            <a:fillRect/>
          </a:stretch>
        </p:blipFill>
        <p:spPr>
          <a:xfrm>
            <a:off x="75124" y="737332"/>
            <a:ext cx="11982053" cy="3033657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1EFCCB5-F93E-B6BF-E598-3CCFF40DCC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4372127"/>
              </p:ext>
            </p:extLst>
          </p:nvPr>
        </p:nvGraphicFramePr>
        <p:xfrm>
          <a:off x="421064" y="3915454"/>
          <a:ext cx="11498794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49397">
                  <a:extLst>
                    <a:ext uri="{9D8B030D-6E8A-4147-A177-3AD203B41FA5}">
                      <a16:colId xmlns:a16="http://schemas.microsoft.com/office/drawing/2014/main" val="2635720495"/>
                    </a:ext>
                  </a:extLst>
                </a:gridCol>
                <a:gridCol w="5749397">
                  <a:extLst>
                    <a:ext uri="{9D8B030D-6E8A-4147-A177-3AD203B41FA5}">
                      <a16:colId xmlns:a16="http://schemas.microsoft.com/office/drawing/2014/main" val="10457145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Step Mapping</a:t>
                      </a:r>
                      <a:endParaRPr lang="en-IN" sz="1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Task</a:t>
                      </a:r>
                      <a:endParaRPr lang="en-IN" sz="1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77317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 To 3 </a:t>
                      </a:r>
                      <a:endParaRPr lang="en-IN" sz="18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Data Acquisition and Organization</a:t>
                      </a:r>
                      <a:endParaRPr lang="en-IN" sz="1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15386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 To 6</a:t>
                      </a:r>
                      <a:endParaRPr lang="en-IN" sz="18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Data Preprocessing</a:t>
                      </a:r>
                      <a:endParaRPr lang="en-IN" sz="1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82545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  <a:endParaRPr lang="en-IN" sz="18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Fault Analysis </a:t>
                      </a:r>
                      <a:endParaRPr lang="en-IN" sz="1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83939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  <a:endParaRPr lang="en-IN" sz="18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Feature Engineering</a:t>
                      </a:r>
                      <a:endParaRPr lang="en-IN" sz="1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55218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 </a:t>
                      </a:r>
                      <a:endParaRPr lang="en-IN" sz="18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ML Algorithms and Model benchmarking </a:t>
                      </a:r>
                      <a:endParaRPr lang="en-IN" sz="18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78055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9581344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6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6">
            <a:extLst>
              <a:ext uri="{FF2B5EF4-FFF2-40B4-BE49-F238E27FC236}">
                <a16:creationId xmlns:a16="http://schemas.microsoft.com/office/drawing/2014/main" id="{4966D85C-66DC-F5D5-0644-49A72511BFF0}"/>
              </a:ext>
            </a:extLst>
          </p:cNvPr>
          <p:cNvSpPr txBox="1"/>
          <p:nvPr/>
        </p:nvSpPr>
        <p:spPr>
          <a:xfrm>
            <a:off x="477694" y="238350"/>
            <a:ext cx="8283531" cy="5931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 anchor="b">
            <a:spAutoFit/>
          </a:bodyPr>
          <a:lstStyle>
            <a:lvl1pPr>
              <a:lnSpc>
                <a:spcPct val="90000"/>
              </a:lnSpc>
              <a:spcBef>
                <a:spcPts val="600"/>
              </a:spcBef>
              <a:defRPr sz="4400" b="1"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rPr lang="en-IN" sz="3600">
                <a:solidFill>
                  <a:srgbClr val="111184"/>
                </a:solidFill>
              </a:rPr>
              <a:t>Acquire and Organize Data</a:t>
            </a:r>
            <a:endParaRPr lang="en-US" sz="3600">
              <a:solidFill>
                <a:srgbClr val="111184"/>
              </a:solidFill>
              <a:latin typeface="Aptos" panose="020B0004020202020204" pitchFamily="34" charset="0"/>
            </a:endParaRPr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8F11E637-D908-C5B8-4DDC-F4FEB022248B}"/>
              </a:ext>
            </a:extLst>
          </p:cNvPr>
          <p:cNvSpPr/>
          <p:nvPr/>
        </p:nvSpPr>
        <p:spPr>
          <a:xfrm>
            <a:off x="228600" y="1155710"/>
            <a:ext cx="1389888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769A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BA35940A-CE6F-9D84-F3C6-17678DD5B3B3}"/>
              </a:ext>
            </a:extLst>
          </p:cNvPr>
          <p:cNvSpPr/>
          <p:nvPr/>
        </p:nvSpPr>
        <p:spPr>
          <a:xfrm>
            <a:off x="320040" y="1274582"/>
            <a:ext cx="27432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00" b="1">
                <a:solidFill>
                  <a:srgbClr val="1769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00"/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56C6DA6F-C175-4B82-E127-C5D892B160FD}"/>
              </a:ext>
            </a:extLst>
          </p:cNvPr>
          <p:cNvSpPr/>
          <p:nvPr/>
        </p:nvSpPr>
        <p:spPr>
          <a:xfrm>
            <a:off x="338328" y="1631198"/>
            <a:ext cx="1170432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200" b="1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Archive discovery</a:t>
            </a:r>
            <a:endParaRPr lang="en-US" sz="1200"/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A4158702-B3A2-E3A4-1D4B-B093AB43CAE3}"/>
              </a:ext>
            </a:extLst>
          </p:cNvPr>
          <p:cNvSpPr/>
          <p:nvPr/>
        </p:nvSpPr>
        <p:spPr>
          <a:xfrm>
            <a:off x="338328" y="1978670"/>
            <a:ext cx="1170432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950">
                <a:solidFill>
                  <a:srgbClr val="5C6F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ECFR TXT files</a:t>
            </a:r>
            <a:endParaRPr lang="en-US" sz="950"/>
          </a:p>
        </p:txBody>
      </p:sp>
      <p:sp>
        <p:nvSpPr>
          <p:cNvPr id="20" name="Shape 8">
            <a:extLst>
              <a:ext uri="{FF2B5EF4-FFF2-40B4-BE49-F238E27FC236}">
                <a16:creationId xmlns:a16="http://schemas.microsoft.com/office/drawing/2014/main" id="{3787F4F4-D789-9FC5-DDCB-1E36C25700B9}"/>
              </a:ext>
            </a:extLst>
          </p:cNvPr>
          <p:cNvSpPr/>
          <p:nvPr/>
        </p:nvSpPr>
        <p:spPr>
          <a:xfrm>
            <a:off x="1664208" y="1539758"/>
            <a:ext cx="201168" cy="365760"/>
          </a:xfrm>
          <a:prstGeom prst="chevron">
            <a:avLst/>
          </a:prstGeom>
          <a:solidFill>
            <a:srgbClr val="10A7A5"/>
          </a:solidFill>
          <a:ln w="12700">
            <a:solidFill>
              <a:srgbClr val="10A7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9">
            <a:extLst>
              <a:ext uri="{FF2B5EF4-FFF2-40B4-BE49-F238E27FC236}">
                <a16:creationId xmlns:a16="http://schemas.microsoft.com/office/drawing/2014/main" id="{3401BF22-A904-B188-6616-3E3C13162B1F}"/>
              </a:ext>
            </a:extLst>
          </p:cNvPr>
          <p:cNvSpPr/>
          <p:nvPr/>
        </p:nvSpPr>
        <p:spPr>
          <a:xfrm>
            <a:off x="1929384" y="1155710"/>
            <a:ext cx="1389888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769A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973B6E52-7B02-1CA4-810C-FA498269AE9E}"/>
              </a:ext>
            </a:extLst>
          </p:cNvPr>
          <p:cNvSpPr/>
          <p:nvPr/>
        </p:nvSpPr>
        <p:spPr>
          <a:xfrm>
            <a:off x="2020824" y="1274582"/>
            <a:ext cx="27432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00" b="1">
                <a:solidFill>
                  <a:srgbClr val="1769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00"/>
          </a:p>
        </p:txBody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6CF7BFC3-4D33-E0F5-5CFD-22AFE321F6AF}"/>
              </a:ext>
            </a:extLst>
          </p:cNvPr>
          <p:cNvSpPr/>
          <p:nvPr/>
        </p:nvSpPr>
        <p:spPr>
          <a:xfrm>
            <a:off x="2039112" y="1631198"/>
            <a:ext cx="1170432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00" b="1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 recovery</a:t>
            </a:r>
            <a:endParaRPr lang="en-US" sz="1200"/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F3E28F18-661D-D3CD-0A2F-5D1C8A3A239E}"/>
              </a:ext>
            </a:extLst>
          </p:cNvPr>
          <p:cNvSpPr/>
          <p:nvPr/>
        </p:nvSpPr>
        <p:spPr>
          <a:xfrm>
            <a:off x="2039112" y="1978670"/>
            <a:ext cx="1170432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950">
                <a:solidFill>
                  <a:srgbClr val="5C6F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 </a:t>
            </a:r>
            <a:endParaRPr lang="en-US" sz="950"/>
          </a:p>
        </p:txBody>
      </p:sp>
      <p:sp>
        <p:nvSpPr>
          <p:cNvPr id="30" name="Shape 13">
            <a:extLst>
              <a:ext uri="{FF2B5EF4-FFF2-40B4-BE49-F238E27FC236}">
                <a16:creationId xmlns:a16="http://schemas.microsoft.com/office/drawing/2014/main" id="{045EE423-AA41-4DC6-239A-D77B231BF910}"/>
              </a:ext>
            </a:extLst>
          </p:cNvPr>
          <p:cNvSpPr/>
          <p:nvPr/>
        </p:nvSpPr>
        <p:spPr>
          <a:xfrm>
            <a:off x="3364992" y="1539758"/>
            <a:ext cx="201168" cy="365760"/>
          </a:xfrm>
          <a:prstGeom prst="chevron">
            <a:avLst/>
          </a:prstGeom>
          <a:solidFill>
            <a:srgbClr val="10A7A5"/>
          </a:solidFill>
          <a:ln w="12700">
            <a:solidFill>
              <a:srgbClr val="10A7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14">
            <a:extLst>
              <a:ext uri="{FF2B5EF4-FFF2-40B4-BE49-F238E27FC236}">
                <a16:creationId xmlns:a16="http://schemas.microsoft.com/office/drawing/2014/main" id="{2C718DDB-EB24-054E-1497-F312C35FE627}"/>
              </a:ext>
            </a:extLst>
          </p:cNvPr>
          <p:cNvSpPr/>
          <p:nvPr/>
        </p:nvSpPr>
        <p:spPr>
          <a:xfrm>
            <a:off x="3630168" y="1155710"/>
            <a:ext cx="1389888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769A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15">
            <a:extLst>
              <a:ext uri="{FF2B5EF4-FFF2-40B4-BE49-F238E27FC236}">
                <a16:creationId xmlns:a16="http://schemas.microsoft.com/office/drawing/2014/main" id="{AE7CC7F3-5A7B-9FDF-050D-1FF857333A5A}"/>
              </a:ext>
            </a:extLst>
          </p:cNvPr>
          <p:cNvSpPr/>
          <p:nvPr/>
        </p:nvSpPr>
        <p:spPr>
          <a:xfrm>
            <a:off x="3721608" y="1274582"/>
            <a:ext cx="27432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00" b="1">
                <a:solidFill>
                  <a:srgbClr val="1769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00"/>
          </a:p>
        </p:txBody>
      </p:sp>
      <p:sp>
        <p:nvSpPr>
          <p:cNvPr id="36" name="Text 16">
            <a:extLst>
              <a:ext uri="{FF2B5EF4-FFF2-40B4-BE49-F238E27FC236}">
                <a16:creationId xmlns:a16="http://schemas.microsoft.com/office/drawing/2014/main" id="{4FA5DD42-3523-35CE-3CDE-8228DDB7C7DF}"/>
              </a:ext>
            </a:extLst>
          </p:cNvPr>
          <p:cNvSpPr/>
          <p:nvPr/>
        </p:nvSpPr>
        <p:spPr>
          <a:xfrm>
            <a:off x="3739896" y="1631198"/>
            <a:ext cx="1170432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00" b="1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parsing</a:t>
            </a:r>
            <a:endParaRPr lang="en-US" sz="1200"/>
          </a:p>
        </p:txBody>
      </p:sp>
      <p:sp>
        <p:nvSpPr>
          <p:cNvPr id="38" name="Text 17">
            <a:extLst>
              <a:ext uri="{FF2B5EF4-FFF2-40B4-BE49-F238E27FC236}">
                <a16:creationId xmlns:a16="http://schemas.microsoft.com/office/drawing/2014/main" id="{A2D2CF2F-DED1-26E8-EA86-8397230F5C40}"/>
              </a:ext>
            </a:extLst>
          </p:cNvPr>
          <p:cNvSpPr/>
          <p:nvPr/>
        </p:nvSpPr>
        <p:spPr>
          <a:xfrm>
            <a:off x="3739896" y="1978670"/>
            <a:ext cx="1170432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fontScale="92500"/>
          </a:bodyPr>
          <a:lstStyle/>
          <a:p>
            <a:pPr marL="0" indent="0">
              <a:buNone/>
            </a:pPr>
            <a:r>
              <a:rPr lang="en-US" sz="950">
                <a:solidFill>
                  <a:srgbClr val="5C6F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incident + performance</a:t>
            </a:r>
            <a:endParaRPr lang="en-US" sz="950"/>
          </a:p>
        </p:txBody>
      </p:sp>
      <p:sp>
        <p:nvSpPr>
          <p:cNvPr id="40" name="Shape 18">
            <a:extLst>
              <a:ext uri="{FF2B5EF4-FFF2-40B4-BE49-F238E27FC236}">
                <a16:creationId xmlns:a16="http://schemas.microsoft.com/office/drawing/2014/main" id="{135E9D2F-21F3-1664-9E70-8DD2104E6F12}"/>
              </a:ext>
            </a:extLst>
          </p:cNvPr>
          <p:cNvSpPr/>
          <p:nvPr/>
        </p:nvSpPr>
        <p:spPr>
          <a:xfrm>
            <a:off x="5065776" y="1539758"/>
            <a:ext cx="201168" cy="365760"/>
          </a:xfrm>
          <a:prstGeom prst="chevron">
            <a:avLst/>
          </a:prstGeom>
          <a:solidFill>
            <a:srgbClr val="10A7A5"/>
          </a:solidFill>
          <a:ln w="12700">
            <a:solidFill>
              <a:srgbClr val="10A7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19">
            <a:extLst>
              <a:ext uri="{FF2B5EF4-FFF2-40B4-BE49-F238E27FC236}">
                <a16:creationId xmlns:a16="http://schemas.microsoft.com/office/drawing/2014/main" id="{B899D2B7-40C7-C9DE-E0C4-E459711A2D17}"/>
              </a:ext>
            </a:extLst>
          </p:cNvPr>
          <p:cNvSpPr/>
          <p:nvPr/>
        </p:nvSpPr>
        <p:spPr>
          <a:xfrm>
            <a:off x="5330952" y="1155710"/>
            <a:ext cx="1389888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769A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20">
            <a:extLst>
              <a:ext uri="{FF2B5EF4-FFF2-40B4-BE49-F238E27FC236}">
                <a16:creationId xmlns:a16="http://schemas.microsoft.com/office/drawing/2014/main" id="{F1DCDF54-4044-692A-C559-5B4EEBCF78E1}"/>
              </a:ext>
            </a:extLst>
          </p:cNvPr>
          <p:cNvSpPr/>
          <p:nvPr/>
        </p:nvSpPr>
        <p:spPr>
          <a:xfrm>
            <a:off x="5422392" y="1274582"/>
            <a:ext cx="27432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00" b="1">
                <a:solidFill>
                  <a:srgbClr val="1769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100"/>
          </a:p>
        </p:txBody>
      </p:sp>
      <p:sp>
        <p:nvSpPr>
          <p:cNvPr id="46" name="Text 21">
            <a:extLst>
              <a:ext uri="{FF2B5EF4-FFF2-40B4-BE49-F238E27FC236}">
                <a16:creationId xmlns:a16="http://schemas.microsoft.com/office/drawing/2014/main" id="{55E1147B-D693-5C9C-BA5A-A80741A4AED0}"/>
              </a:ext>
            </a:extLst>
          </p:cNvPr>
          <p:cNvSpPr/>
          <p:nvPr/>
        </p:nvSpPr>
        <p:spPr>
          <a:xfrm>
            <a:off x="5440680" y="1631198"/>
            <a:ext cx="1170432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00" b="1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 extraction</a:t>
            </a:r>
            <a:endParaRPr lang="en-US" sz="1200"/>
          </a:p>
        </p:txBody>
      </p:sp>
      <p:sp>
        <p:nvSpPr>
          <p:cNvPr id="48" name="Text 22">
            <a:extLst>
              <a:ext uri="{FF2B5EF4-FFF2-40B4-BE49-F238E27FC236}">
                <a16:creationId xmlns:a16="http://schemas.microsoft.com/office/drawing/2014/main" id="{FC4C462E-C140-932E-21CB-550B7B66C3AE}"/>
              </a:ext>
            </a:extLst>
          </p:cNvPr>
          <p:cNvSpPr/>
          <p:nvPr/>
        </p:nvSpPr>
        <p:spPr>
          <a:xfrm>
            <a:off x="5440680" y="1978670"/>
            <a:ext cx="1170432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950">
                <a:solidFill>
                  <a:srgbClr val="5C6F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GMT date + time</a:t>
            </a:r>
            <a:endParaRPr lang="en-US" sz="950"/>
          </a:p>
        </p:txBody>
      </p:sp>
      <p:sp>
        <p:nvSpPr>
          <p:cNvPr id="50" name="Shape 23">
            <a:extLst>
              <a:ext uri="{FF2B5EF4-FFF2-40B4-BE49-F238E27FC236}">
                <a16:creationId xmlns:a16="http://schemas.microsoft.com/office/drawing/2014/main" id="{57C5E73C-573F-B918-1AE6-4B066090D0A0}"/>
              </a:ext>
            </a:extLst>
          </p:cNvPr>
          <p:cNvSpPr/>
          <p:nvPr/>
        </p:nvSpPr>
        <p:spPr>
          <a:xfrm>
            <a:off x="6766560" y="1539758"/>
            <a:ext cx="201168" cy="365760"/>
          </a:xfrm>
          <a:prstGeom prst="chevron">
            <a:avLst/>
          </a:prstGeom>
          <a:solidFill>
            <a:srgbClr val="10A7A5"/>
          </a:solidFill>
          <a:ln w="12700">
            <a:solidFill>
              <a:srgbClr val="10A7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Shape 24">
            <a:extLst>
              <a:ext uri="{FF2B5EF4-FFF2-40B4-BE49-F238E27FC236}">
                <a16:creationId xmlns:a16="http://schemas.microsoft.com/office/drawing/2014/main" id="{A13C7F87-FB88-C4A9-174F-BE896D9EA8C2}"/>
              </a:ext>
            </a:extLst>
          </p:cNvPr>
          <p:cNvSpPr/>
          <p:nvPr/>
        </p:nvSpPr>
        <p:spPr>
          <a:xfrm>
            <a:off x="7031736" y="1155710"/>
            <a:ext cx="1389888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769A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25">
            <a:extLst>
              <a:ext uri="{FF2B5EF4-FFF2-40B4-BE49-F238E27FC236}">
                <a16:creationId xmlns:a16="http://schemas.microsoft.com/office/drawing/2014/main" id="{5C8E0117-FEE7-5EBD-60E9-EFD2ACBE69DC}"/>
              </a:ext>
            </a:extLst>
          </p:cNvPr>
          <p:cNvSpPr/>
          <p:nvPr/>
        </p:nvSpPr>
        <p:spPr>
          <a:xfrm>
            <a:off x="7123176" y="1274582"/>
            <a:ext cx="27432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00" b="1">
                <a:solidFill>
                  <a:srgbClr val="1769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100"/>
          </a:p>
        </p:txBody>
      </p:sp>
      <p:sp>
        <p:nvSpPr>
          <p:cNvPr id="56" name="Text 26">
            <a:extLst>
              <a:ext uri="{FF2B5EF4-FFF2-40B4-BE49-F238E27FC236}">
                <a16:creationId xmlns:a16="http://schemas.microsoft.com/office/drawing/2014/main" id="{15407BEB-1042-6CD1-E979-B3B44C65B7CC}"/>
              </a:ext>
            </a:extLst>
          </p:cNvPr>
          <p:cNvSpPr/>
          <p:nvPr/>
        </p:nvSpPr>
        <p:spPr>
          <a:xfrm>
            <a:off x="7141464" y="1631198"/>
            <a:ext cx="1170432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00" b="1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 union</a:t>
            </a:r>
            <a:endParaRPr lang="en-US" sz="1200"/>
          </a:p>
        </p:txBody>
      </p:sp>
      <p:sp>
        <p:nvSpPr>
          <p:cNvPr id="58" name="Text 27">
            <a:extLst>
              <a:ext uri="{FF2B5EF4-FFF2-40B4-BE49-F238E27FC236}">
                <a16:creationId xmlns:a16="http://schemas.microsoft.com/office/drawing/2014/main" id="{18E53247-491D-0FEC-EEC7-EB8D632900CE}"/>
              </a:ext>
            </a:extLst>
          </p:cNvPr>
          <p:cNvSpPr/>
          <p:nvPr/>
        </p:nvSpPr>
        <p:spPr>
          <a:xfrm>
            <a:off x="7141464" y="1978670"/>
            <a:ext cx="1170432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950">
                <a:solidFill>
                  <a:srgbClr val="5C6F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common long table</a:t>
            </a:r>
            <a:endParaRPr lang="en-US" sz="950"/>
          </a:p>
        </p:txBody>
      </p:sp>
      <p:sp>
        <p:nvSpPr>
          <p:cNvPr id="60" name="Shape 28">
            <a:extLst>
              <a:ext uri="{FF2B5EF4-FFF2-40B4-BE49-F238E27FC236}">
                <a16:creationId xmlns:a16="http://schemas.microsoft.com/office/drawing/2014/main" id="{85083C31-5A44-6A7B-F38E-653CAC172BB5}"/>
              </a:ext>
            </a:extLst>
          </p:cNvPr>
          <p:cNvSpPr/>
          <p:nvPr/>
        </p:nvSpPr>
        <p:spPr>
          <a:xfrm>
            <a:off x="8467344" y="1539758"/>
            <a:ext cx="201168" cy="365760"/>
          </a:xfrm>
          <a:prstGeom prst="chevron">
            <a:avLst/>
          </a:prstGeom>
          <a:solidFill>
            <a:srgbClr val="10A7A5"/>
          </a:solidFill>
          <a:ln w="12700">
            <a:solidFill>
              <a:srgbClr val="10A7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Shape 29">
            <a:extLst>
              <a:ext uri="{FF2B5EF4-FFF2-40B4-BE49-F238E27FC236}">
                <a16:creationId xmlns:a16="http://schemas.microsoft.com/office/drawing/2014/main" id="{385AAE78-565D-7003-2BFA-822196B9FE81}"/>
              </a:ext>
            </a:extLst>
          </p:cNvPr>
          <p:cNvSpPr/>
          <p:nvPr/>
        </p:nvSpPr>
        <p:spPr>
          <a:xfrm>
            <a:off x="8732520" y="1155710"/>
            <a:ext cx="1389888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769A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2" name="Text 30">
            <a:extLst>
              <a:ext uri="{FF2B5EF4-FFF2-40B4-BE49-F238E27FC236}">
                <a16:creationId xmlns:a16="http://schemas.microsoft.com/office/drawing/2014/main" id="{B7C75F3F-8B9E-4EFB-F3FB-3764F83AA881}"/>
              </a:ext>
            </a:extLst>
          </p:cNvPr>
          <p:cNvSpPr/>
          <p:nvPr/>
        </p:nvSpPr>
        <p:spPr>
          <a:xfrm>
            <a:off x="8823960" y="1274582"/>
            <a:ext cx="27432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00" b="1">
                <a:solidFill>
                  <a:srgbClr val="1769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100"/>
          </a:p>
        </p:txBody>
      </p:sp>
      <p:sp>
        <p:nvSpPr>
          <p:cNvPr id="194" name="Text 31">
            <a:extLst>
              <a:ext uri="{FF2B5EF4-FFF2-40B4-BE49-F238E27FC236}">
                <a16:creationId xmlns:a16="http://schemas.microsoft.com/office/drawing/2014/main" id="{79BC7059-A5FA-FE0F-174A-DEFE6935F193}"/>
              </a:ext>
            </a:extLst>
          </p:cNvPr>
          <p:cNvSpPr/>
          <p:nvPr/>
        </p:nvSpPr>
        <p:spPr>
          <a:xfrm>
            <a:off x="8842248" y="1631198"/>
            <a:ext cx="1170432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00" b="1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Panel build</a:t>
            </a:r>
            <a:endParaRPr lang="en-US" sz="1200"/>
          </a:p>
        </p:txBody>
      </p:sp>
      <p:sp>
        <p:nvSpPr>
          <p:cNvPr id="196" name="Text 32">
            <a:extLst>
              <a:ext uri="{FF2B5EF4-FFF2-40B4-BE49-F238E27FC236}">
                <a16:creationId xmlns:a16="http://schemas.microsoft.com/office/drawing/2014/main" id="{770F952D-AFA6-8814-A1AF-53ECEF0C761A}"/>
              </a:ext>
            </a:extLst>
          </p:cNvPr>
          <p:cNvSpPr/>
          <p:nvPr/>
        </p:nvSpPr>
        <p:spPr>
          <a:xfrm>
            <a:off x="8842248" y="1978670"/>
            <a:ext cx="1170432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950">
                <a:solidFill>
                  <a:srgbClr val="5C6F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 × snapshot</a:t>
            </a:r>
            <a:endParaRPr lang="en-US" sz="950"/>
          </a:p>
        </p:txBody>
      </p:sp>
      <p:sp>
        <p:nvSpPr>
          <p:cNvPr id="198" name="Shape 33">
            <a:extLst>
              <a:ext uri="{FF2B5EF4-FFF2-40B4-BE49-F238E27FC236}">
                <a16:creationId xmlns:a16="http://schemas.microsoft.com/office/drawing/2014/main" id="{0D910C10-59D4-C658-4ACF-711A7A5EF7AC}"/>
              </a:ext>
            </a:extLst>
          </p:cNvPr>
          <p:cNvSpPr/>
          <p:nvPr/>
        </p:nvSpPr>
        <p:spPr>
          <a:xfrm>
            <a:off x="10168128" y="1539758"/>
            <a:ext cx="201168" cy="365760"/>
          </a:xfrm>
          <a:prstGeom prst="chevron">
            <a:avLst/>
          </a:prstGeom>
          <a:solidFill>
            <a:srgbClr val="10A7A5"/>
          </a:solidFill>
          <a:ln w="12700">
            <a:solidFill>
              <a:srgbClr val="10A7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0" name="Shape 34">
            <a:extLst>
              <a:ext uri="{FF2B5EF4-FFF2-40B4-BE49-F238E27FC236}">
                <a16:creationId xmlns:a16="http://schemas.microsoft.com/office/drawing/2014/main" id="{8CBA4EA6-0A3B-B02F-B50B-13E59579E06B}"/>
              </a:ext>
            </a:extLst>
          </p:cNvPr>
          <p:cNvSpPr/>
          <p:nvPr/>
        </p:nvSpPr>
        <p:spPr>
          <a:xfrm>
            <a:off x="10433304" y="1155710"/>
            <a:ext cx="1389888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769A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2" name="Text 35">
            <a:extLst>
              <a:ext uri="{FF2B5EF4-FFF2-40B4-BE49-F238E27FC236}">
                <a16:creationId xmlns:a16="http://schemas.microsoft.com/office/drawing/2014/main" id="{8FD637A4-4AB3-E952-8D74-E06B3C99BD33}"/>
              </a:ext>
            </a:extLst>
          </p:cNvPr>
          <p:cNvSpPr/>
          <p:nvPr/>
        </p:nvSpPr>
        <p:spPr>
          <a:xfrm>
            <a:off x="10524744" y="1274582"/>
            <a:ext cx="27432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100" b="1">
                <a:solidFill>
                  <a:srgbClr val="1769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100"/>
          </a:p>
        </p:txBody>
      </p:sp>
      <p:sp>
        <p:nvSpPr>
          <p:cNvPr id="204" name="Text 36">
            <a:extLst>
              <a:ext uri="{FF2B5EF4-FFF2-40B4-BE49-F238E27FC236}">
                <a16:creationId xmlns:a16="http://schemas.microsoft.com/office/drawing/2014/main" id="{4FBF8459-F016-912B-B601-5DA248BDF4C1}"/>
              </a:ext>
            </a:extLst>
          </p:cNvPr>
          <p:cNvSpPr/>
          <p:nvPr/>
        </p:nvSpPr>
        <p:spPr>
          <a:xfrm>
            <a:off x="10543032" y="1631198"/>
            <a:ext cx="1170432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00" b="1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Modeling</a:t>
            </a:r>
            <a:endParaRPr lang="en-US" sz="1200"/>
          </a:p>
        </p:txBody>
      </p:sp>
      <p:sp>
        <p:nvSpPr>
          <p:cNvPr id="206" name="Text 37">
            <a:extLst>
              <a:ext uri="{FF2B5EF4-FFF2-40B4-BE49-F238E27FC236}">
                <a16:creationId xmlns:a16="http://schemas.microsoft.com/office/drawing/2014/main" id="{7A971893-E824-4C93-561F-7ADD03E0A962}"/>
              </a:ext>
            </a:extLst>
          </p:cNvPr>
          <p:cNvSpPr/>
          <p:nvPr/>
        </p:nvSpPr>
        <p:spPr>
          <a:xfrm>
            <a:off x="10543032" y="1978670"/>
            <a:ext cx="1170432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950">
                <a:solidFill>
                  <a:srgbClr val="5C6F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7D / 14D / 30D</a:t>
            </a:r>
            <a:endParaRPr lang="en-US" sz="950"/>
          </a:p>
        </p:txBody>
      </p:sp>
      <p:sp>
        <p:nvSpPr>
          <p:cNvPr id="37" name="Rectangle 36"/>
          <p:cNvSpPr/>
          <p:nvPr/>
        </p:nvSpPr>
        <p:spPr>
          <a:xfrm>
            <a:off x="41148" y="2426726"/>
            <a:ext cx="7397495" cy="549381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/>
              <a:t>tar.gz file is essentially a archive, The TAR/GZ format is used mainly for packaging and transferring a large number of files efficiently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/>
              <a:t>After extraction tar.gz file, you get .RAW files, </a:t>
            </a:r>
            <a:r>
              <a:rPr lang="en-IN" b="1"/>
              <a:t>RAW = original source data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/>
              <a:t>The RAW format apparently isn’t convenient for directly reading and processing the EFR information.</a:t>
            </a:r>
            <a:endParaRPr lang="en-US"/>
          </a:p>
          <a:p>
            <a:pPr>
              <a:lnSpc>
                <a:spcPct val="150000"/>
              </a:lnSpc>
            </a:pPr>
            <a:r>
              <a:rPr lang="en-IN"/>
              <a:t>RAW 			TXT</a:t>
            </a:r>
            <a:endParaRPr lang="en-US"/>
          </a:p>
          <a:p>
            <a:pPr>
              <a:lnSpc>
                <a:spcPct val="150000"/>
              </a:lnSpc>
            </a:pPr>
            <a:r>
              <a:rPr lang="en-IN"/>
              <a:t>	EFR converter</a:t>
            </a:r>
            <a:endParaRPr lang="en-US"/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/>
              <a:t>The TXT representation exposes the information in a more structured, human/machine-readable form. 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IN"/>
              <a:t>SHA-256 is used for </a:t>
            </a:r>
            <a:r>
              <a:rPr lang="en-IN" b="1"/>
              <a:t>data integrity and traceability</a:t>
            </a:r>
            <a:r>
              <a:rPr lang="en-IN"/>
              <a:t>.</a:t>
            </a:r>
            <a:endParaRPr lang="en-US"/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cxnSp>
        <p:nvCxnSpPr>
          <p:cNvPr id="41" name="Straight Arrow Connector 40"/>
          <p:cNvCxnSpPr/>
          <p:nvPr/>
        </p:nvCxnSpPr>
        <p:spPr>
          <a:xfrm>
            <a:off x="761327" y="4811360"/>
            <a:ext cx="2006930" cy="1588"/>
          </a:xfrm>
          <a:prstGeom prst="straightConnector1">
            <a:avLst/>
          </a:prstGeom>
          <a:noFill/>
          <a:ln w="19050" cap="flat">
            <a:solidFill>
              <a:schemeClr val="accent1"/>
            </a:solidFill>
            <a:prstDash val="solid"/>
            <a:miter lim="800000"/>
            <a:tailEnd type="arrow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2529" name="Rectangle 1"/>
          <p:cNvSpPr>
            <a:spLocks noChangeArrowheads="1"/>
          </p:cNvSpPr>
          <p:nvPr/>
        </p:nvSpPr>
        <p:spPr bwMode="auto">
          <a:xfrm>
            <a:off x="7031736" y="3871692"/>
            <a:ext cx="5119116" cy="2893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1400" i="1" u="none" strike="noStrike" cap="none" normalizeH="0" baseline="0">
                <a:ln>
                  <a:noFill/>
                </a:ln>
                <a:solidFill>
                  <a:srgbClr val="111184"/>
                </a:solidFill>
                <a:effectLst/>
                <a:latin typeface="Aptos"/>
                <a:ea typeface="Aptos"/>
                <a:cs typeface="Times New Roman" pitchFamily="18" charset="0"/>
              </a:rPr>
              <a:t>Every</a:t>
            </a:r>
            <a:r>
              <a:rPr kumimoji="0" lang="en-US" sz="1400" i="1" u="none" strike="noStrike" cap="none" normalizeH="0">
                <a:ln>
                  <a:noFill/>
                </a:ln>
                <a:solidFill>
                  <a:srgbClr val="111184"/>
                </a:solidFill>
                <a:effectLst/>
                <a:latin typeface="Aptos"/>
                <a:ea typeface="Aptos"/>
                <a:cs typeface="Times New Roman" pitchFamily="18" charset="0"/>
              </a:rPr>
              <a:t> Raw/TXT file we have a </a:t>
            </a:r>
            <a:r>
              <a:rPr kumimoji="0" lang="en-US" sz="1400" i="1" u="none" strike="noStrike" cap="none" normalizeH="0" baseline="0">
                <a:ln>
                  <a:noFill/>
                </a:ln>
                <a:solidFill>
                  <a:srgbClr val="111184"/>
                </a:solidFill>
                <a:effectLst/>
                <a:latin typeface="Aptos"/>
                <a:ea typeface="Aptos"/>
                <a:cs typeface="Times New Roman" pitchFamily="18" charset="0"/>
              </a:rPr>
              <a:t>SHA-256 hash, because</a:t>
            </a:r>
            <a:r>
              <a:rPr kumimoji="0" lang="en-US" sz="1400" i="1" u="none" strike="noStrike" cap="none" normalizeH="0">
                <a:ln>
                  <a:noFill/>
                </a:ln>
                <a:solidFill>
                  <a:srgbClr val="111184"/>
                </a:solidFill>
                <a:effectLst/>
                <a:latin typeface="Aptos"/>
                <a:ea typeface="Aptos"/>
                <a:cs typeface="Times New Roman" pitchFamily="18" charset="0"/>
              </a:rPr>
              <a:t> out of 1 </a:t>
            </a:r>
            <a:r>
              <a:rPr kumimoji="0" lang="en-US" sz="1400" i="1" u="none" strike="noStrike" cap="none" normalizeH="0" err="1">
                <a:ln>
                  <a:noFill/>
                </a:ln>
                <a:solidFill>
                  <a:srgbClr val="111184"/>
                </a:solidFill>
                <a:effectLst/>
                <a:latin typeface="Aptos"/>
                <a:ea typeface="Aptos"/>
                <a:cs typeface="Times New Roman" pitchFamily="18" charset="0"/>
              </a:rPr>
              <a:t>lakh</a:t>
            </a:r>
            <a:r>
              <a:rPr kumimoji="0" lang="en-US" sz="1400" i="1" u="none" strike="noStrike" cap="none" normalizeH="0">
                <a:ln>
                  <a:noFill/>
                </a:ln>
                <a:solidFill>
                  <a:srgbClr val="111184"/>
                </a:solidFill>
                <a:effectLst/>
                <a:latin typeface="Aptos"/>
                <a:ea typeface="Aptos"/>
                <a:cs typeface="Times New Roman" pitchFamily="18" charset="0"/>
              </a:rPr>
              <a:t> records, there is a chance that the records get duplicated</a:t>
            </a:r>
            <a:r>
              <a:rPr kumimoji="0" lang="en-US" sz="1400" i="1" u="none" strike="noStrike" cap="none" normalizeH="0" baseline="0">
                <a:ln>
                  <a:noFill/>
                </a:ln>
                <a:solidFill>
                  <a:srgbClr val="111184"/>
                </a:solidFill>
                <a:effectLst/>
                <a:latin typeface="Aptos"/>
                <a:ea typeface="Aptos"/>
                <a:cs typeface="Times New Roman" pitchFamily="18" charset="0"/>
              </a:rPr>
              <a:t>:</a:t>
            </a:r>
            <a:endParaRPr kumimoji="0" lang="en-US" sz="1400" i="1" u="none" strike="noStrike" cap="none" normalizeH="0" baseline="0">
              <a:ln>
                <a:noFill/>
              </a:ln>
              <a:solidFill>
                <a:srgbClr val="111184"/>
              </a:solidFill>
              <a:effectLst/>
              <a:latin typeface="Aptos"/>
              <a:ea typeface="Aptos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kumimoji="0" lang="en-US" sz="1400" i="1" u="none" strike="noStrike" cap="none" normalizeH="0" baseline="0">
              <a:ln>
                <a:noFill/>
              </a:ln>
              <a:solidFill>
                <a:srgbClr val="111184"/>
              </a:solidFill>
              <a:effectLst/>
              <a:latin typeface="Aptos"/>
              <a:ea typeface="Aptos"/>
              <a:cs typeface="Courier New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1400" i="1">
                <a:solidFill>
                  <a:srgbClr val="111184"/>
                </a:solidFill>
                <a:latin typeface="Aptos"/>
                <a:ea typeface="Aptos"/>
                <a:cs typeface="Courier New" pitchFamily="49" charset="0"/>
              </a:rPr>
              <a:t>Ex- </a:t>
            </a:r>
            <a:r>
              <a:rPr kumimoji="0" lang="en-US" sz="1400" i="1" u="none" strike="noStrike" cap="none" normalizeH="0" baseline="0">
                <a:ln>
                  <a:noFill/>
                </a:ln>
                <a:solidFill>
                  <a:srgbClr val="111184"/>
                </a:solidFill>
                <a:effectLst/>
                <a:latin typeface="Aptos"/>
                <a:ea typeface="Aptos"/>
                <a:cs typeface="Courier New" pitchFamily="49" charset="0"/>
              </a:rPr>
              <a:t>Engine_001.RAW</a:t>
            </a:r>
            <a:endParaRPr kumimoji="0" lang="en-US" sz="1400" i="1" u="none" strike="noStrike" cap="none" normalizeH="0" baseline="0">
              <a:ln>
                <a:noFill/>
              </a:ln>
              <a:solidFill>
                <a:srgbClr val="111184"/>
              </a:solidFill>
              <a:effectLst/>
              <a:latin typeface="Aptos"/>
              <a:ea typeface="Aptos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1400" i="1" u="none" strike="noStrike" cap="none" normalizeH="0" baseline="0">
                <a:ln>
                  <a:noFill/>
                </a:ln>
                <a:solidFill>
                  <a:srgbClr val="111184"/>
                </a:solidFill>
                <a:effectLst/>
                <a:latin typeface="Aptos"/>
                <a:ea typeface="Aptos"/>
                <a:cs typeface="Courier New" pitchFamily="49" charset="0"/>
              </a:rPr>
              <a:t>          ↓</a:t>
            </a:r>
            <a:endParaRPr kumimoji="0" lang="en-US" sz="1400" i="1" u="none" strike="noStrike" cap="none" normalizeH="0" baseline="0">
              <a:ln>
                <a:noFill/>
              </a:ln>
              <a:solidFill>
                <a:srgbClr val="111184"/>
              </a:solidFill>
              <a:effectLst/>
              <a:latin typeface="Aptos"/>
              <a:ea typeface="Aptos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US" sz="1400" i="1">
                <a:solidFill>
                  <a:srgbClr val="111184"/>
                </a:solidFill>
                <a:latin typeface="Aptos"/>
                <a:ea typeface="Aptos"/>
                <a:cs typeface="Courier New" pitchFamily="49" charset="0"/>
              </a:rPr>
              <a:t>     </a:t>
            </a:r>
            <a:r>
              <a:rPr kumimoji="0" lang="en-US" sz="1400" i="1" u="none" strike="noStrike" cap="none" normalizeH="0" baseline="0">
                <a:ln>
                  <a:noFill/>
                </a:ln>
                <a:solidFill>
                  <a:srgbClr val="111184"/>
                </a:solidFill>
                <a:effectLst/>
                <a:latin typeface="Aptos"/>
                <a:ea typeface="Aptos"/>
                <a:cs typeface="Courier New" pitchFamily="49" charset="0"/>
              </a:rPr>
              <a:t>SHA-256</a:t>
            </a:r>
            <a:endParaRPr kumimoji="0" lang="en-US" sz="1400" i="1" u="none" strike="noStrike" cap="none" normalizeH="0" baseline="0">
              <a:ln>
                <a:noFill/>
              </a:ln>
              <a:solidFill>
                <a:srgbClr val="111184"/>
              </a:solidFill>
              <a:effectLst/>
              <a:latin typeface="Aptos"/>
              <a:ea typeface="Aptos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1400" i="1" u="none" strike="noStrike" cap="none" normalizeH="0" baseline="0">
                <a:ln>
                  <a:noFill/>
                </a:ln>
                <a:solidFill>
                  <a:srgbClr val="111184"/>
                </a:solidFill>
                <a:effectLst/>
                <a:latin typeface="Aptos"/>
                <a:ea typeface="Aptos"/>
                <a:cs typeface="Courier New" pitchFamily="49" charset="0"/>
              </a:rPr>
              <a:t>          ↓</a:t>
            </a:r>
            <a:endParaRPr kumimoji="0" lang="en-US" sz="1400" i="1" u="none" strike="noStrike" cap="none" normalizeH="0" baseline="0">
              <a:ln>
                <a:noFill/>
              </a:ln>
              <a:solidFill>
                <a:srgbClr val="111184"/>
              </a:solidFill>
              <a:effectLst/>
              <a:latin typeface="Aptos"/>
              <a:ea typeface="Aptos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1400" i="1" u="none" strike="noStrike" cap="none" normalizeH="0" baseline="0">
                <a:ln>
                  <a:noFill/>
                </a:ln>
                <a:solidFill>
                  <a:srgbClr val="111184"/>
                </a:solidFill>
                <a:effectLst/>
                <a:latin typeface="Aptos"/>
                <a:ea typeface="Aptos"/>
                <a:cs typeface="Courier New" pitchFamily="49" charset="0"/>
              </a:rPr>
              <a:t>    A7F82C91.......</a:t>
            </a:r>
            <a:endParaRPr kumimoji="0" lang="en-US" sz="1400" i="1" u="none" strike="noStrike" cap="none" normalizeH="0" baseline="0">
              <a:ln>
                <a:noFill/>
              </a:ln>
              <a:solidFill>
                <a:srgbClr val="111184"/>
              </a:solidFill>
              <a:effectLst/>
              <a:latin typeface="Aptos"/>
              <a:ea typeface="Aptos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1400" i="1" u="none" strike="noStrike" cap="none" normalizeH="0" baseline="0">
                <a:ln>
                  <a:noFill/>
                </a:ln>
                <a:solidFill>
                  <a:srgbClr val="111184"/>
                </a:solidFill>
                <a:effectLst/>
                <a:latin typeface="Aptos"/>
                <a:ea typeface="Aptos"/>
                <a:cs typeface="Times New Roman" pitchFamily="18" charset="0"/>
              </a:rPr>
              <a:t>That long string is effectively a digital fingerprint</a:t>
            </a:r>
            <a:r>
              <a:rPr kumimoji="0" lang="en-US" sz="1400" i="1" u="none" strike="noStrike" cap="none" normalizeH="0">
                <a:ln>
                  <a:noFill/>
                </a:ln>
                <a:solidFill>
                  <a:srgbClr val="111184"/>
                </a:solidFill>
                <a:effectLst/>
                <a:latin typeface="Aptos"/>
                <a:ea typeface="Aptos"/>
                <a:cs typeface="Times New Roman" pitchFamily="18" charset="0"/>
              </a:rPr>
              <a:t> or unique ID </a:t>
            </a:r>
            <a:r>
              <a:rPr kumimoji="0" lang="en-US" sz="1400" i="1" u="none" strike="noStrike" cap="none" normalizeH="0" baseline="0">
                <a:ln>
                  <a:noFill/>
                </a:ln>
                <a:solidFill>
                  <a:srgbClr val="111184"/>
                </a:solidFill>
                <a:effectLst/>
                <a:latin typeface="Aptos"/>
                <a:ea typeface="Aptos"/>
                <a:cs typeface="Times New Roman" pitchFamily="18" charset="0"/>
              </a:rPr>
              <a:t> of the file’s contents.</a:t>
            </a:r>
          </a:p>
          <a:p>
            <a:pPr eaLnBrk="0" fontAlgn="base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IN" sz="1400" i="1">
                <a:solidFill>
                  <a:srgbClr val="111184"/>
                </a:solidFill>
                <a:latin typeface="Aptos"/>
                <a:ea typeface="Aptos"/>
              </a:rPr>
              <a:t>If even a tiny part of the RAW file changes, the hash will normally be completely different.</a:t>
            </a:r>
            <a:endParaRPr lang="en-US" sz="1400" i="1">
              <a:solidFill>
                <a:srgbClr val="111184"/>
              </a:solidFill>
              <a:latin typeface="Aptos"/>
              <a:ea typeface="Aptos"/>
            </a:endParaRPr>
          </a:p>
          <a:p>
            <a:pPr lvl="0" eaLnBrk="0" fontAlgn="base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kumimoji="0" lang="en-US" sz="1400" i="1" u="none" strike="noStrike" cap="none" normalizeH="0" baseline="0">
              <a:ln>
                <a:noFill/>
              </a:ln>
              <a:solidFill>
                <a:srgbClr val="111184"/>
              </a:solidFill>
              <a:effectLst/>
              <a:latin typeface="Aptos"/>
              <a:ea typeface="Aptos"/>
              <a:cs typeface="Arial" pitchFamily="34" charset="0"/>
            </a:endParaRP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ChangeArrowheads="1"/>
          </p:cNvSpPr>
          <p:nvPr/>
        </p:nvSpPr>
        <p:spPr bwMode="auto">
          <a:xfrm>
            <a:off x="172576" y="1136157"/>
            <a:ext cx="7040347" cy="3970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 hangingPunct="1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lang="en-IN" sz="1200"/>
              <a:t>export</a:t>
            </a:r>
            <a:r>
              <a:rPr lang="en-IN" sz="1200">
                <a:latin typeface="Aptos" panose="020B0004020202020204" pitchFamily="34" charset="0"/>
              </a:rPr>
              <a:t>_fault_metrics_to_excel.py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kumimoji="0" lang="en-US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Times New Roman" pitchFamily="18" charset="0"/>
                <a:cs typeface="Times New Roman" pitchFamily="18" charset="0"/>
              </a:rPr>
              <a:t>After the aircraft-engine data has already been cleaned and stored in Parquet format</a:t>
            </a:r>
            <a:r>
              <a:rPr kumimoji="0" 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Times New Roman" pitchFamily="18" charset="0"/>
                <a:cs typeface="Times New Roman" pitchFamily="18" charset="0"/>
              </a:rPr>
              <a:t>.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Times New Roman" pitchFamily="18" charset="0"/>
                <a:cs typeface="Times New Roman" pitchFamily="18" charset="0"/>
              </a:rPr>
              <a:t>It reads the processed aircraft-engine fault data from the Parquet file and examines the fault records one by one. </a:t>
            </a:r>
          </a:p>
          <a:p>
            <a:pPr lvl="0"/>
            <a:endParaRPr lang="en-IN" b="1">
              <a:latin typeface="Aptos" panose="020B0004020202020204" pitchFamily="34" charset="0"/>
            </a:endParaRPr>
          </a:p>
          <a:p>
            <a:pPr lvl="0"/>
            <a:r>
              <a:rPr lang="en-IN" b="1">
                <a:latin typeface="Aptos" panose="020B0004020202020204" pitchFamily="34" charset="0"/>
              </a:rPr>
              <a:t>Purpose:</a:t>
            </a:r>
            <a:r>
              <a:rPr lang="en-IN">
                <a:latin typeface="Aptos" panose="020B0004020202020204" pitchFamily="34" charset="0"/>
              </a:rPr>
              <a:t> Aggregates and </a:t>
            </a:r>
            <a:r>
              <a:rPr lang="en-IN" err="1">
                <a:latin typeface="Aptos" panose="020B0004020202020204" pitchFamily="34" charset="0"/>
              </a:rPr>
              <a:t>analyzes</a:t>
            </a:r>
            <a:r>
              <a:rPr lang="en-IN">
                <a:latin typeface="Aptos" panose="020B0004020202020204" pitchFamily="34" charset="0"/>
              </a:rPr>
              <a:t> engine fault occurrences.</a:t>
            </a:r>
          </a:p>
          <a:p>
            <a:pPr lvl="0"/>
            <a:endParaRPr lang="en-IN" b="1">
              <a:latin typeface="Aptos" panose="020B0004020202020204" pitchFamily="34" charset="0"/>
            </a:endParaRPr>
          </a:p>
          <a:p>
            <a:pPr lvl="0"/>
            <a:r>
              <a:rPr lang="en-IN" b="1">
                <a:latin typeface="Aptos" panose="020B0004020202020204" pitchFamily="34" charset="0"/>
              </a:rPr>
              <a:t>Key Metrics:</a:t>
            </a:r>
            <a:endParaRPr lang="en-IN">
              <a:latin typeface="Aptos" panose="020B0004020202020204" pitchFamily="34" charset="0"/>
            </a:endParaRP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IN">
                <a:latin typeface="Aptos" panose="020B0004020202020204" pitchFamily="34" charset="0"/>
              </a:rPr>
              <a:t>Groups data by fault code.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IN">
                <a:latin typeface="Aptos" panose="020B0004020202020204" pitchFamily="34" charset="0"/>
              </a:rPr>
              <a:t>Calculates fault frequency and percentage of total faults.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IN">
                <a:latin typeface="Aptos" panose="020B0004020202020204" pitchFamily="34" charset="0"/>
              </a:rPr>
              <a:t>Identifies unique affected engines and flight legs.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IN">
                <a:latin typeface="Aptos" panose="020B0004020202020204" pitchFamily="34" charset="0"/>
              </a:rPr>
              <a:t>Captures first and last observed timestamps.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kumimoji="0" 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075" y="6488668"/>
            <a:ext cx="1230257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/>
              <a:t>The program also avoids loading the entire dataset into computer memory at once. It processes the data in batches called folds</a:t>
            </a:r>
            <a:endParaRPr lang="en-US"/>
          </a:p>
        </p:txBody>
      </p:sp>
      <p:sp>
        <p:nvSpPr>
          <p:cNvPr id="7" name="Text 1"/>
          <p:cNvSpPr/>
          <p:nvPr/>
        </p:nvSpPr>
        <p:spPr>
          <a:xfrm>
            <a:off x="296441" y="248465"/>
            <a:ext cx="637966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120">
                <a:solidFill>
                  <a:srgbClr val="111184"/>
                </a:solidFill>
                <a:latin typeface="Book Antiqua" panose="02040602050305030304" pitchFamily="18" charset="0"/>
              </a:rPr>
              <a:t>Identification of faults</a:t>
            </a:r>
            <a:endParaRPr lang="en-US" sz="3600" b="1">
              <a:solidFill>
                <a:srgbClr val="111184"/>
              </a:solidFill>
              <a:latin typeface="Book Antiqua" panose="0204060205030503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BC4B25B-6EF4-15FA-1947-5F1F521F31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4139" y="521208"/>
            <a:ext cx="4830786" cy="5815584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F87AD-545E-57CB-1484-578CF9AC7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1">
            <a:extLst>
              <a:ext uri="{FF2B5EF4-FFF2-40B4-BE49-F238E27FC236}">
                <a16:creationId xmlns:a16="http://schemas.microsoft.com/office/drawing/2014/main" id="{EFC1A4E2-1EDF-7578-133A-C15371ABFF2B}"/>
              </a:ext>
            </a:extLst>
          </p:cNvPr>
          <p:cNvSpPr/>
          <p:nvPr/>
        </p:nvSpPr>
        <p:spPr>
          <a:xfrm>
            <a:off x="178454" y="118380"/>
            <a:ext cx="637966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120">
                <a:solidFill>
                  <a:srgbClr val="111184"/>
                </a:solidFill>
                <a:latin typeface="Book Antiqua" panose="02040602050305030304" pitchFamily="18" charset="0"/>
              </a:rPr>
              <a:t>Fault Analysis</a:t>
            </a:r>
            <a:endParaRPr lang="en-US" sz="3600" b="1">
              <a:solidFill>
                <a:srgbClr val="111184"/>
              </a:solidFill>
              <a:latin typeface="Book Antiqua" panose="020406020503050303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4F70132-BCDD-3D96-28BC-ECB2152BDC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9577054"/>
              </p:ext>
            </p:extLst>
          </p:nvPr>
        </p:nvGraphicFramePr>
        <p:xfrm>
          <a:off x="0" y="572720"/>
          <a:ext cx="7626144" cy="6166900"/>
        </p:xfrm>
        <a:graphic>
          <a:graphicData uri="http://schemas.openxmlformats.org/drawingml/2006/table">
            <a:tbl>
              <a:tblPr/>
              <a:tblGrid>
                <a:gridCol w="511517">
                  <a:extLst>
                    <a:ext uri="{9D8B030D-6E8A-4147-A177-3AD203B41FA5}">
                      <a16:colId xmlns:a16="http://schemas.microsoft.com/office/drawing/2014/main" val="268026504"/>
                    </a:ext>
                  </a:extLst>
                </a:gridCol>
                <a:gridCol w="818426">
                  <a:extLst>
                    <a:ext uri="{9D8B030D-6E8A-4147-A177-3AD203B41FA5}">
                      <a16:colId xmlns:a16="http://schemas.microsoft.com/office/drawing/2014/main" val="4235846404"/>
                    </a:ext>
                  </a:extLst>
                </a:gridCol>
                <a:gridCol w="1709210">
                  <a:extLst>
                    <a:ext uri="{9D8B030D-6E8A-4147-A177-3AD203B41FA5}">
                      <a16:colId xmlns:a16="http://schemas.microsoft.com/office/drawing/2014/main" val="3184765265"/>
                    </a:ext>
                  </a:extLst>
                </a:gridCol>
                <a:gridCol w="3067729">
                  <a:extLst>
                    <a:ext uri="{9D8B030D-6E8A-4147-A177-3AD203B41FA5}">
                      <a16:colId xmlns:a16="http://schemas.microsoft.com/office/drawing/2014/main" val="4173384790"/>
                    </a:ext>
                  </a:extLst>
                </a:gridCol>
                <a:gridCol w="619262">
                  <a:extLst>
                    <a:ext uri="{9D8B030D-6E8A-4147-A177-3AD203B41FA5}">
                      <a16:colId xmlns:a16="http://schemas.microsoft.com/office/drawing/2014/main" val="3780416811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348630057"/>
                    </a:ext>
                  </a:extLst>
                </a:gridCol>
              </a:tblGrid>
              <a:tr h="37231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1" i="0" u="none" strike="noStrike">
                          <a:solidFill>
                            <a:srgbClr val="F3F7FA"/>
                          </a:solidFill>
                          <a:effectLst/>
                          <a:latin typeface="Calibri" panose="020F0502020204030204" pitchFamily="34" charset="0"/>
                        </a:rPr>
                        <a:t>Rank</a:t>
                      </a:r>
                    </a:p>
                  </a:txBody>
                  <a:tcPr marL="4113" marR="4113" marT="4113" marB="0" anchor="ctr">
                    <a:lnL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03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1" i="0" u="none" strike="noStrike">
                          <a:solidFill>
                            <a:srgbClr val="F3F7FA"/>
                          </a:solidFill>
                          <a:effectLst/>
                          <a:latin typeface="Calibri" panose="020F0502020204030204" pitchFamily="34" charset="0"/>
                        </a:rPr>
                        <a:t>Fault Code</a:t>
                      </a:r>
                    </a:p>
                  </a:txBody>
                  <a:tcPr marL="4113" marR="4113" marT="41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03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1" i="0" u="none" strike="noStrike">
                          <a:solidFill>
                            <a:srgbClr val="F3F7FA"/>
                          </a:solidFill>
                          <a:effectLst/>
                          <a:latin typeface="Calibri" panose="020F0502020204030204" pitchFamily="34" charset="0"/>
                        </a:rPr>
                        <a:t>What is the fault</a:t>
                      </a:r>
                    </a:p>
                  </a:txBody>
                  <a:tcPr marL="4113" marR="4113" marT="41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03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1" i="0" u="none" strike="noStrike">
                          <a:solidFill>
                            <a:srgbClr val="F3F7FA"/>
                          </a:solidFill>
                          <a:effectLst/>
                          <a:latin typeface="Calibri" panose="020F0502020204030204" pitchFamily="34" charset="0"/>
                        </a:rPr>
                        <a:t>Importance</a:t>
                      </a:r>
                    </a:p>
                  </a:txBody>
                  <a:tcPr marL="4113" marR="4113" marT="41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03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1" i="0" u="none" strike="noStrike">
                          <a:solidFill>
                            <a:srgbClr val="F3F7FA"/>
                          </a:solidFill>
                          <a:effectLst/>
                          <a:latin typeface="Calibri" panose="020F0502020204030204" pitchFamily="34" charset="0"/>
                        </a:rPr>
                        <a:t>Event Count</a:t>
                      </a:r>
                    </a:p>
                  </a:txBody>
                  <a:tcPr marL="4113" marR="4113" marT="41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03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1" i="0" u="none" strike="noStrike">
                          <a:solidFill>
                            <a:srgbClr val="F3F7FA"/>
                          </a:solidFill>
                          <a:effectLst/>
                          <a:latin typeface="Calibri" panose="020F0502020204030204" pitchFamily="34" charset="0"/>
                        </a:rPr>
                        <a:t>Affected Engines</a:t>
                      </a:r>
                    </a:p>
                  </a:txBody>
                  <a:tcPr marL="4113" marR="4113" marT="4113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0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7960668"/>
                  </a:ext>
                </a:extLst>
              </a:tr>
              <a:tr h="52923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4113" marR="4113" marT="4113" marB="0" anchor="b">
                    <a:lnL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111</a:t>
                      </a:r>
                    </a:p>
                  </a:txBody>
                  <a:tcPr marL="4113" marR="4113" marT="41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Local communication failure</a:t>
                      </a:r>
                    </a:p>
                  </a:txBody>
                  <a:tcPr marL="4113" marR="4113" marT="41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Sequence of powerup can cause this fault, doesn’t mean actually there is a failure</a:t>
                      </a:r>
                    </a:p>
                  </a:txBody>
                  <a:tcPr marL="4113" marR="4113" marT="41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22866</a:t>
                      </a:r>
                    </a:p>
                  </a:txBody>
                  <a:tcPr marL="4113" marR="4113" marT="41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1614</a:t>
                      </a:r>
                    </a:p>
                  </a:txBody>
                  <a:tcPr marL="4113" marR="4113" marT="41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4375210"/>
                  </a:ext>
                </a:extLst>
              </a:tr>
              <a:tr h="52923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4113" marR="4113" marT="4113" marB="0" anchor="b">
                    <a:lnL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105</a:t>
                      </a:r>
                    </a:p>
                  </a:txBody>
                  <a:tcPr marL="4113" marR="4113" marT="41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Comms failure with air data</a:t>
                      </a:r>
                    </a:p>
                  </a:txBody>
                  <a:tcPr marL="4113" marR="4113" marT="41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Sequence of powerup can cause this fault, doesn’t mean actually there is a failure</a:t>
                      </a:r>
                    </a:p>
                  </a:txBody>
                  <a:tcPr marL="4113" marR="4113" marT="41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10547</a:t>
                      </a:r>
                    </a:p>
                  </a:txBody>
                  <a:tcPr marL="4113" marR="4113" marT="41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1167</a:t>
                      </a:r>
                    </a:p>
                  </a:txBody>
                  <a:tcPr marL="4113" marR="4113" marT="41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4122125"/>
                  </a:ext>
                </a:extLst>
              </a:tr>
              <a:tr h="52923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4113" marR="4113" marT="4113" marB="0" anchor="b">
                    <a:lnL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61</a:t>
                      </a:r>
                    </a:p>
                  </a:txBody>
                  <a:tcPr marL="4113" marR="4113" marT="41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Cross Channel comms failure with air data</a:t>
                      </a:r>
                    </a:p>
                  </a:txBody>
                  <a:tcPr marL="4113" marR="4113" marT="41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Sequence of powerup can cause this fault, doesn’t mean actually there is a failure</a:t>
                      </a:r>
                    </a:p>
                  </a:txBody>
                  <a:tcPr marL="4113" marR="4113" marT="41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9722</a:t>
                      </a:r>
                    </a:p>
                  </a:txBody>
                  <a:tcPr marL="4113" marR="4113" marT="41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1136</a:t>
                      </a:r>
                    </a:p>
                  </a:txBody>
                  <a:tcPr marL="4113" marR="4113" marT="41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7481549"/>
                  </a:ext>
                </a:extLst>
              </a:tr>
              <a:tr h="70701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4113" marR="4113" marT="4113" marB="0" anchor="b">
                    <a:lnL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110</a:t>
                      </a:r>
                    </a:p>
                  </a:txBody>
                  <a:tcPr marL="4113" marR="4113" marT="41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Bleed air status unavailable</a:t>
                      </a:r>
                    </a:p>
                  </a:txBody>
                  <a:tcPr marL="4113" marR="4113" marT="41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Engine level power on sequence and shutdowns has an effect also indicates potential issues in bleed air flow, not enough physics based evidence</a:t>
                      </a:r>
                    </a:p>
                  </a:txBody>
                  <a:tcPr marL="4113" marR="4113" marT="41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7797</a:t>
                      </a:r>
                    </a:p>
                  </a:txBody>
                  <a:tcPr marL="4113" marR="4113" marT="41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1021</a:t>
                      </a:r>
                    </a:p>
                  </a:txBody>
                  <a:tcPr marL="4113" marR="4113" marT="41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8408262"/>
                  </a:ext>
                </a:extLst>
              </a:tr>
              <a:tr h="6484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4113" marR="4113" marT="4113" marB="0" anchor="b">
                    <a:lnL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175</a:t>
                      </a:r>
                    </a:p>
                  </a:txBody>
                  <a:tcPr marL="4113" marR="4113" marT="41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Insufficient rotation(point at which wheels leave the runway) data</a:t>
                      </a:r>
                    </a:p>
                  </a:txBody>
                  <a:tcPr marL="4113" marR="4113" marT="41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Insufficient data points to make any judgement/ may not actually be a fault</a:t>
                      </a:r>
                    </a:p>
                  </a:txBody>
                  <a:tcPr marL="4113" marR="4113" marT="41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6899</a:t>
                      </a:r>
                    </a:p>
                  </a:txBody>
                  <a:tcPr marL="4113" marR="4113" marT="41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914</a:t>
                      </a:r>
                    </a:p>
                  </a:txBody>
                  <a:tcPr marL="4113" marR="4113" marT="41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2160817"/>
                  </a:ext>
                </a:extLst>
              </a:tr>
              <a:tr h="52923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4113" marR="4113" marT="4113" marB="0" anchor="b">
                    <a:lnL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176</a:t>
                      </a:r>
                    </a:p>
                  </a:txBody>
                  <a:tcPr marL="4113" marR="4113" marT="41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Cross side Insufficient rotation data</a:t>
                      </a:r>
                    </a:p>
                  </a:txBody>
                  <a:tcPr marL="4113" marR="4113" marT="41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Insufficient data points to make any judgement/may not actually be a fault</a:t>
                      </a:r>
                    </a:p>
                  </a:txBody>
                  <a:tcPr marL="4113" marR="4113" marT="41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6779</a:t>
                      </a:r>
                    </a:p>
                  </a:txBody>
                  <a:tcPr marL="4113" marR="4113" marT="41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886</a:t>
                      </a:r>
                    </a:p>
                  </a:txBody>
                  <a:tcPr marL="4113" marR="4113" marT="41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1374434"/>
                  </a:ext>
                </a:extLst>
              </a:tr>
              <a:tr h="43367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4113" marR="4113" marT="4113" marB="0" anchor="b">
                    <a:lnL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206</a:t>
                      </a:r>
                    </a:p>
                  </a:txBody>
                  <a:tcPr marL="4113" marR="4113" marT="41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Failure of Thrust reversal system</a:t>
                      </a:r>
                    </a:p>
                  </a:txBody>
                  <a:tcPr marL="4113" marR="4113" marT="41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The problem is genuine and worth solving, makes economic sense</a:t>
                      </a:r>
                    </a:p>
                  </a:txBody>
                  <a:tcPr marL="4113" marR="4113" marT="41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4490</a:t>
                      </a:r>
                    </a:p>
                  </a:txBody>
                  <a:tcPr marL="4113" marR="4113" marT="41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918</a:t>
                      </a:r>
                    </a:p>
                  </a:txBody>
                  <a:tcPr marL="4113" marR="4113" marT="41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848593"/>
                  </a:ext>
                </a:extLst>
              </a:tr>
              <a:tr h="43367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4113" marR="4113" marT="4113" marB="0" anchor="b">
                    <a:lnL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108</a:t>
                      </a:r>
                    </a:p>
                  </a:txBody>
                  <a:tcPr marL="4113" marR="4113" marT="41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Loss of HP Bleed-Left</a:t>
                      </a:r>
                    </a:p>
                  </a:txBody>
                  <a:tcPr marL="4113" marR="4113" marT="41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Not a standalone fault; this is only a early warning indicator</a:t>
                      </a:r>
                    </a:p>
                  </a:txBody>
                  <a:tcPr marL="4113" marR="4113" marT="41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3794</a:t>
                      </a:r>
                    </a:p>
                  </a:txBody>
                  <a:tcPr marL="4113" marR="4113" marT="41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255</a:t>
                      </a:r>
                    </a:p>
                  </a:txBody>
                  <a:tcPr marL="4113" marR="4113" marT="41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4498754"/>
                  </a:ext>
                </a:extLst>
              </a:tr>
              <a:tr h="43367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4113" marR="4113" marT="4113" marB="0" anchor="b">
                    <a:lnL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109</a:t>
                      </a:r>
                    </a:p>
                  </a:txBody>
                  <a:tcPr marL="4113" marR="4113" marT="41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Loss of HP Bleed-right</a:t>
                      </a:r>
                    </a:p>
                  </a:txBody>
                  <a:tcPr marL="4113" marR="4113" marT="41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Not a standalone fault; this is only a early warning indicator</a:t>
                      </a:r>
                    </a:p>
                  </a:txBody>
                  <a:tcPr marL="4113" marR="4113" marT="41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3793</a:t>
                      </a:r>
                    </a:p>
                  </a:txBody>
                  <a:tcPr marL="4113" marR="4113" marT="41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254</a:t>
                      </a:r>
                    </a:p>
                  </a:txBody>
                  <a:tcPr marL="4113" marR="4113" marT="41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9841702"/>
                  </a:ext>
                </a:extLst>
              </a:tr>
              <a:tr h="6615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4113" marR="4113" marT="4113" marB="0" anchor="b">
                    <a:lnL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156</a:t>
                      </a:r>
                    </a:p>
                  </a:txBody>
                  <a:tcPr marL="4113" marR="4113" marT="41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ICU solenoid open when TR is not disabled</a:t>
                      </a:r>
                    </a:p>
                  </a:txBody>
                  <a:tcPr marL="4113" marR="4113" marT="41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indicates solenoid fault/ power system failure; could be leading indicator of a TR system failure</a:t>
                      </a:r>
                    </a:p>
                  </a:txBody>
                  <a:tcPr marL="4113" marR="4113" marT="41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1999</a:t>
                      </a:r>
                    </a:p>
                  </a:txBody>
                  <a:tcPr marL="4113" marR="4113" marT="41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514</a:t>
                      </a:r>
                    </a:p>
                  </a:txBody>
                  <a:tcPr marL="4113" marR="4113" marT="4113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B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800062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46C0FC7-6BE6-901B-7993-B91CC9EBEC4A}"/>
              </a:ext>
            </a:extLst>
          </p:cNvPr>
          <p:cNvSpPr txBox="1"/>
          <p:nvPr/>
        </p:nvSpPr>
        <p:spPr>
          <a:xfrm>
            <a:off x="7780388" y="978311"/>
            <a:ext cx="4178709" cy="33855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IN" sz="1600">
                <a:solidFill>
                  <a:srgbClr val="111184"/>
                </a:solidFill>
              </a:rPr>
              <a:t>Most of the top faults are noise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B719C4-B9AD-A112-56F1-8CD143838AF7}"/>
              </a:ext>
            </a:extLst>
          </p:cNvPr>
          <p:cNvSpPr txBox="1"/>
          <p:nvPr/>
        </p:nvSpPr>
        <p:spPr>
          <a:xfrm>
            <a:off x="7626144" y="1722455"/>
            <a:ext cx="4487198" cy="507831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IN" i="1">
                <a:solidFill>
                  <a:srgbClr val="111184"/>
                </a:solidFill>
              </a:rPr>
              <a:t>Fault 206 as the only fault flagged as "genuine and worth solving.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>
                <a:solidFill>
                  <a:srgbClr val="111184"/>
                </a:solidFill>
              </a:rPr>
              <a:t>Genuine, physical failure mode.</a:t>
            </a:r>
            <a:r>
              <a:rPr lang="en-IN"/>
              <a:t> A thrust reverser fault is a real mechanical or hydraulic/electrical issue, so there is a true underlying signal to detect and predict.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>
                <a:solidFill>
                  <a:srgbClr val="111184"/>
                </a:solidFill>
              </a:rPr>
              <a:t>Operational impact</a:t>
            </a:r>
            <a:r>
              <a:rPr lang="en-IN" b="1"/>
              <a:t>.</a:t>
            </a:r>
            <a:r>
              <a:rPr lang="en-IN"/>
              <a:t> The thrust reverser helps decelerate the aircraft on landing. A failure typically leads to maintenance action and hence costs involved.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>
                <a:solidFill>
                  <a:srgbClr val="111184"/>
                </a:solidFill>
              </a:rPr>
              <a:t>Broad fleet spread.</a:t>
            </a:r>
            <a:r>
              <a:rPr lang="en-IN">
                <a:solidFill>
                  <a:srgbClr val="111184"/>
                </a:solidFill>
              </a:rPr>
              <a:t> </a:t>
            </a:r>
            <a:r>
              <a:rPr lang="en-IN"/>
              <a:t>918 engines are affected</a:t>
            </a:r>
          </a:p>
          <a:p>
            <a:endParaRPr lang="en-IN"/>
          </a:p>
          <a:p>
            <a:r>
              <a:rPr lang="en-IN"/>
              <a:t>Fault 156 (ICU solenoid open when TR is not disabled) is a leading indicator of TR failure. Its 1,999 events across 514 engines can serve as a </a:t>
            </a:r>
            <a:r>
              <a:rPr lang="en-IN" b="1"/>
              <a:t>precursor feature</a:t>
            </a:r>
            <a:r>
              <a:rPr lang="en-IN"/>
              <a:t>, giving the model something to predict from.</a:t>
            </a:r>
          </a:p>
        </p:txBody>
      </p:sp>
    </p:spTree>
    <p:extLst>
      <p:ext uri="{BB962C8B-B14F-4D97-AF65-F5344CB8AC3E}">
        <p14:creationId xmlns:p14="http://schemas.microsoft.com/office/powerpoint/2010/main" val="1170875267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3" name="Text 1"/>
          <p:cNvSpPr/>
          <p:nvPr/>
        </p:nvSpPr>
        <p:spPr>
          <a:xfrm>
            <a:off x="502918" y="256032"/>
            <a:ext cx="7187185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120">
                <a:solidFill>
                  <a:srgbClr val="111184"/>
                </a:solidFill>
                <a:latin typeface="Book Antiqua" panose="02040602050305030304" pitchFamily="18" charset="0"/>
              </a:rPr>
              <a:t>PHYSICS OF THE PROBLEM</a:t>
            </a:r>
            <a:endParaRPr lang="en-US" sz="3600" b="1">
              <a:solidFill>
                <a:srgbClr val="111184"/>
              </a:solidFill>
              <a:latin typeface="Book Antiqua" panose="0204060205030503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18" y="736791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>
                <a:solidFill>
                  <a:srgbClr val="4E95D9"/>
                </a:solidFill>
              </a:rPr>
              <a:t>TR functional chain: command to confirmed mechanical state</a:t>
            </a:r>
            <a:endParaRPr lang="en-US" sz="1600" i="1">
              <a:solidFill>
                <a:srgbClr val="4E95D9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411480" y="1828800"/>
            <a:ext cx="1572768" cy="146304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1769A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70672" y="1975104"/>
            <a:ext cx="384048" cy="384048"/>
          </a:xfrm>
          <a:prstGeom prst="ellipse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39496" y="2002536"/>
            <a:ext cx="384048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531368" y="2372360"/>
            <a:ext cx="1343152" cy="396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200" b="1">
                <a:solidFill>
                  <a:srgbClr val="17324D"/>
                </a:solidFill>
                <a:latin typeface="Aptos"/>
              </a:rPr>
              <a:t>Electrical </a:t>
            </a:r>
            <a:endParaRPr lang="en-US" sz="1200">
              <a:latin typeface="Aptos Display"/>
            </a:endParaRPr>
          </a:p>
          <a:p>
            <a:r>
              <a:rPr lang="en-US" sz="1200" b="1">
                <a:solidFill>
                  <a:srgbClr val="17324D"/>
                </a:solidFill>
                <a:latin typeface="Aptos"/>
              </a:rPr>
              <a:t>Command</a:t>
            </a:r>
            <a:endParaRPr lang="en-US" sz="1200"/>
          </a:p>
        </p:txBody>
      </p:sp>
      <p:sp>
        <p:nvSpPr>
          <p:cNvPr id="10" name="Text 8"/>
          <p:cNvSpPr/>
          <p:nvPr/>
        </p:nvSpPr>
        <p:spPr>
          <a:xfrm>
            <a:off x="521208" y="2852928"/>
            <a:ext cx="1353312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50">
                <a:solidFill>
                  <a:schemeClr val="tx1">
                    <a:lumMod val="95000"/>
                    <a:lumOff val="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 Deploy request issued by crew</a:t>
            </a:r>
            <a:endParaRPr lang="en-US" sz="105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2029968" y="2350008"/>
            <a:ext cx="256032" cy="411480"/>
          </a:xfrm>
          <a:prstGeom prst="chevron">
            <a:avLst/>
          </a:prstGeom>
          <a:solidFill>
            <a:srgbClr val="CBD6E2"/>
          </a:solidFill>
          <a:ln w="12700">
            <a:solidFill>
              <a:srgbClr val="CBD6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350008" y="1828800"/>
            <a:ext cx="1572768" cy="146304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1769A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2419032" y="1975104"/>
            <a:ext cx="384048" cy="384048"/>
          </a:xfrm>
          <a:prstGeom prst="ellipse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2478024" y="2002536"/>
            <a:ext cx="384048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/>
          </a:p>
        </p:txBody>
      </p:sp>
      <p:sp>
        <p:nvSpPr>
          <p:cNvPr id="15" name="Text 13"/>
          <p:cNvSpPr/>
          <p:nvPr/>
        </p:nvSpPr>
        <p:spPr>
          <a:xfrm>
            <a:off x="2459736" y="2514600"/>
            <a:ext cx="1353312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00" b="1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Hydraulic energy</a:t>
            </a:r>
            <a:endParaRPr lang="en-US" sz="1300"/>
          </a:p>
        </p:txBody>
      </p:sp>
      <p:sp>
        <p:nvSpPr>
          <p:cNvPr id="16" name="Text 14"/>
          <p:cNvSpPr/>
          <p:nvPr/>
        </p:nvSpPr>
        <p:spPr>
          <a:xfrm>
            <a:off x="2459736" y="2852928"/>
            <a:ext cx="1353312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50">
                <a:solidFill>
                  <a:schemeClr val="tx1">
                    <a:lumMod val="95000"/>
                    <a:lumOff val="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Pressure enables motion</a:t>
            </a:r>
            <a:endParaRPr lang="en-US" sz="105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968496" y="2350008"/>
            <a:ext cx="256032" cy="411480"/>
          </a:xfrm>
          <a:prstGeom prst="chevron">
            <a:avLst/>
          </a:prstGeom>
          <a:solidFill>
            <a:srgbClr val="CBD6E2"/>
          </a:solidFill>
          <a:ln w="12700">
            <a:solidFill>
              <a:srgbClr val="CBD6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288536" y="1828800"/>
            <a:ext cx="1572768" cy="146304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1769A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318232" y="1955440"/>
            <a:ext cx="384048" cy="384048"/>
          </a:xfrm>
          <a:prstGeom prst="ellipse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416552" y="2002536"/>
            <a:ext cx="384048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/>
          </a:p>
        </p:txBody>
      </p:sp>
      <p:sp>
        <p:nvSpPr>
          <p:cNvPr id="21" name="Text 19"/>
          <p:cNvSpPr/>
          <p:nvPr/>
        </p:nvSpPr>
        <p:spPr>
          <a:xfrm>
            <a:off x="4398264" y="2514600"/>
            <a:ext cx="1353312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00" b="1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Mechanism</a:t>
            </a:r>
            <a:endParaRPr lang="en-US" sz="1300"/>
          </a:p>
        </p:txBody>
      </p:sp>
      <p:sp>
        <p:nvSpPr>
          <p:cNvPr id="22" name="Text 20"/>
          <p:cNvSpPr/>
          <p:nvPr/>
        </p:nvSpPr>
        <p:spPr>
          <a:xfrm>
            <a:off x="4398264" y="2852928"/>
            <a:ext cx="1353312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050">
                <a:solidFill>
                  <a:schemeClr val="tx1">
                    <a:lumMod val="95000"/>
                    <a:lumOff val="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Mechanical motion</a:t>
            </a:r>
            <a:endParaRPr lang="en-US" sz="105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907024" y="2350008"/>
            <a:ext cx="256032" cy="411480"/>
          </a:xfrm>
          <a:prstGeom prst="chevron">
            <a:avLst/>
          </a:prstGeom>
          <a:solidFill>
            <a:srgbClr val="CBD6E2"/>
          </a:solidFill>
          <a:ln w="12700">
            <a:solidFill>
              <a:srgbClr val="CBD6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6227064" y="1828800"/>
            <a:ext cx="1572768" cy="146304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1769A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256760" y="1955440"/>
            <a:ext cx="384048" cy="384048"/>
          </a:xfrm>
          <a:prstGeom prst="ellipse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355080" y="2002536"/>
            <a:ext cx="384048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/>
          </a:p>
        </p:txBody>
      </p:sp>
      <p:sp>
        <p:nvSpPr>
          <p:cNvPr id="27" name="Text 25"/>
          <p:cNvSpPr/>
          <p:nvPr/>
        </p:nvSpPr>
        <p:spPr>
          <a:xfrm>
            <a:off x="6336792" y="2514600"/>
            <a:ext cx="1353312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300" b="1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Aerodynamic effect</a:t>
            </a:r>
            <a:endParaRPr lang="en-US" sz="1300"/>
          </a:p>
        </p:txBody>
      </p:sp>
      <p:sp>
        <p:nvSpPr>
          <p:cNvPr id="28" name="Text 26"/>
          <p:cNvSpPr/>
          <p:nvPr/>
        </p:nvSpPr>
        <p:spPr>
          <a:xfrm>
            <a:off x="6336792" y="2852928"/>
            <a:ext cx="1353312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050">
                <a:solidFill>
                  <a:schemeClr val="tx1">
                    <a:lumMod val="95000"/>
                    <a:lumOff val="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Flow is redirected</a:t>
            </a:r>
            <a:endParaRPr lang="en-US" sz="105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9" name="Shape 27"/>
          <p:cNvSpPr/>
          <p:nvPr/>
        </p:nvSpPr>
        <p:spPr>
          <a:xfrm>
            <a:off x="7845552" y="2350008"/>
            <a:ext cx="256032" cy="411480"/>
          </a:xfrm>
          <a:prstGeom prst="chevron">
            <a:avLst/>
          </a:prstGeom>
          <a:solidFill>
            <a:srgbClr val="CBD6E2"/>
          </a:solidFill>
          <a:ln w="12700">
            <a:solidFill>
              <a:srgbClr val="CBD6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8165592" y="1828800"/>
            <a:ext cx="1572768" cy="146304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1769A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8195288" y="1955440"/>
            <a:ext cx="384048" cy="384048"/>
          </a:xfrm>
          <a:prstGeom prst="ellipse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8293608" y="2002536"/>
            <a:ext cx="384048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200"/>
          </a:p>
        </p:txBody>
      </p:sp>
      <p:sp>
        <p:nvSpPr>
          <p:cNvPr id="33" name="Text 31"/>
          <p:cNvSpPr/>
          <p:nvPr/>
        </p:nvSpPr>
        <p:spPr>
          <a:xfrm>
            <a:off x="8275320" y="2514600"/>
            <a:ext cx="1353312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00" b="1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Feedback</a:t>
            </a:r>
            <a:endParaRPr lang="en-US" sz="1300"/>
          </a:p>
        </p:txBody>
      </p:sp>
      <p:sp>
        <p:nvSpPr>
          <p:cNvPr id="34" name="Text 32"/>
          <p:cNvSpPr/>
          <p:nvPr/>
        </p:nvSpPr>
        <p:spPr>
          <a:xfrm>
            <a:off x="8194297" y="2754775"/>
            <a:ext cx="1528437" cy="43983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05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  <a:ea typeface="Aptos"/>
                <a:cs typeface="Aptos" pitchFamily="34" charset="-120"/>
              </a:rPr>
              <a:t>Deploy switches, </a:t>
            </a:r>
            <a:r>
              <a:rPr lang="en-US" sz="105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  <a:ea typeface="Aptos"/>
                <a:cs typeface="Calibri" pitchFamily="34" charset="-120"/>
              </a:rPr>
              <a:t>Position confirmed;</a:t>
            </a:r>
            <a:endParaRPr lang="en-US" sz="1050">
              <a:solidFill>
                <a:schemeClr val="tx1">
                  <a:lumMod val="95000"/>
                  <a:lumOff val="5000"/>
                </a:schemeClr>
              </a:solidFill>
              <a:latin typeface="Aptos"/>
              <a:ea typeface="Apto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9784080" y="2350008"/>
            <a:ext cx="256032" cy="411480"/>
          </a:xfrm>
          <a:prstGeom prst="chevron">
            <a:avLst/>
          </a:prstGeom>
          <a:solidFill>
            <a:srgbClr val="CBD6E2"/>
          </a:solidFill>
          <a:ln w="12700">
            <a:solidFill>
              <a:srgbClr val="CBD6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10104120" y="1828800"/>
            <a:ext cx="1572768" cy="146304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10133816" y="1955440"/>
            <a:ext cx="384048" cy="384048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10232136" y="2002536"/>
            <a:ext cx="384048" cy="2926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200"/>
          </a:p>
        </p:txBody>
      </p:sp>
      <p:sp>
        <p:nvSpPr>
          <p:cNvPr id="39" name="Text 37"/>
          <p:cNvSpPr/>
          <p:nvPr/>
        </p:nvSpPr>
        <p:spPr>
          <a:xfrm>
            <a:off x="10213848" y="2514600"/>
            <a:ext cx="1353312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300" b="1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Monitoring</a:t>
            </a:r>
            <a:endParaRPr lang="en-US" sz="1300"/>
          </a:p>
        </p:txBody>
      </p:sp>
      <p:sp>
        <p:nvSpPr>
          <p:cNvPr id="40" name="Text 38"/>
          <p:cNvSpPr/>
          <p:nvPr/>
        </p:nvSpPr>
        <p:spPr>
          <a:xfrm>
            <a:off x="10213848" y="2852928"/>
            <a:ext cx="1353312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050">
                <a:solidFill>
                  <a:schemeClr val="tx1">
                    <a:lumMod val="95000"/>
                    <a:lumOff val="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ECU compares state</a:t>
            </a:r>
            <a:endParaRPr lang="en-US" sz="105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1" name="Shape 39"/>
          <p:cNvSpPr/>
          <p:nvPr/>
        </p:nvSpPr>
        <p:spPr>
          <a:xfrm>
            <a:off x="731520" y="5308765"/>
            <a:ext cx="521208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CBD6E2"/>
            </a:solidFill>
            <a:prstDash val="solid"/>
          </a:ln>
          <a:effectLst>
            <a:outerShdw blurRad="6350" dist="6350" dir="2700000" algn="bl" rotWithShape="0">
              <a:srgbClr val="7890A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731520" y="5297190"/>
            <a:ext cx="54864" cy="141732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914400" y="5425206"/>
            <a:ext cx="489204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500" b="1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 behavior</a:t>
            </a:r>
            <a:endParaRPr lang="en-US" sz="1500"/>
          </a:p>
        </p:txBody>
      </p:sp>
      <p:sp>
        <p:nvSpPr>
          <p:cNvPr id="44" name="Text 42"/>
          <p:cNvSpPr/>
          <p:nvPr/>
        </p:nvSpPr>
        <p:spPr>
          <a:xfrm>
            <a:off x="914400" y="5772678"/>
            <a:ext cx="4892040" cy="81381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600">
                <a:solidFill>
                  <a:schemeClr val="tx1">
                    <a:lumMod val="95000"/>
                    <a:lumOff val="5000"/>
                  </a:scheme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commanded state, physical position and feedback indication remain consistent.</a:t>
            </a:r>
            <a:endParaRPr lang="en-US" sz="160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5" name="Shape 43"/>
          <p:cNvSpPr/>
          <p:nvPr/>
        </p:nvSpPr>
        <p:spPr>
          <a:xfrm>
            <a:off x="6263640" y="5308765"/>
            <a:ext cx="521208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CBD6E2"/>
            </a:solidFill>
            <a:prstDash val="solid"/>
          </a:ln>
          <a:effectLst>
            <a:outerShdw blurRad="6350" dist="6350" dir="2700000" algn="bl" rotWithShape="0">
              <a:srgbClr val="7890A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6263640" y="5297190"/>
            <a:ext cx="54864" cy="1417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6446520" y="5425206"/>
            <a:ext cx="489204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1500" b="1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Fault-observable behavior</a:t>
            </a:r>
            <a:endParaRPr lang="en-US" sz="1500"/>
          </a:p>
        </p:txBody>
      </p:sp>
      <p:sp>
        <p:nvSpPr>
          <p:cNvPr id="48" name="Text 46"/>
          <p:cNvSpPr/>
          <p:nvPr/>
        </p:nvSpPr>
        <p:spPr>
          <a:xfrm>
            <a:off x="6446520" y="5772678"/>
            <a:ext cx="4892040" cy="81381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  <a:latin typeface="Aptos"/>
                <a:ea typeface="Aptos" pitchFamily="34" charset="-122"/>
                <a:cs typeface="Aptos" pitchFamily="34" charset="-120"/>
              </a:rPr>
              <a:t>Command/state disagreement can produce an ENGINE FAULT indication and maintenance conditions in the Engine controller download.</a:t>
            </a:r>
            <a:endParaRPr lang="en-US" sz="1400">
              <a:solidFill>
                <a:schemeClr val="tx1">
                  <a:lumMod val="95000"/>
                  <a:lumOff val="5000"/>
                </a:schemeClr>
              </a:solidFill>
              <a:latin typeface="Aptos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11247120" y="6851065"/>
            <a:ext cx="365760" cy="182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>
              <a:buNone/>
            </a:pPr>
            <a:r>
              <a:rPr lang="en-US" sz="800">
                <a:solidFill>
                  <a:srgbClr val="5C6F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00"/>
          </a:p>
        </p:txBody>
      </p:sp>
      <p:sp>
        <p:nvSpPr>
          <p:cNvPr id="49" name="Rectangle 48"/>
          <p:cNvSpPr/>
          <p:nvPr/>
        </p:nvSpPr>
        <p:spPr>
          <a:xfrm>
            <a:off x="405115" y="1346483"/>
            <a:ext cx="1178688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>
                <a:solidFill>
                  <a:srgbClr val="5B6B7C"/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Deployment is a chain of hydraulic and electrical stages, each with its own status signal and its own timing.</a:t>
            </a:r>
            <a:endParaRPr lang="en-US" sz="1600">
              <a:latin typeface="Aptos Display" panose="020B0004020202020204" pitchFamily="34" charset="0"/>
            </a:endParaRPr>
          </a:p>
        </p:txBody>
      </p:sp>
      <p:sp>
        <p:nvSpPr>
          <p:cNvPr id="51" name="Shape 23"/>
          <p:cNvSpPr/>
          <p:nvPr/>
        </p:nvSpPr>
        <p:spPr>
          <a:xfrm>
            <a:off x="652235" y="3596825"/>
            <a:ext cx="10927080" cy="1417320"/>
          </a:xfrm>
          <a:prstGeom prst="roundRect">
            <a:avLst>
              <a:gd name="adj" fmla="val 5161"/>
            </a:avLst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en-IN"/>
          </a:p>
        </p:txBody>
      </p:sp>
      <p:sp>
        <p:nvSpPr>
          <p:cNvPr id="52" name="Text 24"/>
          <p:cNvSpPr txBox="1"/>
          <p:nvPr/>
        </p:nvSpPr>
        <p:spPr>
          <a:xfrm>
            <a:off x="972275" y="3752273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11184"/>
                </a:solidFill>
                <a:latin typeface="Aptos Display" panose="020B0004020202020204" pitchFamily="34" charset="0"/>
                <a:ea typeface="Cambria" pitchFamily="34" charset="-122"/>
                <a:cs typeface="Cambria" pitchFamily="34" charset="-120"/>
              </a:rPr>
              <a:t>Every stage of this sequence is a measurable timing event.</a:t>
            </a:r>
            <a:endParaRPr lang="en-US" sz="1500">
              <a:solidFill>
                <a:srgbClr val="111184"/>
              </a:solidFill>
              <a:latin typeface="Aptos Display" panose="020B0004020202020204" pitchFamily="34" charset="0"/>
            </a:endParaRPr>
          </a:p>
        </p:txBody>
      </p:sp>
      <p:sp>
        <p:nvSpPr>
          <p:cNvPr id="53" name="Text 25"/>
          <p:cNvSpPr txBox="1"/>
          <p:nvPr/>
        </p:nvSpPr>
        <p:spPr>
          <a:xfrm>
            <a:off x="972275" y="4118033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>
                <a:solidFill>
                  <a:schemeClr val="tx1">
                    <a:lumMod val="95000"/>
                    <a:lumOff val="5000"/>
                  </a:schemeClr>
                </a:solidFill>
                <a:latin typeface="Aptos Display" panose="020B0004020202020204" pitchFamily="34" charset="0"/>
                <a:ea typeface="Calibri" pitchFamily="34" charset="-122"/>
                <a:cs typeface="Calibri" pitchFamily="34" charset="-120"/>
              </a:rPr>
              <a:t>How long the reverser takes to move from command to locked-and-deployed is, in principle, a direct read on the mechanism’s health , the same way a slowing reflex is a symptom before it becomes a failure.</a:t>
            </a:r>
            <a:endParaRPr lang="en-US" sz="1600">
              <a:solidFill>
                <a:schemeClr val="tx1">
                  <a:lumMod val="95000"/>
                  <a:lumOff val="5000"/>
                </a:schemeClr>
              </a:solidFill>
              <a:latin typeface="Aptos Display" panose="020B00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1">
            <a:extLst>
              <a:ext uri="{FF2B5EF4-FFF2-40B4-BE49-F238E27FC236}">
                <a16:creationId xmlns:a16="http://schemas.microsoft.com/office/drawing/2014/main" id="{BF3332D7-9E3A-1B53-5F9D-B2D9291BE3B8}"/>
              </a:ext>
            </a:extLst>
          </p:cNvPr>
          <p:cNvSpPr/>
          <p:nvPr/>
        </p:nvSpPr>
        <p:spPr>
          <a:xfrm>
            <a:off x="502920" y="603504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1"/>
            <a:r>
              <a:rPr lang="en-US" sz="2400" b="1" i="1" kern="1200">
                <a:solidFill>
                  <a:srgbClr val="111184"/>
                </a:solidFill>
                <a:latin typeface="Calibri" panose="020F0502020204030204"/>
              </a:rPr>
              <a:t>Reverse thrust is momentum redirection, not “negative engine thrust”.</a:t>
            </a:r>
            <a:endParaRPr lang="en-US" sz="2400" i="1" kern="1200">
              <a:solidFill>
                <a:srgbClr val="111184"/>
              </a:solidFill>
              <a:latin typeface="Calibri" panose="020F0502020204030204"/>
            </a:endParaRPr>
          </a:p>
        </p:txBody>
      </p:sp>
      <p:sp>
        <p:nvSpPr>
          <p:cNvPr id="15" name="Text 2">
            <a:extLst>
              <a:ext uri="{FF2B5EF4-FFF2-40B4-BE49-F238E27FC236}">
                <a16:creationId xmlns:a16="http://schemas.microsoft.com/office/drawing/2014/main" id="{6A470558-60A4-EB28-D483-199C48D696EB}"/>
              </a:ext>
            </a:extLst>
          </p:cNvPr>
          <p:cNvSpPr/>
          <p:nvPr/>
        </p:nvSpPr>
        <p:spPr>
          <a:xfrm>
            <a:off x="530352" y="1143000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1"/>
            <a:r>
              <a:rPr lang="en-US" sz="1300" kern="1200">
                <a:solidFill>
                  <a:schemeClr val="tx1"/>
                </a:solidFill>
                <a:latin typeface="Calibri" panose="020F0502020204030204"/>
              </a:rPr>
              <a:t>The nacelle converts bypass-flow momentum into a decelerating force after touchdown.</a:t>
            </a:r>
          </a:p>
        </p:txBody>
      </p:sp>
      <p:pic>
        <p:nvPicPr>
          <p:cNvPr id="16" name="Image 0" descr="/mnt/data/e9e16aba38.jpeg">
            <a:extLst>
              <a:ext uri="{FF2B5EF4-FFF2-40B4-BE49-F238E27FC236}">
                <a16:creationId xmlns:a16="http://schemas.microsoft.com/office/drawing/2014/main" id="{510C2AAE-18CD-E9FA-BF1A-5C07AFBDB4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133" r="7133"/>
          <a:stretch/>
        </p:blipFill>
        <p:spPr>
          <a:xfrm>
            <a:off x="530352" y="1572768"/>
            <a:ext cx="5715000" cy="4443984"/>
          </a:xfrm>
          <a:prstGeom prst="rect">
            <a:avLst/>
          </a:prstGeom>
        </p:spPr>
      </p:pic>
      <p:sp>
        <p:nvSpPr>
          <p:cNvPr id="17" name="Shape 3">
            <a:extLst>
              <a:ext uri="{FF2B5EF4-FFF2-40B4-BE49-F238E27FC236}">
                <a16:creationId xmlns:a16="http://schemas.microsoft.com/office/drawing/2014/main" id="{1BB6448F-3B0A-0B82-F257-52E96AEA8F24}"/>
              </a:ext>
            </a:extLst>
          </p:cNvPr>
          <p:cNvSpPr/>
          <p:nvPr/>
        </p:nvSpPr>
        <p:spPr>
          <a:xfrm>
            <a:off x="6537960" y="1572768"/>
            <a:ext cx="5102352" cy="1143000"/>
          </a:xfrm>
          <a:prstGeom prst="roundRect">
            <a:avLst>
              <a:gd name="adj" fmla="val 4800"/>
            </a:avLst>
          </a:prstGeom>
          <a:solidFill>
            <a:schemeClr val="accent6">
              <a:lumMod val="75000"/>
            </a:schemeClr>
          </a:solidFill>
          <a:ln w="12700">
            <a:solidFill>
              <a:schemeClr val="accent6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6FEF2F40-B63B-5DBA-3753-0DC7AC287619}"/>
              </a:ext>
            </a:extLst>
          </p:cNvPr>
          <p:cNvSpPr/>
          <p:nvPr/>
        </p:nvSpPr>
        <p:spPr>
          <a:xfrm>
            <a:off x="6812280" y="17830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1"/>
            <a:r>
              <a:rPr lang="en-US" sz="1500" b="1" kern="1200">
                <a:solidFill>
                  <a:srgbClr val="31C8E5"/>
                </a:solidFill>
                <a:latin typeface="Calibri" panose="020F0502020204030204"/>
              </a:rPr>
              <a:t>Momentum balance</a:t>
            </a:r>
            <a:endParaRPr lang="en-US" sz="1500" kern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988F10DB-3C90-43A1-AEED-3A54146C72D8}"/>
              </a:ext>
            </a:extLst>
          </p:cNvPr>
          <p:cNvSpPr/>
          <p:nvPr/>
        </p:nvSpPr>
        <p:spPr>
          <a:xfrm>
            <a:off x="6812280" y="213055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hangingPunct="1"/>
            <a:r>
              <a:rPr lang="en-US" sz="2500" b="1" kern="1200">
                <a:solidFill>
                  <a:srgbClr val="F3F7FA"/>
                </a:solidFill>
                <a:latin typeface="Calibri" panose="020F0502020204030204"/>
              </a:rPr>
              <a:t>F ≈ ṁ (Vout − Vin)</a:t>
            </a:r>
            <a:endParaRPr lang="en-US" sz="2500" kern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AE0D3D3-8607-84C3-6F7A-39C70A5F0E46}"/>
              </a:ext>
            </a:extLst>
          </p:cNvPr>
          <p:cNvSpPr txBox="1"/>
          <p:nvPr/>
        </p:nvSpPr>
        <p:spPr>
          <a:xfrm>
            <a:off x="904568" y="77945"/>
            <a:ext cx="6096000" cy="58477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3200" b="1" kern="0" spc="120">
                <a:solidFill>
                  <a:srgbClr val="111184"/>
                </a:solidFill>
              </a:rPr>
              <a:t>PHYSICS OF THE PROBLEM</a:t>
            </a:r>
            <a:endParaRPr lang="en-US" sz="3200" b="1">
              <a:solidFill>
                <a:srgbClr val="111184"/>
              </a:solidFill>
            </a:endParaRPr>
          </a:p>
        </p:txBody>
      </p:sp>
      <p:sp>
        <p:nvSpPr>
          <p:cNvPr id="9" name="Text 3"/>
          <p:cNvSpPr txBox="1"/>
          <p:nvPr/>
        </p:nvSpPr>
        <p:spPr>
          <a:xfrm>
            <a:off x="6560967" y="3035808"/>
            <a:ext cx="52578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b="1">
                <a:solidFill>
                  <a:srgbClr val="0B1F3A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Mechanical wear doesn’t appear overnight.</a:t>
            </a:r>
            <a:endParaRPr lang="en-US" sz="1600">
              <a:latin typeface="Aptos" panose="020B0004020202020204" pitchFamily="34" charset="0"/>
            </a:endParaRPr>
          </a:p>
          <a:p>
            <a:pPr marL="0" indent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600">
                <a:solidFill>
                  <a:srgbClr val="1C28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Hydraulic pressure loss, actuator wear, and increased friction accumulate gradually (actuation sequence), these should be measured across a series of landings. It doesn’t fail outright or from a clean baseline with no warning.</a:t>
            </a:r>
            <a:endParaRPr lang="en-US" sz="1600">
              <a:latin typeface="Aptos" panose="020B0004020202020204" pitchFamily="34" charset="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600" b="1">
                <a:solidFill>
                  <a:srgbClr val="0B1F3A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This is the hypothesis the whole modeling program is built around:</a:t>
            </a:r>
            <a:endParaRPr lang="en-US" sz="1600">
              <a:latin typeface="Aptos" panose="020B0004020202020204" pitchFamily="34" charset="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600">
                <a:solidFill>
                  <a:srgbClr val="1C28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 fault-in-progress should leave a signature in the trend of engine behavior across recent landings, not just in the reading at any single moment.</a:t>
            </a:r>
            <a:endParaRPr lang="en-US" sz="160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0356573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 txBox="1"/>
          <p:nvPr/>
        </p:nvSpPr>
        <p:spPr>
          <a:xfrm>
            <a:off x="777240" y="12182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111184"/>
                </a:solidFill>
                <a:latin typeface="Book Antiqua" panose="02040602050305030304" pitchFamily="18" charset="0"/>
                <a:ea typeface="Cambria" pitchFamily="34" charset="-122"/>
                <a:cs typeface="Cambria" pitchFamily="34" charset="-120"/>
              </a:rPr>
              <a:t>Data at a glance</a:t>
            </a:r>
            <a:endParaRPr lang="en-US" sz="3600">
              <a:solidFill>
                <a:srgbClr val="111184"/>
              </a:solidFill>
              <a:latin typeface="Book Antiqua" panose="02040602050305030304" pitchFamily="18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594360" y="1511708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blurRad="76200" dist="25400" dir="5400000" algn="bl" rotWithShape="0">
              <a:srgbClr val="1C2833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 txBox="1"/>
          <p:nvPr/>
        </p:nvSpPr>
        <p:spPr>
          <a:xfrm>
            <a:off x="594360" y="176774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>
                <a:solidFill>
                  <a:srgbClr val="0B1F3A"/>
                </a:solidFill>
                <a:latin typeface="Aptos" panose="020B0004020202020204" pitchFamily="34" charset="0"/>
                <a:ea typeface="Cambria" pitchFamily="34" charset="-122"/>
                <a:cs typeface="Cambria" pitchFamily="34" charset="-120"/>
              </a:rPr>
              <a:t>98,635</a:t>
            </a:r>
            <a:endParaRPr lang="en-US" sz="3600">
              <a:latin typeface="Aptos" panose="020B0004020202020204" pitchFamily="34" charset="0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731520" y="256326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lang="en-US" sz="1200">
                <a:solidFill>
                  <a:srgbClr val="5B6B7C"/>
                </a:solidFill>
                <a:latin typeface="Aptos"/>
                <a:ea typeface="Calibri"/>
                <a:cs typeface="Calibri"/>
              </a:rPr>
              <a:t>raw Engine Fault Records</a:t>
            </a:r>
            <a:endParaRPr lang="en-US" sz="1200">
              <a:latin typeface="Aptos" panose="020B0004020202020204" pitchFamily="34" charset="0"/>
            </a:endParaRPr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00">
                <a:solidFill>
                  <a:srgbClr val="5B6B7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partitions processed</a:t>
            </a:r>
            <a:endParaRPr lang="en-US" sz="1200">
              <a:latin typeface="Aptos" panose="020B0004020202020204" pitchFamily="34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3429000" y="1511708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blurRad="76200" dist="25400" dir="5400000" algn="bl" rotWithShape="0">
              <a:srgbClr val="1C2833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 txBox="1"/>
          <p:nvPr/>
        </p:nvSpPr>
        <p:spPr>
          <a:xfrm>
            <a:off x="3429000" y="176774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>
                <a:solidFill>
                  <a:srgbClr val="0B1F3A"/>
                </a:solidFill>
                <a:latin typeface="Aptos" panose="020B0004020202020204" pitchFamily="34" charset="0"/>
                <a:ea typeface="Cambria" pitchFamily="34" charset="-122"/>
                <a:cs typeface="Cambria" pitchFamily="34" charset="-120"/>
              </a:rPr>
              <a:t>1.67M</a:t>
            </a:r>
            <a:endParaRPr lang="en-US" sz="3600">
              <a:latin typeface="Aptos" panose="020B0004020202020204" pitchFamily="34" charset="0"/>
            </a:endParaRPr>
          </a:p>
        </p:txBody>
      </p:sp>
      <p:sp>
        <p:nvSpPr>
          <p:cNvPr id="11" name="Text 8"/>
          <p:cNvSpPr txBox="1"/>
          <p:nvPr/>
        </p:nvSpPr>
        <p:spPr>
          <a:xfrm>
            <a:off x="3566160" y="256326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>
                <a:solidFill>
                  <a:srgbClr val="5B6B7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engine landings in the</a:t>
            </a:r>
            <a:endParaRPr lang="en-US" sz="1200">
              <a:latin typeface="Aptos" panose="020B0004020202020204" pitchFamily="34" charset="0"/>
            </a:endParaRPr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00">
                <a:solidFill>
                  <a:srgbClr val="5B6B7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landing-level panel</a:t>
            </a:r>
            <a:endParaRPr lang="en-US" sz="1200">
              <a:latin typeface="Aptos" panose="020B0004020202020204" pitchFamily="34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6263640" y="1511708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blurRad="76200" dist="25400" dir="5400000" algn="bl" rotWithShape="0">
              <a:srgbClr val="1C2833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 txBox="1"/>
          <p:nvPr/>
        </p:nvSpPr>
        <p:spPr>
          <a:xfrm>
            <a:off x="6263640" y="176774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>
                <a:solidFill>
                  <a:srgbClr val="0B1F3A"/>
                </a:solidFill>
                <a:latin typeface="Aptos" panose="020B0004020202020204" pitchFamily="34" charset="0"/>
                <a:ea typeface="Cambria" pitchFamily="34" charset="-122"/>
                <a:cs typeface="Cambria" pitchFamily="34" charset="-120"/>
              </a:rPr>
              <a:t>~2,000</a:t>
            </a:r>
            <a:endParaRPr lang="en-US" sz="3600">
              <a:latin typeface="Aptos" panose="020B0004020202020204" pitchFamily="34" charset="0"/>
            </a:endParaRPr>
          </a:p>
        </p:txBody>
      </p:sp>
      <p:sp>
        <p:nvSpPr>
          <p:cNvPr id="14" name="Text 11"/>
          <p:cNvSpPr txBox="1"/>
          <p:nvPr/>
        </p:nvSpPr>
        <p:spPr>
          <a:xfrm>
            <a:off x="6400800" y="256326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>
                <a:solidFill>
                  <a:srgbClr val="5B6B7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engines in the</a:t>
            </a:r>
            <a:endParaRPr lang="en-US" sz="1200">
              <a:latin typeface="Aptos" panose="020B0004020202020204" pitchFamily="34" charset="0"/>
            </a:endParaRPr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00">
                <a:solidFill>
                  <a:srgbClr val="5B6B7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fleet-wide history</a:t>
            </a:r>
            <a:endParaRPr lang="en-US" sz="1200">
              <a:latin typeface="Aptos" panose="020B0004020202020204" pitchFamily="34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9098280" y="1511708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blurRad="76200" dist="25400" dir="5400000" algn="bl" rotWithShape="0">
              <a:srgbClr val="1C2833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 txBox="1"/>
          <p:nvPr/>
        </p:nvSpPr>
        <p:spPr>
          <a:xfrm>
            <a:off x="9098280" y="176774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>
                <a:solidFill>
                  <a:srgbClr val="0B1F3A"/>
                </a:solidFill>
                <a:latin typeface="Aptos" panose="020B0004020202020204" pitchFamily="34" charset="0"/>
                <a:ea typeface="Cambria" pitchFamily="34" charset="-122"/>
                <a:cs typeface="Cambria" pitchFamily="34" charset="-120"/>
              </a:rPr>
              <a:t>9,300+</a:t>
            </a:r>
            <a:endParaRPr lang="en-US" sz="3600">
              <a:latin typeface="Aptos" panose="020B0004020202020204" pitchFamily="34" charset="0"/>
            </a:endParaRPr>
          </a:p>
        </p:txBody>
      </p:sp>
      <p:sp>
        <p:nvSpPr>
          <p:cNvPr id="17" name="Text 14"/>
          <p:cNvSpPr txBox="1"/>
          <p:nvPr/>
        </p:nvSpPr>
        <p:spPr>
          <a:xfrm>
            <a:off x="9235440" y="256326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>
                <a:solidFill>
                  <a:srgbClr val="5B6B7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candidate features</a:t>
            </a:r>
            <a:endParaRPr lang="en-US" sz="1200">
              <a:latin typeface="Aptos" panose="020B0004020202020204" pitchFamily="34" charset="0"/>
            </a:endParaRPr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00">
                <a:solidFill>
                  <a:srgbClr val="5B6B7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per landing (V3.2)</a:t>
            </a:r>
            <a:endParaRPr lang="en-US" sz="1200">
              <a:latin typeface="Aptos" panose="020B00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3FB213F-58BD-BDF3-8503-588A05F0B403}"/>
              </a:ext>
            </a:extLst>
          </p:cNvPr>
          <p:cNvSpPr txBox="1"/>
          <p:nvPr/>
        </p:nvSpPr>
        <p:spPr>
          <a:xfrm>
            <a:off x="941930" y="3767383"/>
            <a:ext cx="7580179" cy="74892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18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The raw data is too large and too wide for convenient repeated CSV processing.</a:t>
            </a:r>
          </a:p>
          <a:p>
            <a:pPr>
              <a:buNone/>
            </a:pPr>
            <a:r>
              <a:rPr lang="en-IN" sz="18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The pipeline therefore converts the information into </a:t>
            </a:r>
            <a:r>
              <a:rPr lang="en-IN" sz="1800" b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Parquet partitions</a:t>
            </a:r>
            <a:endParaRPr lang="en-IN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9321B02-BFA1-3A27-1F31-453E3E5D520B}"/>
              </a:ext>
            </a:extLst>
          </p:cNvPr>
          <p:cNvSpPr txBox="1"/>
          <p:nvPr/>
        </p:nvSpPr>
        <p:spPr>
          <a:xfrm>
            <a:off x="941929" y="4699961"/>
            <a:ext cx="10080031" cy="212365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IN" sz="1600"/>
              <a:t>Two variants for different models developed are used: </a:t>
            </a:r>
            <a:endParaRPr 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/>
              <a:t>Top 500 features</a:t>
            </a:r>
            <a:endParaRPr 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/>
              <a:t>Top 1000 features</a:t>
            </a:r>
          </a:p>
          <a:p>
            <a:endParaRPr lang="en-IN" sz="1600"/>
          </a:p>
          <a:p>
            <a:r>
              <a:rPr lang="en-IN"/>
              <a:t>The feature-ranking process ranks top 500 or 1000 candidates by means of Pearson correlation.</a:t>
            </a:r>
          </a:p>
          <a:p>
            <a:r>
              <a:rPr lang="en-IN"/>
              <a:t>Absolute Pearson correlation between the feature and the Fault-206 target.</a:t>
            </a:r>
          </a:p>
          <a:p>
            <a:endParaRPr lang="en-IN" sz="1600"/>
          </a:p>
          <a:p>
            <a:endParaRPr lang="en-IN" sz="16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1"/>
          <p:cNvSpPr>
            <a:spLocks noChangeArrowheads="1"/>
          </p:cNvSpPr>
          <p:nvPr/>
        </p:nvSpPr>
        <p:spPr bwMode="auto">
          <a:xfrm>
            <a:off x="28900" y="1146939"/>
            <a:ext cx="6533150" cy="550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1600"/>
              <a:t>For every 30-day window, the code calculates things such as:</a:t>
            </a:r>
          </a:p>
          <a:p>
            <a:r>
              <a:rPr lang="en-IN" sz="1600" b="1"/>
              <a:t>TOTAL_EVENTS_30D</a:t>
            </a:r>
            <a:endParaRPr lang="en-IN" sz="1600"/>
          </a:p>
          <a:p>
            <a:r>
              <a:rPr lang="en-IN" sz="1600"/>
              <a:t>Number of recorded events in the previous 30 days.</a:t>
            </a:r>
          </a:p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/>
              </a:rPr>
              <a:t>The code developed looks for </a:t>
            </a:r>
            <a:r>
              <a: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/>
              </a:rPr>
              <a:t>fault 206 in </a:t>
            </a:r>
            <a:r>
              <a:rPr lang="en-US" sz="1600" b="1" err="1">
                <a:solidFill>
                  <a:schemeClr val="tx1"/>
                </a:solidFill>
                <a:ea typeface="Times New Roman" panose="02020603050405020304" pitchFamily="18" charset="0"/>
                <a:cs typeface="Times New Roman"/>
              </a:rPr>
              <a:t>Failure</a:t>
            </a:r>
            <a:r>
              <a:rPr kumimoji="0" lang="en-US" sz="1600" b="1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/>
              </a:rPr>
              <a:t>_</a:t>
            </a:r>
            <a:r>
              <a:rPr lang="en-US" sz="1600" b="1" err="1">
                <a:solidFill>
                  <a:schemeClr val="tx1"/>
                </a:solidFill>
                <a:ea typeface="Times New Roman" panose="02020603050405020304" pitchFamily="18" charset="0"/>
                <a:cs typeface="Times New Roman"/>
              </a:rPr>
              <a:t>RECORDS</a:t>
            </a:r>
            <a:r>
              <a:rPr kumimoji="0" 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/>
              </a:rPr>
              <a:t> with a reliable </a:t>
            </a:r>
            <a:endParaRPr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  <a:cs typeface="Times New Roman"/>
            </a:endParaRPr>
          </a:p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explicit GMT timestamp.</a:t>
            </a:r>
            <a:endParaRPr kumimoji="0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Then it asks:</a:t>
            </a:r>
            <a:endParaRPr kumimoji="0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“After this snapshot, does fault 206 occur within the next 14 days?”</a:t>
            </a:r>
            <a:endParaRPr kumimoji="0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lang="en-US" sz="1600">
              <a:solidFill>
                <a:schemeClr val="tx1"/>
              </a:solidFill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If yes: FAILS_WITHIN_14D = 1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If no: FAILS_WITHIN_14D = 0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So, the ML problem is modelled as below:</a:t>
            </a:r>
            <a:endParaRPr kumimoji="0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/>
              </a:rPr>
              <a:t>Previous 30 days of engine </a:t>
            </a:r>
            <a:r>
              <a:rPr kumimoji="0" lang="en-US" sz="16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/>
              </a:rPr>
              <a:t>behaviour</a:t>
            </a:r>
            <a:endParaRPr kumimoji="0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cs typeface="Times New Roman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         ↓</a:t>
            </a:r>
            <a:endParaRPr kumimoji="0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      ML model</a:t>
            </a:r>
            <a:endParaRPr kumimoji="0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         ↓</a:t>
            </a:r>
            <a:endParaRPr kumimoji="0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  <a:p>
            <a:pPr eaLnBrk="0" fontAlgn="base">
              <a:spcBef>
                <a:spcPct val="0"/>
              </a:spcBef>
              <a:spcAft>
                <a:spcPct val="0"/>
              </a:spcAft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/>
              </a:rPr>
              <a:t>Will fault 206 </a:t>
            </a:r>
            <a:r>
              <a:rPr lang="en-US" sz="1600">
                <a:solidFill>
                  <a:schemeClr val="tx1"/>
                </a:solidFill>
                <a:ea typeface="Times New Roman" panose="02020603050405020304" pitchFamily="18" charset="0"/>
                <a:cs typeface="Times New Roman"/>
              </a:rPr>
              <a:t>occur within</a:t>
            </a:r>
            <a:r>
              <a:rPr kumimoji="0" 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  <a:cs typeface="Times New Roman"/>
              </a:rPr>
              <a:t> next 14 days?</a:t>
            </a:r>
            <a:endParaRPr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  <a:cs typeface="Times New Roman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89FA44FD-2095-6DF7-CF70-B4CF957DC251}"/>
              </a:ext>
            </a:extLst>
          </p:cNvPr>
          <p:cNvSpPr txBox="1"/>
          <p:nvPr/>
        </p:nvSpPr>
        <p:spPr>
          <a:xfrm>
            <a:off x="467617" y="27154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111184"/>
                </a:solidFill>
                <a:latin typeface="Book Antiqua" panose="02040602050305030304" pitchFamily="18" charset="0"/>
                <a:ea typeface="Cambria" pitchFamily="34" charset="-122"/>
                <a:cs typeface="Cambria" pitchFamily="34" charset="-120"/>
              </a:rPr>
              <a:t>Model development &amp; Feature Engineering</a:t>
            </a:r>
            <a:endParaRPr lang="en-US" sz="3600">
              <a:solidFill>
                <a:srgbClr val="111184"/>
              </a:solidFill>
              <a:latin typeface="Book Antiqua" panose="0204060205030503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B5128C-B810-4D03-22B3-0A502EF5EFC8}"/>
              </a:ext>
            </a:extLst>
          </p:cNvPr>
          <p:cNvSpPr txBox="1"/>
          <p:nvPr/>
        </p:nvSpPr>
        <p:spPr>
          <a:xfrm>
            <a:off x="6440129" y="1272495"/>
            <a:ext cx="5662012" cy="448327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1800" b="1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OBS, ACTIVE, LAST, CHANGES</a:t>
            </a:r>
            <a:endParaRPr lang="en-IN" sz="1800" kern="100">
              <a:effectLst/>
              <a:latin typeface="+mn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18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These are </a:t>
            </a:r>
            <a:r>
              <a:rPr lang="en-IN" sz="1800" b="1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four ways of summarizing a parameter's recent history</a:t>
            </a:r>
            <a:r>
              <a:rPr lang="en-IN" sz="18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over the previous 30 days:</a:t>
            </a:r>
          </a:p>
          <a:p>
            <a:pPr marL="285750" lvl="0" indent="-285750"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IN" sz="1800" b="1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OBS</a:t>
            </a:r>
            <a:r>
              <a:rPr lang="en-IN" sz="18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→ How many times did we receive a reading?</a:t>
            </a:r>
            <a:br>
              <a:rPr lang="en-IN" sz="18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IN" sz="1800" i="1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Example: Oil pressure was recorded 500 times.</a:t>
            </a:r>
            <a:r>
              <a:rPr lang="en-IN" sz="18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</a:p>
          <a:p>
            <a:pPr marL="285750" lvl="0" indent="-285750"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IN" sz="1800" b="1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ACTIVE</a:t>
            </a:r>
            <a:r>
              <a:rPr lang="en-IN" sz="18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→ How often was the parameter active/non-zero?</a:t>
            </a:r>
            <a:br>
              <a:rPr lang="en-IN" sz="18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IN" sz="1800" i="1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Example: Oil-pressure abnormal condition occurred frequently.</a:t>
            </a:r>
            <a:r>
              <a:rPr lang="en-IN" sz="18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</a:p>
          <a:p>
            <a:pPr marL="285750" lvl="0" indent="-285750"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IN" sz="1800" b="1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LAST</a:t>
            </a:r>
            <a:r>
              <a:rPr lang="en-IN" sz="18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→ What was the most recent value?</a:t>
            </a:r>
            <a:br>
              <a:rPr lang="en-IN" sz="18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IN" sz="1800" i="1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Example: The latest oil pressure was 50.</a:t>
            </a:r>
            <a:r>
              <a:rPr lang="en-IN" sz="18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</a:p>
          <a:p>
            <a:pPr marL="285750" lvl="0" indent="-285750"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IN" sz="1800" b="1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CHANGES</a:t>
            </a:r>
            <a:r>
              <a:rPr lang="en-IN" sz="18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→ How often did the value/status change?</a:t>
            </a:r>
            <a:br>
              <a:rPr lang="en-IN" sz="18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IN" sz="1800" i="1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Example: If a status keeps switching ON/OFF, CHANGES will be high.</a:t>
            </a:r>
            <a:r>
              <a:rPr lang="en-IN" sz="1800" kern="10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endParaRPr lang="en-IN" sz="1100" kern="10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 txBox="1"/>
          <p:nvPr/>
        </p:nvSpPr>
        <p:spPr>
          <a:xfrm>
            <a:off x="467617" y="27154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111184"/>
                </a:solidFill>
                <a:latin typeface="Book Antiqua" panose="02040602050305030304" pitchFamily="18" charset="0"/>
                <a:ea typeface="Cambria" pitchFamily="34" charset="-122"/>
                <a:cs typeface="Cambria" pitchFamily="34" charset="-120"/>
              </a:rPr>
              <a:t>Comparison of approaches</a:t>
            </a:r>
            <a:endParaRPr lang="en-US" sz="3600">
              <a:solidFill>
                <a:srgbClr val="111184"/>
              </a:solidFill>
              <a:latin typeface="Book Antiqua" panose="02040602050305030304" pitchFamily="18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594360" y="1417320"/>
            <a:ext cx="5257800" cy="2055085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blurRad="76200" dist="25400" dir="5400000" algn="bl" rotWithShape="0">
              <a:srgbClr val="1C2833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594360" y="1417320"/>
            <a:ext cx="5257800" cy="585100"/>
          </a:xfrm>
          <a:prstGeom prst="roundRect">
            <a:avLst>
              <a:gd name="adj" fmla="val 7273"/>
            </a:avLst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594360" y="1920240"/>
            <a:ext cx="5257800" cy="50292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 txBox="1"/>
          <p:nvPr/>
        </p:nvSpPr>
        <p:spPr>
          <a:xfrm>
            <a:off x="868680" y="1527048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>
                <a:solidFill>
                  <a:schemeClr val="tx1"/>
                </a:solidFill>
                <a:latin typeface="Aptos"/>
                <a:ea typeface="Cambria"/>
              </a:rPr>
              <a:t>Approach A</a:t>
            </a:r>
            <a:endParaRPr lang="en-US" sz="2000" b="1">
              <a:solidFill>
                <a:schemeClr val="tx1"/>
              </a:solidFill>
              <a:latin typeface="Aptos" panose="020B0004020202020204" pitchFamily="34" charset="0"/>
              <a:ea typeface="Cambria"/>
            </a:endParaRPr>
          </a:p>
        </p:txBody>
      </p:sp>
      <p:sp>
        <p:nvSpPr>
          <p:cNvPr id="11" name="Text 8"/>
          <p:cNvSpPr txBox="1"/>
          <p:nvPr/>
        </p:nvSpPr>
        <p:spPr>
          <a:xfrm>
            <a:off x="629083" y="2027305"/>
            <a:ext cx="5257800" cy="13988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</a:pPr>
            <a:r>
              <a:rPr lang="en-US" sz="1400" i="1">
                <a:solidFill>
                  <a:schemeClr val="tx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Calendar-Anchored Snapshots</a:t>
            </a:r>
            <a:endParaRPr lang="en-US" sz="1400">
              <a:solidFill>
                <a:schemeClr val="tx1"/>
              </a:solidFill>
              <a:latin typeface="Aptos" panose="020B0004020202020204" pitchFamily="34" charset="0"/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400">
                <a:solidFill>
                  <a:srgbClr val="111184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One row per engine, every 7 days, regardless of activity. Each row summarizes the trailing 30 days of behavior.</a:t>
            </a:r>
          </a:p>
          <a:p>
            <a:pPr>
              <a:lnSpc>
                <a:spcPct val="125000"/>
              </a:lnSpc>
            </a:pPr>
            <a:r>
              <a:rPr lang="en-US" sz="1400">
                <a:solidFill>
                  <a:srgbClr val="111184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 14-day forward-looking horizon (the target this program predicts against) converts a same-day emergency into a schedulable maintenance event</a:t>
            </a:r>
            <a:endParaRPr lang="en-US" sz="1400">
              <a:solidFill>
                <a:srgbClr val="111184"/>
              </a:solidFill>
              <a:latin typeface="Aptos" panose="020B0004020202020204" pitchFamily="34" charset="0"/>
            </a:endParaRPr>
          </a:p>
        </p:txBody>
      </p:sp>
      <p:sp>
        <p:nvSpPr>
          <p:cNvPr id="12" name="Text 9"/>
          <p:cNvSpPr txBox="1"/>
          <p:nvPr/>
        </p:nvSpPr>
        <p:spPr>
          <a:xfrm>
            <a:off x="868680" y="3566160"/>
            <a:ext cx="47091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●"/>
            </a:pPr>
            <a:endParaRPr lang="en-US" sz="1200">
              <a:latin typeface="Aptos" panose="020B0004020202020204" pitchFamily="34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6366076" y="1428895"/>
            <a:ext cx="525780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2E6EC"/>
            </a:solidFill>
            <a:prstDash val="solid"/>
          </a:ln>
          <a:effectLst>
            <a:outerShdw blurRad="76200" dist="25400" dir="5400000" algn="bl" rotWithShape="0">
              <a:srgbClr val="1C2833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6400800" y="1417320"/>
            <a:ext cx="5257800" cy="1005840"/>
          </a:xfrm>
          <a:prstGeom prst="roundRect">
            <a:avLst>
              <a:gd name="adj" fmla="val 7273"/>
            </a:avLst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6400800" y="1920240"/>
            <a:ext cx="5257800" cy="502920"/>
          </a:xfrm>
          <a:prstGeom prst="rect">
            <a:avLst/>
          </a:prstGeom>
          <a:noFill/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 txBox="1"/>
          <p:nvPr/>
        </p:nvSpPr>
        <p:spPr>
          <a:xfrm>
            <a:off x="6675120" y="1527048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>
                <a:solidFill>
                  <a:schemeClr val="tx1"/>
                </a:solidFill>
                <a:latin typeface="Aptos"/>
                <a:ea typeface="Cambria"/>
              </a:rPr>
              <a:t>Approach B</a:t>
            </a:r>
            <a:endParaRPr lang="en-US" sz="2000" b="1">
              <a:solidFill>
                <a:schemeClr val="tx1"/>
              </a:solidFill>
              <a:latin typeface="Aptos" panose="020B0004020202020204" pitchFamily="34" charset="0"/>
              <a:ea typeface="Cambria"/>
            </a:endParaRPr>
          </a:p>
        </p:txBody>
      </p:sp>
      <p:sp>
        <p:nvSpPr>
          <p:cNvPr id="17" name="Text 14"/>
          <p:cNvSpPr txBox="1"/>
          <p:nvPr/>
        </p:nvSpPr>
        <p:spPr>
          <a:xfrm>
            <a:off x="6675120" y="192024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>
                <a:solidFill>
                  <a:schemeClr val="tx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Landing-Anchored Windows</a:t>
            </a:r>
            <a:endParaRPr lang="en-US" sz="130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20" name="Text 17"/>
          <p:cNvSpPr txBox="1"/>
          <p:nvPr/>
        </p:nvSpPr>
        <p:spPr>
          <a:xfrm>
            <a:off x="1161288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5B6B7C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>
              <a:latin typeface="Aptos" panose="020B0004020202020204" pitchFamily="34" charset="0"/>
            </a:endParaRPr>
          </a:p>
        </p:txBody>
      </p:sp>
      <p:sp>
        <p:nvSpPr>
          <p:cNvPr id="10241" name="Rectangle 1"/>
          <p:cNvSpPr>
            <a:spLocks noChangeArrowheads="1"/>
          </p:cNvSpPr>
          <p:nvPr/>
        </p:nvSpPr>
        <p:spPr bwMode="auto">
          <a:xfrm>
            <a:off x="6550703" y="2444663"/>
            <a:ext cx="4961681" cy="27699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sz="1400" i="1">
                <a:solidFill>
                  <a:srgbClr val="1C28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One row per physical landing. Features drawn from a short window right around that specific landing as TR only acts at landing.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b="1">
                <a:solidFill>
                  <a:srgbClr val="111184"/>
                </a:solidFill>
              </a:rPr>
              <a:t>One row = one engine landing</a:t>
            </a:r>
            <a:r>
              <a:rPr lang="en-IN" sz="1400">
                <a:solidFill>
                  <a:srgbClr val="111184"/>
                </a:solidFill>
              </a:rPr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>
                <a:solidFill>
                  <a:srgbClr val="111184"/>
                </a:solidFill>
              </a:rPr>
              <a:t>Features are extracted from a </a:t>
            </a:r>
            <a:r>
              <a:rPr lang="en-IN" sz="1400" b="1">
                <a:solidFill>
                  <a:srgbClr val="111184"/>
                </a:solidFill>
              </a:rPr>
              <a:t>short window around each landing</a:t>
            </a:r>
            <a:r>
              <a:rPr lang="en-IN" sz="1400">
                <a:solidFill>
                  <a:srgbClr val="111184"/>
                </a:solidFill>
              </a:rPr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>
                <a:solidFill>
                  <a:srgbClr val="111184"/>
                </a:solidFill>
              </a:rPr>
              <a:t>The model uses the </a:t>
            </a:r>
            <a:r>
              <a:rPr lang="en-IN" sz="1400" b="1">
                <a:solidFill>
                  <a:srgbClr val="111184"/>
                </a:solidFill>
              </a:rPr>
              <a:t>previous 30 days of engine behaviour</a:t>
            </a:r>
            <a:r>
              <a:rPr lang="en-IN" sz="1400">
                <a:solidFill>
                  <a:srgbClr val="111184"/>
                </a:solidFill>
              </a:rPr>
              <a:t> to predict whether a </a:t>
            </a:r>
            <a:r>
              <a:rPr lang="en-IN" sz="1400" b="1">
                <a:solidFill>
                  <a:srgbClr val="111184"/>
                </a:solidFill>
              </a:rPr>
              <a:t>fault will occur within the next 14 days</a:t>
            </a:r>
            <a:r>
              <a:rPr lang="en-IN" sz="1400">
                <a:solidFill>
                  <a:srgbClr val="111184"/>
                </a:solidFill>
              </a:rPr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b="1">
                <a:solidFill>
                  <a:srgbClr val="111184"/>
                </a:solidFill>
              </a:rPr>
              <a:t>Engine-grouped validation</a:t>
            </a:r>
            <a:r>
              <a:rPr lang="en-IN" sz="1400">
                <a:solidFill>
                  <a:srgbClr val="111184"/>
                </a:solidFill>
              </a:rPr>
              <a:t> reduces the risk of the model memorizing individual engines</a:t>
            </a:r>
          </a:p>
          <a:p>
            <a:pPr fontAlgn="base" hangingPunct="1">
              <a:spcBef>
                <a:spcPct val="0"/>
              </a:spcBef>
              <a:spcAft>
                <a:spcPct val="0"/>
              </a:spcAft>
            </a:pPr>
            <a:endParaRPr kumimoji="0" lang="en-US" sz="1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  <a:cs typeface="Arial" pitchFamily="34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121113" y="5961888"/>
            <a:ext cx="6096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1400" b="1" i="1">
                <a:solidFill>
                  <a:srgbClr val="FF0000"/>
                </a:solidFill>
                <a:latin typeface="Aptos" panose="020B0004020202020204" pitchFamily="34" charset="0"/>
              </a:rPr>
              <a:t>The 7-day frequency is for creating prediction snapshots</a:t>
            </a:r>
            <a:endParaRPr lang="en-US" sz="1400" b="1" i="1">
              <a:solidFill>
                <a:srgbClr val="FF0000"/>
              </a:solidFill>
              <a:latin typeface="Aptos" panose="020B0004020202020204" pitchFamily="34" charset="0"/>
            </a:endParaRPr>
          </a:p>
        </p:txBody>
      </p:sp>
      <p:grpSp>
        <p:nvGrpSpPr>
          <p:cNvPr id="41" name="Group 40"/>
          <p:cNvGrpSpPr/>
          <p:nvPr/>
        </p:nvGrpSpPr>
        <p:grpSpPr>
          <a:xfrm>
            <a:off x="175513" y="3819645"/>
            <a:ext cx="5933448" cy="2662178"/>
            <a:chOff x="268111" y="3750197"/>
            <a:chExt cx="5933448" cy="2662178"/>
          </a:xfrm>
        </p:grpSpPr>
        <p:sp>
          <p:nvSpPr>
            <p:cNvPr id="31" name="Shape 4"/>
            <p:cNvSpPr/>
            <p:nvPr/>
          </p:nvSpPr>
          <p:spPr>
            <a:xfrm>
              <a:off x="520860" y="3750197"/>
              <a:ext cx="5440102" cy="2662178"/>
            </a:xfrm>
            <a:prstGeom prst="roundRect">
              <a:avLst>
                <a:gd name="adj" fmla="val 1905"/>
              </a:avLst>
            </a:prstGeom>
            <a:ln/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2" name="Text 5"/>
            <p:cNvSpPr txBox="1"/>
            <p:nvPr/>
          </p:nvSpPr>
          <p:spPr>
            <a:xfrm>
              <a:off x="527805" y="3890829"/>
              <a:ext cx="5190089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ptos" panose="020B0004020202020204" pitchFamily="34" charset="0"/>
                  <a:ea typeface="Cambria" pitchFamily="34" charset="-122"/>
                  <a:cs typeface="Cambria" pitchFamily="34" charset="-120"/>
                </a:rPr>
                <a:t>The 14-Day Window</a:t>
              </a: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ptos" panose="020B0004020202020204" pitchFamily="34" charset="0"/>
              </a:endParaRPr>
            </a:p>
          </p:txBody>
        </p:sp>
        <p:sp>
          <p:nvSpPr>
            <p:cNvPr id="33" name="Shape 6"/>
            <p:cNvSpPr/>
            <p:nvPr/>
          </p:nvSpPr>
          <p:spPr>
            <a:xfrm flipV="1">
              <a:off x="1070658" y="4753143"/>
              <a:ext cx="3593940" cy="2313"/>
            </a:xfrm>
            <a:prstGeom prst="line">
              <a:avLst/>
            </a:prstGeom>
            <a:noFill/>
            <a:ln w="38100">
              <a:solidFill>
                <a:srgbClr val="3D5A80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Shape 7"/>
            <p:cNvSpPr/>
            <p:nvPr/>
          </p:nvSpPr>
          <p:spPr>
            <a:xfrm>
              <a:off x="976787" y="4684737"/>
              <a:ext cx="201513" cy="164592"/>
            </a:xfrm>
            <a:prstGeom prst="ellipse">
              <a:avLst/>
            </a:prstGeom>
            <a:solidFill>
              <a:srgbClr val="FFFF00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Shape 8"/>
            <p:cNvSpPr/>
            <p:nvPr/>
          </p:nvSpPr>
          <p:spPr>
            <a:xfrm>
              <a:off x="4581204" y="4664691"/>
              <a:ext cx="201513" cy="164592"/>
            </a:xfrm>
            <a:prstGeom prst="ellipse">
              <a:avLst/>
            </a:prstGeom>
            <a:solidFill>
              <a:srgbClr val="B0413E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Text 9"/>
            <p:cNvSpPr txBox="1"/>
            <p:nvPr/>
          </p:nvSpPr>
          <p:spPr>
            <a:xfrm>
              <a:off x="788236" y="4996791"/>
              <a:ext cx="1561425" cy="24654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Aptos" panose="020B0004020202020204" pitchFamily="34" charset="0"/>
                  <a:ea typeface="Calibri" pitchFamily="34" charset="-122"/>
                  <a:cs typeface="Calibri" pitchFamily="34" charset="-120"/>
                </a:rPr>
                <a:t>Alert fires</a:t>
              </a:r>
              <a:endPara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ptos" panose="020B0004020202020204" pitchFamily="34" charset="0"/>
              </a:endParaRPr>
            </a:p>
          </p:txBody>
        </p:sp>
        <p:sp>
          <p:nvSpPr>
            <p:cNvPr id="37" name="Text 11"/>
            <p:cNvSpPr txBox="1"/>
            <p:nvPr/>
          </p:nvSpPr>
          <p:spPr>
            <a:xfrm>
              <a:off x="268111" y="4290597"/>
              <a:ext cx="5933448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1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ptos" panose="020B0004020202020204" pitchFamily="34" charset="0"/>
                  <a:ea typeface="Calibri" pitchFamily="34" charset="-122"/>
                  <a:cs typeface="Calibri" pitchFamily="34" charset="-120"/>
                </a:rPr>
                <a:t>14 days of scheduling flexibility</a:t>
              </a:r>
              <a:endPara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ptos" panose="020B0004020202020204" pitchFamily="34" charset="0"/>
              </a:endParaRPr>
            </a:p>
          </p:txBody>
        </p:sp>
        <p:sp>
          <p:nvSpPr>
            <p:cNvPr id="38" name="Text 12"/>
            <p:cNvSpPr txBox="1"/>
            <p:nvPr/>
          </p:nvSpPr>
          <p:spPr>
            <a:xfrm>
              <a:off x="671331" y="5301205"/>
              <a:ext cx="4829223" cy="11111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50" b="0" i="0" u="none" strike="noStrike" kern="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ptos" panose="020B0004020202020204" pitchFamily="34" charset="0"/>
                  <a:ea typeface="Calibri" pitchFamily="34" charset="-122"/>
                  <a:cs typeface="Calibri" pitchFamily="34" charset="-120"/>
                </a:rPr>
                <a:t>This is exactly why the program targets "fault within the next 14 days," not "fault right now": a same-day prediction has no economic value — there’s no time left to act on it.</a:t>
              </a:r>
              <a:endParaRPr kumimoji="0" lang="en-US" sz="125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ptos" panose="020B0004020202020204" pitchFamily="34" charset="0"/>
              </a:endParaRPr>
            </a:p>
          </p:txBody>
        </p:sp>
        <p:sp>
          <p:nvSpPr>
            <p:cNvPr id="39" name="Text 10"/>
            <p:cNvSpPr txBox="1"/>
            <p:nvPr/>
          </p:nvSpPr>
          <p:spPr>
            <a:xfrm>
              <a:off x="4116537" y="4881044"/>
              <a:ext cx="146304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>
                  <a:solidFill>
                    <a:srgbClr val="C00000"/>
                  </a:solidFill>
                  <a:latin typeface="Aptos" panose="020B0004020202020204" pitchFamily="34" charset="0"/>
                  <a:ea typeface="Calibri" pitchFamily="34" charset="-122"/>
                  <a:cs typeface="Calibri" pitchFamily="34" charset="-120"/>
                </a:rPr>
                <a:t>Predicted</a:t>
              </a:r>
              <a:endParaRPr lang="en-US" sz="1100">
                <a:solidFill>
                  <a:srgbClr val="C00000"/>
                </a:solidFill>
                <a:latin typeface="Aptos" panose="020B0004020202020204" pitchFamily="34" charset="0"/>
              </a:endParaRPr>
            </a:p>
            <a:p>
              <a:pPr marL="0" indent="0">
                <a:buNone/>
              </a:pPr>
              <a:r>
                <a:rPr lang="en-US" sz="1100" b="1">
                  <a:solidFill>
                    <a:srgbClr val="C00000"/>
                  </a:solidFill>
                  <a:latin typeface="Aptos" panose="020B0004020202020204" pitchFamily="34" charset="0"/>
                  <a:ea typeface="Calibri" pitchFamily="34" charset="-122"/>
                  <a:cs typeface="Calibri" pitchFamily="34" charset="-120"/>
                </a:rPr>
                <a:t>fault window</a:t>
              </a:r>
              <a:endParaRPr lang="en-US" sz="1100">
                <a:solidFill>
                  <a:srgbClr val="C00000"/>
                </a:solidFill>
                <a:latin typeface="Aptos" panose="020B00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6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Rectangle 51"/>
          <p:cNvSpPr/>
          <p:nvPr/>
        </p:nvSpPr>
        <p:spPr>
          <a:xfrm rot="10800000" flipH="1">
            <a:off x="10337759" y="4129956"/>
            <a:ext cx="1846758" cy="51833"/>
          </a:xfrm>
          <a:prstGeom prst="rect">
            <a:avLst/>
          </a:prstGeom>
          <a:solidFill>
            <a:srgbClr val="D1D1D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" name="Title 16">
            <a:extLst>
              <a:ext uri="{FF2B5EF4-FFF2-40B4-BE49-F238E27FC236}">
                <a16:creationId xmlns:a16="http://schemas.microsoft.com/office/drawing/2014/main" id="{CDF6130B-758A-F17A-47D0-2E2414BC73F4}"/>
              </a:ext>
            </a:extLst>
          </p:cNvPr>
          <p:cNvSpPr txBox="1"/>
          <p:nvPr/>
        </p:nvSpPr>
        <p:spPr>
          <a:xfrm>
            <a:off x="7483" y="0"/>
            <a:ext cx="4718677" cy="5941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 anchor="b">
            <a:spAutoFit/>
          </a:bodyPr>
          <a:lstStyle>
            <a:lvl1pPr>
              <a:lnSpc>
                <a:spcPct val="90000"/>
              </a:lnSpc>
              <a:spcBef>
                <a:spcPts val="600"/>
              </a:spcBef>
              <a:defRPr sz="4400" b="1"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rPr lang="en-US" sz="3600">
                <a:solidFill>
                  <a:srgbClr val="111184"/>
                </a:solidFill>
                <a:latin typeface="Book Antiqua" panose="02040602050305030304" pitchFamily="18" charset="0"/>
              </a:rPr>
              <a:t>Project Roadmap</a:t>
            </a:r>
            <a:endParaRPr sz="3600">
              <a:solidFill>
                <a:srgbClr val="111184"/>
              </a:solidFill>
              <a:latin typeface="Book Antiqua" panose="0204060205030503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778B20-124D-37DB-B0B2-659D68BB52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3" y="560922"/>
            <a:ext cx="8193542" cy="6297078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050EE6C-B4EC-B777-A323-E96FB6A836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8801068"/>
              </p:ext>
            </p:extLst>
          </p:nvPr>
        </p:nvGraphicFramePr>
        <p:xfrm>
          <a:off x="8269742" y="970071"/>
          <a:ext cx="3914770" cy="4847844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788788">
                  <a:extLst>
                    <a:ext uri="{9D8B030D-6E8A-4147-A177-3AD203B41FA5}">
                      <a16:colId xmlns:a16="http://schemas.microsoft.com/office/drawing/2014/main" val="4003437090"/>
                    </a:ext>
                  </a:extLst>
                </a:gridCol>
                <a:gridCol w="1413867">
                  <a:extLst>
                    <a:ext uri="{9D8B030D-6E8A-4147-A177-3AD203B41FA5}">
                      <a16:colId xmlns:a16="http://schemas.microsoft.com/office/drawing/2014/main" val="3167883675"/>
                    </a:ext>
                  </a:extLst>
                </a:gridCol>
                <a:gridCol w="1712115">
                  <a:extLst>
                    <a:ext uri="{9D8B030D-6E8A-4147-A177-3AD203B41FA5}">
                      <a16:colId xmlns:a16="http://schemas.microsoft.com/office/drawing/2014/main" val="3122807657"/>
                    </a:ext>
                  </a:extLst>
                </a:gridCol>
              </a:tblGrid>
              <a:tr h="24054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0">
                          <a:effectLst/>
                        </a:rPr>
                        <a:t>Version</a:t>
                      </a:r>
                      <a:endParaRPr lang="en-IN" sz="1200" b="1" kern="100">
                        <a:effectLst/>
                        <a:latin typeface="Aptos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0">
                          <a:effectLst/>
                        </a:rPr>
                        <a:t>Incremental code/feature change</a:t>
                      </a:r>
                      <a:endParaRPr lang="en-IN" sz="1200" b="1" kern="100">
                        <a:effectLst/>
                        <a:latin typeface="Aptos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b="1" kern="0">
                          <a:effectLst/>
                        </a:rPr>
                        <a:t>What it adds</a:t>
                      </a:r>
                      <a:endParaRPr lang="en-IN" sz="1200" b="1" kern="100">
                        <a:effectLst/>
                        <a:latin typeface="Aptos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969613760"/>
                  </a:ext>
                </a:extLst>
              </a:tr>
              <a:tr h="20600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0">
                          <a:effectLst/>
                        </a:rPr>
                        <a:t>Baseline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0">
                          <a:effectLst/>
                        </a:rPr>
                        <a:t>Landing-level input features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0">
                          <a:effectLst/>
                        </a:rPr>
                        <a:t>Basic landing measurements and derived descriptors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716436193"/>
                  </a:ext>
                </a:extLst>
              </a:tr>
              <a:tr h="20600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0">
                          <a:effectLst/>
                        </a:rPr>
                        <a:t>V1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0">
                          <a:effectLst/>
                        </a:rPr>
                        <a:t>Added 30-day focal-engine history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0">
                          <a:effectLst/>
                        </a:rPr>
                        <a:t>Previous status/fault behaviour of the same engine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757011751"/>
                  </a:ext>
                </a:extLst>
              </a:tr>
              <a:tr h="32898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0">
                          <a:effectLst/>
                        </a:rPr>
                        <a:t>V2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0">
                          <a:effectLst/>
                        </a:rPr>
                        <a:t>Added cross-side engine information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0">
                          <a:effectLst/>
                        </a:rPr>
                        <a:t>Other engine on same aircraft + signed/absolute differences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546129959"/>
                  </a:ext>
                </a:extLst>
              </a:tr>
              <a:tr h="20600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0">
                          <a:effectLst/>
                        </a:rPr>
                        <a:t>V3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0">
                          <a:effectLst/>
                        </a:rPr>
                        <a:t>Added fault-progression history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0">
                          <a:effectLst/>
                        </a:rPr>
                        <a:t>Recent fault occurrence/progression over time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188983797"/>
                  </a:ext>
                </a:extLst>
              </a:tr>
              <a:tr h="20600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0">
                          <a:effectLst/>
                        </a:rPr>
                        <a:t>V4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0">
                          <a:effectLst/>
                        </a:rPr>
                        <a:t>Added propagation timing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0">
                          <a:effectLst/>
                        </a:rPr>
                        <a:t>Looks at command/response propagation behaviour</a:t>
                      </a:r>
                      <a:endParaRPr lang="en-IN" sz="12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46206065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 txBox="1"/>
          <p:nvPr/>
        </p:nvSpPr>
        <p:spPr>
          <a:xfrm>
            <a:off x="187797" y="183125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3200" b="1">
                <a:solidFill>
                  <a:srgbClr val="111184"/>
                </a:solidFill>
                <a:latin typeface="Book Antiqua" panose="02040602050305030304" pitchFamily="18" charset="0"/>
              </a:rPr>
              <a:t>ML algorithms &amp; End-to-End </a:t>
            </a:r>
          </a:p>
          <a:p>
            <a:r>
              <a:rPr lang="en-IN" sz="3200" b="1">
                <a:solidFill>
                  <a:srgbClr val="111184"/>
                </a:solidFill>
                <a:latin typeface="Book Antiqua" panose="02040602050305030304" pitchFamily="18" charset="0"/>
              </a:rPr>
              <a:t>architecture</a:t>
            </a:r>
            <a:endParaRPr lang="en-US" sz="2800">
              <a:solidFill>
                <a:srgbClr val="111184"/>
              </a:solidFill>
              <a:latin typeface="Book Antiqua" panose="02040602050305030304" pitchFamily="18" charset="0"/>
            </a:endParaRPr>
          </a:p>
        </p:txBody>
      </p:sp>
      <p:sp>
        <p:nvSpPr>
          <p:cNvPr id="20" name="Text 17"/>
          <p:cNvSpPr txBox="1"/>
          <p:nvPr/>
        </p:nvSpPr>
        <p:spPr>
          <a:xfrm>
            <a:off x="510540" y="1278897"/>
            <a:ext cx="5744005" cy="4916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600"/>
              <a:t>Latest model compares </a:t>
            </a:r>
            <a:r>
              <a:rPr lang="en-IN" sz="1600" b="1"/>
              <a:t>six model families</a:t>
            </a:r>
            <a:r>
              <a:rPr lang="en-IN" sz="1600"/>
              <a:t>:</a:t>
            </a:r>
            <a:endParaRPr lang="en-US" sz="1600"/>
          </a:p>
          <a:p>
            <a:pPr marL="228600" lvl="0" indent="-228600">
              <a:lnSpc>
                <a:spcPct val="150000"/>
              </a:lnSpc>
              <a:buFont typeface="+mj-lt"/>
              <a:buAutoNum type="arabicPeriod"/>
            </a:pPr>
            <a:r>
              <a:rPr lang="en-IN" sz="1600"/>
              <a:t>Histogram Gradient Boosting</a:t>
            </a:r>
            <a:endParaRPr lang="en-US" sz="1600"/>
          </a:p>
          <a:p>
            <a:pPr marL="228600" lvl="0" indent="-228600">
              <a:lnSpc>
                <a:spcPct val="150000"/>
              </a:lnSpc>
              <a:buFont typeface="+mj-lt"/>
              <a:buAutoNum type="arabicPeriod"/>
            </a:pPr>
            <a:r>
              <a:rPr lang="en-IN" sz="1600"/>
              <a:t>Extra Trees</a:t>
            </a:r>
            <a:endParaRPr lang="en-US" sz="1600"/>
          </a:p>
          <a:p>
            <a:pPr marL="228600" lvl="0" indent="-228600">
              <a:lnSpc>
                <a:spcPct val="150000"/>
              </a:lnSpc>
              <a:buFont typeface="+mj-lt"/>
              <a:buAutoNum type="arabicPeriod"/>
            </a:pPr>
            <a:r>
              <a:rPr lang="en-IN" sz="1600"/>
              <a:t>Random Forest</a:t>
            </a:r>
            <a:endParaRPr lang="en-US" sz="1600"/>
          </a:p>
          <a:p>
            <a:pPr marL="228600" lvl="0" indent="-228600">
              <a:lnSpc>
                <a:spcPct val="150000"/>
              </a:lnSpc>
              <a:buFont typeface="+mj-lt"/>
              <a:buAutoNum type="arabicPeriod"/>
            </a:pPr>
            <a:r>
              <a:rPr lang="en-IN" sz="1600"/>
              <a:t>Elastic-Net Logistic Regression</a:t>
            </a:r>
            <a:endParaRPr lang="en-US" sz="1600"/>
          </a:p>
          <a:p>
            <a:pPr marL="228600" lvl="0" indent="-228600">
              <a:lnSpc>
                <a:spcPct val="150000"/>
              </a:lnSpc>
              <a:buFont typeface="+mj-lt"/>
              <a:buAutoNum type="arabicPeriod"/>
            </a:pPr>
            <a:r>
              <a:rPr lang="en-IN" sz="1600"/>
              <a:t>SGD Logistic Regression</a:t>
            </a:r>
            <a:endParaRPr lang="en-US" sz="1600"/>
          </a:p>
          <a:p>
            <a:pPr marL="228600" lvl="0" indent="-228600">
              <a:lnSpc>
                <a:spcPct val="150000"/>
              </a:lnSpc>
              <a:buFont typeface="+mj-lt"/>
              <a:buAutoNum type="arabicPeriod"/>
            </a:pPr>
            <a:r>
              <a:rPr lang="en-IN" sz="1600" err="1"/>
              <a:t>XGBoost</a:t>
            </a:r>
            <a:endParaRPr lang="en-US" sz="1600"/>
          </a:p>
          <a:p>
            <a:endParaRPr lang="en-IN" sz="1600"/>
          </a:p>
          <a:p>
            <a:r>
              <a:rPr lang="en-IN" sz="1600"/>
              <a:t>So the experiment is now:</a:t>
            </a:r>
            <a:endParaRPr lang="en-US" sz="1600"/>
          </a:p>
          <a:p>
            <a:r>
              <a:rPr lang="en-IN" sz="1600"/>
              <a:t>28 feature variants (V1,V2,V3,V4 etc., with 500 and 1000 features</a:t>
            </a:r>
            <a:endParaRPr lang="en-US" sz="1600"/>
          </a:p>
          <a:p>
            <a:r>
              <a:rPr lang="en-IN" sz="1600"/>
              <a:t>        ×</a:t>
            </a:r>
            <a:endParaRPr lang="en-US" sz="1600"/>
          </a:p>
          <a:p>
            <a:r>
              <a:rPr lang="en-IN" sz="1600"/>
              <a:t>6 ML algorithms</a:t>
            </a:r>
            <a:endParaRPr lang="en-US" sz="1600"/>
          </a:p>
          <a:p>
            <a:r>
              <a:rPr lang="en-IN" sz="1600"/>
              <a:t>        =</a:t>
            </a:r>
            <a:endParaRPr lang="en-US" sz="1600"/>
          </a:p>
          <a:p>
            <a:r>
              <a:rPr lang="en-IN" sz="1600"/>
              <a:t>168 model experiments</a:t>
            </a:r>
          </a:p>
          <a:p>
            <a:endParaRPr lang="en-US" sz="1600"/>
          </a:p>
          <a:p>
            <a:r>
              <a:rPr lang="en-IN" sz="1600"/>
              <a:t>Each experiment uses: </a:t>
            </a:r>
            <a:r>
              <a:rPr lang="en-IN" sz="1600" b="1"/>
              <a:t>5 validation folds</a:t>
            </a:r>
            <a:endParaRPr lang="en-US" sz="1600"/>
          </a:p>
          <a:p>
            <a:endParaRPr lang="en-IN" sz="1600"/>
          </a:p>
          <a:p>
            <a:r>
              <a:rPr lang="en-IN" sz="1600"/>
              <a:t>So there are effectively: 168 × 5 = 840 fold-level evaluations.</a:t>
            </a:r>
            <a:endParaRPr lang="en-US" sz="160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6B94969-7DD3-D62A-F436-D1941658F9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0" y="0"/>
            <a:ext cx="457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 txBox="1"/>
          <p:nvPr/>
        </p:nvSpPr>
        <p:spPr>
          <a:xfrm>
            <a:off x="457200" y="36576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1111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Variants with Incremental Progress</a:t>
            </a:r>
            <a:endParaRPr lang="en-US" sz="2400">
              <a:solidFill>
                <a:srgbClr val="111184"/>
              </a:solidFill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558800" y="1168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variant adds one feature family to its parent. Rows (1.67M landings), labels, aircraft-grouped folds, and learner stay matched.</a:t>
            </a:r>
            <a:endParaRPr lang="en-US" sz="130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graphicFrame>
        <p:nvGraphicFramePr>
          <p:cNvPr id="7" name="Chart 0"/>
          <p:cNvGraphicFramePr/>
          <p:nvPr>
            <p:extLst>
              <p:ext uri="{D42A27DB-BD31-4B8C-83A1-F6EECF244321}">
                <p14:modId xmlns:p14="http://schemas.microsoft.com/office/powerpoint/2010/main" val="3512657541"/>
              </p:ext>
            </p:extLst>
          </p:nvPr>
        </p:nvGraphicFramePr>
        <p:xfrm>
          <a:off x="792480" y="1706880"/>
          <a:ext cx="10576560" cy="4759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 txBox="1"/>
          <p:nvPr/>
        </p:nvSpPr>
        <p:spPr>
          <a:xfrm>
            <a:off x="346759" y="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IN" sz="3600" b="1">
                <a:solidFill>
                  <a:srgbClr val="111184"/>
                </a:solidFill>
                <a:latin typeface="Book Antiqua" panose="02040602050305030304" pitchFamily="18" charset="0"/>
              </a:rPr>
              <a:t>Results</a:t>
            </a:r>
            <a:endParaRPr lang="en-US" sz="3200">
              <a:solidFill>
                <a:srgbClr val="111184"/>
              </a:solidFill>
              <a:latin typeface="Book Antiqua" panose="02040602050305030304" pitchFamily="18" charset="0"/>
            </a:endParaRPr>
          </a:p>
        </p:txBody>
      </p:sp>
      <p:sp>
        <p:nvSpPr>
          <p:cNvPr id="20" name="Text 17"/>
          <p:cNvSpPr txBox="1"/>
          <p:nvPr/>
        </p:nvSpPr>
        <p:spPr>
          <a:xfrm>
            <a:off x="346759" y="699874"/>
            <a:ext cx="5606366" cy="38878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600"/>
              <a:t>Strongest result we have obtained is </a:t>
            </a:r>
          </a:p>
          <a:p>
            <a:endParaRPr lang="en-IN" sz="1600"/>
          </a:p>
          <a:p>
            <a:r>
              <a:rPr lang="en-IN" sz="1600"/>
              <a:t>hybrid_v3_2_all_fault_landing_memory_ver05</a:t>
            </a:r>
            <a:endParaRPr lang="en-US" sz="1600"/>
          </a:p>
          <a:p>
            <a:r>
              <a:rPr lang="en-IN" sz="1600"/>
              <a:t>hybrid_v3_2 feature ranking</a:t>
            </a:r>
          </a:p>
          <a:p>
            <a:endParaRPr lang="en-US" sz="1600"/>
          </a:p>
          <a:p>
            <a:r>
              <a:rPr lang="en-IN" sz="1600"/>
              <a:t>Top 1000 with: </a:t>
            </a:r>
            <a:r>
              <a:rPr lang="en-IN" sz="1600" b="1"/>
              <a:t>Histogram Gradient Boosting</a:t>
            </a:r>
          </a:p>
          <a:p>
            <a:endParaRPr lang="en-IN" sz="1600" b="1"/>
          </a:p>
          <a:p>
            <a:r>
              <a:rPr lang="en-IN" sz="1600"/>
              <a:t>Another high-performing combination is:</a:t>
            </a:r>
          </a:p>
          <a:p>
            <a:endParaRPr lang="en-US" sz="1600"/>
          </a:p>
          <a:p>
            <a:r>
              <a:rPr lang="en-IN" sz="1600"/>
              <a:t>hybrid_v4b_2_8004_all_fault_memory_ver04</a:t>
            </a:r>
            <a:endParaRPr lang="en-US" sz="1600"/>
          </a:p>
          <a:p>
            <a:endParaRPr lang="en-IN" sz="1600"/>
          </a:p>
          <a:p>
            <a:r>
              <a:rPr lang="en-IN" sz="1600"/>
              <a:t>Top 1000: </a:t>
            </a:r>
            <a:r>
              <a:rPr lang="en-IN" sz="1600" b="1" err="1"/>
              <a:t>XGBoost</a:t>
            </a:r>
            <a:endParaRPr lang="en-US" sz="1600" b="1"/>
          </a:p>
          <a:p>
            <a:endParaRPr lang="en-IN" sz="1600"/>
          </a:p>
          <a:p>
            <a:r>
              <a:rPr lang="en-IN" sz="1600"/>
              <a:t>with: </a:t>
            </a:r>
            <a:r>
              <a:rPr lang="en-IN" sz="1600" b="1"/>
              <a:t>ROC-AUC ≈ 0.734</a:t>
            </a:r>
            <a:endParaRPr lang="en-US" sz="1600"/>
          </a:p>
          <a:p>
            <a:endParaRPr lang="en-IN" sz="1600"/>
          </a:p>
          <a:p>
            <a:r>
              <a:rPr lang="en-IN" sz="1600"/>
              <a:t>and: </a:t>
            </a:r>
            <a:r>
              <a:rPr lang="en-IN" sz="1600" b="1"/>
              <a:t>PR-AUC ≈ 0.123</a:t>
            </a:r>
            <a:endParaRPr lang="en-US" sz="1600"/>
          </a:p>
          <a:p>
            <a:endParaRPr lang="en-US" sz="1600"/>
          </a:p>
          <a:p>
            <a:endParaRPr lang="en-US" sz="140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1069024"/>
              </p:ext>
            </p:extLst>
          </p:nvPr>
        </p:nvGraphicFramePr>
        <p:xfrm>
          <a:off x="6726248" y="878520"/>
          <a:ext cx="3932862" cy="2699893"/>
        </p:xfrm>
        <a:graphic>
          <a:graphicData uri="http://schemas.openxmlformats.org/drawingml/2006/table">
            <a:tbl>
              <a:tblPr>
                <a:tableStyleId>{C083E6E3-FA7D-4D7B-A595-EF9225AFEA82}</a:tableStyleId>
              </a:tblPr>
              <a:tblGrid>
                <a:gridCol w="19664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64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224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400" b="1" kern="0"/>
                        <a:t>Metric</a:t>
                      </a:r>
                      <a:endParaRPr lang="en-US" sz="1400" kern="100">
                        <a:latin typeface="Aptos"/>
                        <a:ea typeface="Times New Roman"/>
                        <a:cs typeface="Times New Roman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400" b="1" kern="0"/>
                        <a:t>Result</a:t>
                      </a:r>
                      <a:endParaRPr lang="en-US" sz="1400" kern="100">
                        <a:latin typeface="Aptos"/>
                        <a:ea typeface="Times New Roman"/>
                        <a:cs typeface="Times New Roman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22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400" kern="0"/>
                        <a:t>ROC-AUC</a:t>
                      </a:r>
                      <a:endParaRPr lang="en-US" sz="1400" kern="100">
                        <a:latin typeface="Aptos"/>
                        <a:ea typeface="Times New Roman"/>
                        <a:cs typeface="Times New Roman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400" b="1" kern="0"/>
                        <a:t>0.7446</a:t>
                      </a:r>
                      <a:endParaRPr lang="en-US" sz="1400" kern="100">
                        <a:latin typeface="Aptos"/>
                        <a:ea typeface="Times New Roman"/>
                        <a:cs typeface="Times New Roman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22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400" kern="0"/>
                        <a:t>PR-AUC</a:t>
                      </a:r>
                      <a:endParaRPr lang="en-US" sz="1400" kern="100">
                        <a:latin typeface="Aptos"/>
                        <a:ea typeface="Times New Roman"/>
                        <a:cs typeface="Times New Roman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400" b="1" kern="0"/>
                        <a:t>0.1229</a:t>
                      </a:r>
                      <a:endParaRPr lang="en-US" sz="1400" kern="100">
                        <a:latin typeface="Aptos"/>
                        <a:ea typeface="Times New Roman"/>
                        <a:cs typeface="Times New Roman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22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400" kern="0"/>
                        <a:t>Prevalence</a:t>
                      </a:r>
                      <a:endParaRPr lang="en-US" sz="1400" kern="100">
                        <a:latin typeface="Aptos"/>
                        <a:ea typeface="Times New Roman"/>
                        <a:cs typeface="Times New Roman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400" b="1" kern="0"/>
                        <a:t>5.25%</a:t>
                      </a:r>
                      <a:endParaRPr lang="en-US" sz="1400" kern="100">
                        <a:latin typeface="Aptos"/>
                        <a:ea typeface="Times New Roman"/>
                        <a:cs typeface="Times New Roman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22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400" kern="0"/>
                        <a:t>PR Lift</a:t>
                      </a:r>
                      <a:endParaRPr lang="en-US" sz="1400" kern="100">
                        <a:latin typeface="Aptos"/>
                        <a:ea typeface="Times New Roman"/>
                        <a:cs typeface="Times New Roman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400" b="1" kern="0"/>
                        <a:t>2.34×</a:t>
                      </a:r>
                      <a:endParaRPr lang="en-US" sz="1400" kern="100">
                        <a:latin typeface="Aptos"/>
                        <a:ea typeface="Times New Roman"/>
                        <a:cs typeface="Times New Roman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22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400" kern="0"/>
                        <a:t>Features</a:t>
                      </a:r>
                      <a:endParaRPr lang="en-US" sz="1400" kern="100">
                        <a:latin typeface="Aptos"/>
                        <a:ea typeface="Times New Roman"/>
                        <a:cs typeface="Times New Roman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400" b="1" kern="0"/>
                        <a:t>995</a:t>
                      </a:r>
                      <a:endParaRPr lang="en-US" sz="1400" kern="100">
                        <a:latin typeface="Aptos"/>
                        <a:ea typeface="Times New Roman"/>
                        <a:cs typeface="Times New Roman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22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400" kern="0"/>
                        <a:t>Records</a:t>
                      </a:r>
                      <a:endParaRPr lang="en-US" sz="1400" kern="100">
                        <a:latin typeface="Aptos"/>
                        <a:ea typeface="Times New Roman"/>
                        <a:cs typeface="Times New Roman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IN" sz="1400" b="1" kern="0"/>
                        <a:t>1,669,294</a:t>
                      </a:r>
                      <a:endParaRPr lang="en-US" sz="1400" kern="100">
                        <a:latin typeface="Aptos"/>
                        <a:ea typeface="Times New Roman"/>
                        <a:cs typeface="Times New Roman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7105" name="Rectangle 1"/>
          <p:cNvSpPr>
            <a:spLocks noChangeArrowheads="1"/>
          </p:cNvSpPr>
          <p:nvPr/>
        </p:nvSpPr>
        <p:spPr bwMode="auto">
          <a:xfrm>
            <a:off x="86207" y="4271091"/>
            <a:ext cx="11489996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ea typeface="Times New Roman" pitchFamily="18" charset="0"/>
                <a:cs typeface="Times New Roman" pitchFamily="18" charset="0"/>
              </a:rPr>
              <a:t>Landing-level data + historical fault/memory features + landing features + cross-side engine comparisons → feature ranking → 500/1000 selected features → six ML algorithms → grouped aircraft-level validation → predict Fault 206 within 14 days.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ea typeface="Times New Roman" pitchFamily="18" charset="0"/>
                <a:cs typeface="Times New Roman" pitchFamily="18" charset="0"/>
              </a:rPr>
              <a:t>The strongest reported configuration is currently around </a:t>
            </a:r>
            <a:r>
              <a: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ea typeface="Times New Roman" pitchFamily="18" charset="0"/>
                <a:cs typeface="Times New Roman" pitchFamily="18" charset="0"/>
              </a:rPr>
              <a:t>ROC-AUC 0.745 and PR-AUC 0.123</a:t>
            </a:r>
            <a:r>
              <a:rPr kumimoji="0" 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ea typeface="Times New Roman" pitchFamily="18" charset="0"/>
                <a:cs typeface="Times New Roman" pitchFamily="18" charset="0"/>
              </a:rPr>
              <a:t>, with </a:t>
            </a:r>
            <a:r>
              <a:rPr kumimoji="0" 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ea typeface="Times New Roman" pitchFamily="18" charset="0"/>
                <a:cs typeface="Times New Roman" pitchFamily="18" charset="0"/>
              </a:rPr>
              <a:t>1.67 million prediction records and 5.25% positive prevalence</a:t>
            </a:r>
            <a:r>
              <a:rPr kumimoji="0" 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ea typeface="Times New Roman" pitchFamily="18" charset="0"/>
                <a:cs typeface="Times New Roman" pitchFamily="18" charset="0"/>
              </a:rPr>
              <a:t>.</a:t>
            </a:r>
            <a:endParaRPr kumimoji="0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</p:txBody>
      </p:sp>
      <p:sp>
        <p:nvSpPr>
          <p:cNvPr id="7" name="Shape 17">
            <a:extLst>
              <a:ext uri="{FF2B5EF4-FFF2-40B4-BE49-F238E27FC236}">
                <a16:creationId xmlns:a16="http://schemas.microsoft.com/office/drawing/2014/main" id="{8560CC06-5E8F-83E3-56A3-F4D48C1DBA14}"/>
              </a:ext>
            </a:extLst>
          </p:cNvPr>
          <p:cNvSpPr/>
          <p:nvPr/>
        </p:nvSpPr>
        <p:spPr>
          <a:xfrm>
            <a:off x="584200" y="5481320"/>
            <a:ext cx="10972800" cy="1371600"/>
          </a:xfrm>
          <a:prstGeom prst="roundRect">
            <a:avLst>
              <a:gd name="adj" fmla="val 5333"/>
            </a:avLst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Text 18">
            <a:extLst>
              <a:ext uri="{FF2B5EF4-FFF2-40B4-BE49-F238E27FC236}">
                <a16:creationId xmlns:a16="http://schemas.microsoft.com/office/drawing/2014/main" id="{CD642867-7F32-6189-6127-CBFD63AAD545}"/>
              </a:ext>
            </a:extLst>
          </p:cNvPr>
          <p:cNvSpPr txBox="1"/>
          <p:nvPr/>
        </p:nvSpPr>
        <p:spPr>
          <a:xfrm>
            <a:off x="868680" y="560628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The expected output is a plain-language, actionable alert — exactly the form this needs to take to be useful to a maintenance planner:</a:t>
            </a:r>
          </a:p>
        </p:txBody>
      </p:sp>
      <p:sp>
        <p:nvSpPr>
          <p:cNvPr id="11" name="Shape 19">
            <a:extLst>
              <a:ext uri="{FF2B5EF4-FFF2-40B4-BE49-F238E27FC236}">
                <a16:creationId xmlns:a16="http://schemas.microsoft.com/office/drawing/2014/main" id="{59C51EBB-35B6-6BDD-547E-CB8C7FC39006}"/>
              </a:ext>
            </a:extLst>
          </p:cNvPr>
          <p:cNvSpPr/>
          <p:nvPr/>
        </p:nvSpPr>
        <p:spPr>
          <a:xfrm>
            <a:off x="868680" y="6026912"/>
            <a:ext cx="10424160" cy="658368"/>
          </a:xfrm>
          <a:prstGeom prst="roundRect">
            <a:avLst>
              <a:gd name="adj" fmla="val 8333"/>
            </a:avLst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/>
          <a:lstStyle/>
          <a:p>
            <a:endParaRPr lang="en-IN"/>
          </a:p>
        </p:txBody>
      </p:sp>
      <p:sp>
        <p:nvSpPr>
          <p:cNvPr id="13" name="Text 20">
            <a:extLst>
              <a:ext uri="{FF2B5EF4-FFF2-40B4-BE49-F238E27FC236}">
                <a16:creationId xmlns:a16="http://schemas.microsoft.com/office/drawing/2014/main" id="{49BD70B6-7533-DF4D-96E4-3B61E75479BF}"/>
              </a:ext>
            </a:extLst>
          </p:cNvPr>
          <p:cNvSpPr txBox="1"/>
          <p:nvPr/>
        </p:nvSpPr>
        <p:spPr>
          <a:xfrm>
            <a:off x="1097280" y="6026912"/>
            <a:ext cx="9966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“Tail N12345 — RIGHT engine shows a rising thrust reverser precursor signature over the last 5 landings. Recommend inspection within 14 days.”</a:t>
            </a:r>
            <a:endParaRPr lang="en-US" sz="13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6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TextBox 38"/>
          <p:cNvSpPr txBox="1"/>
          <p:nvPr/>
        </p:nvSpPr>
        <p:spPr>
          <a:xfrm>
            <a:off x="534714" y="1086432"/>
            <a:ext cx="854800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1117F"/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rPr b="0">
                <a:latin typeface="Aptos" panose="020B0004020202020204" pitchFamily="34" charset="0"/>
              </a:rPr>
              <a:t>Moving from Strategy to Action — Together</a:t>
            </a:r>
          </a:p>
        </p:txBody>
      </p:sp>
      <p:sp>
        <p:nvSpPr>
          <p:cNvPr id="2" name="Title 16">
            <a:extLst>
              <a:ext uri="{FF2B5EF4-FFF2-40B4-BE49-F238E27FC236}">
                <a16:creationId xmlns:a16="http://schemas.microsoft.com/office/drawing/2014/main" id="{A4AAAB0F-87A5-49A8-870A-FA0CA3086D30}"/>
              </a:ext>
            </a:extLst>
          </p:cNvPr>
          <p:cNvSpPr txBox="1"/>
          <p:nvPr/>
        </p:nvSpPr>
        <p:spPr>
          <a:xfrm>
            <a:off x="558716" y="301752"/>
            <a:ext cx="8802997" cy="7056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 anchor="b">
            <a:spAutoFit/>
          </a:bodyPr>
          <a:lstStyle>
            <a:lvl1pPr>
              <a:lnSpc>
                <a:spcPct val="90000"/>
              </a:lnSpc>
              <a:spcBef>
                <a:spcPts val="600"/>
              </a:spcBef>
              <a:defRPr sz="4400" b="1">
                <a:latin typeface="Book Antiqua"/>
                <a:ea typeface="Book Antiqua"/>
                <a:cs typeface="Book Antiqua"/>
                <a:sym typeface="Book Antiqua"/>
              </a:defRPr>
            </a:lvl1pPr>
          </a:lstStyle>
          <a:p>
            <a:r>
              <a:rPr lang="en-US">
                <a:latin typeface="Aptos" panose="020B0004020202020204" pitchFamily="34" charset="0"/>
              </a:rPr>
              <a:t>Next Steps &amp; Path Forward</a:t>
            </a:r>
            <a:endParaRPr>
              <a:latin typeface="Aptos" panose="020B0004020202020204" pitchFamily="34" charset="0"/>
            </a:endParaRPr>
          </a:p>
        </p:txBody>
      </p:sp>
      <p:sp>
        <p:nvSpPr>
          <p:cNvPr id="53" name="Shape 5">
            <a:extLst>
              <a:ext uri="{FF2B5EF4-FFF2-40B4-BE49-F238E27FC236}">
                <a16:creationId xmlns:a16="http://schemas.microsoft.com/office/drawing/2014/main" id="{6475F384-5B82-FED4-1EBD-D3247A6EDF65}"/>
              </a:ext>
            </a:extLst>
          </p:cNvPr>
          <p:cNvSpPr/>
          <p:nvPr/>
        </p:nvSpPr>
        <p:spPr>
          <a:xfrm>
            <a:off x="594360" y="3017520"/>
            <a:ext cx="1965960" cy="2011680"/>
          </a:xfrm>
          <a:prstGeom prst="roundRect">
            <a:avLst>
              <a:gd name="adj" fmla="val 2791"/>
            </a:avLst>
          </a:prstGeom>
          <a:solidFill>
            <a:srgbClr val="0D2033"/>
          </a:solidFill>
          <a:ln w="19050">
            <a:solidFill>
              <a:srgbClr val="31C8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Shape 6">
            <a:extLst>
              <a:ext uri="{FF2B5EF4-FFF2-40B4-BE49-F238E27FC236}">
                <a16:creationId xmlns:a16="http://schemas.microsoft.com/office/drawing/2014/main" id="{508DBB60-0788-4B27-4D18-7A54A174CD1C}"/>
              </a:ext>
            </a:extLst>
          </p:cNvPr>
          <p:cNvSpPr/>
          <p:nvPr/>
        </p:nvSpPr>
        <p:spPr>
          <a:xfrm>
            <a:off x="1252728" y="3310128"/>
            <a:ext cx="658368" cy="658368"/>
          </a:xfrm>
          <a:prstGeom prst="ellipse">
            <a:avLst/>
          </a:prstGeom>
          <a:solidFill>
            <a:srgbClr val="31C8E5">
              <a:alpha val="9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7">
            <a:extLst>
              <a:ext uri="{FF2B5EF4-FFF2-40B4-BE49-F238E27FC236}">
                <a16:creationId xmlns:a16="http://schemas.microsoft.com/office/drawing/2014/main" id="{9F5AB918-4A37-0598-86D6-0A656C9970EA}"/>
              </a:ext>
            </a:extLst>
          </p:cNvPr>
          <p:cNvSpPr/>
          <p:nvPr/>
        </p:nvSpPr>
        <p:spPr>
          <a:xfrm>
            <a:off x="1252728" y="3456432"/>
            <a:ext cx="6583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hangingPunct="1"/>
            <a:r>
              <a:rPr lang="en-US" b="1" kern="1200">
                <a:solidFill>
                  <a:srgbClr val="07111F"/>
                </a:solidFill>
                <a:latin typeface="Calibri" panose="020F0502020204030204"/>
              </a:rPr>
              <a:t>↑</a:t>
            </a:r>
            <a:endParaRPr lang="en-US" kern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6" name="Text 8">
            <a:extLst>
              <a:ext uri="{FF2B5EF4-FFF2-40B4-BE49-F238E27FC236}">
                <a16:creationId xmlns:a16="http://schemas.microsoft.com/office/drawing/2014/main" id="{E462D7B9-EB9B-4FA3-E889-C3FA6E53A14B}"/>
              </a:ext>
            </a:extLst>
          </p:cNvPr>
          <p:cNvSpPr/>
          <p:nvPr/>
        </p:nvSpPr>
        <p:spPr>
          <a:xfrm>
            <a:off x="777240" y="416052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hangingPunct="1"/>
            <a:r>
              <a:rPr lang="en-US" sz="1300" b="1" kern="1200">
                <a:solidFill>
                  <a:srgbClr val="F3F7FA"/>
                </a:solidFill>
                <a:latin typeface="Calibri" panose="020F0502020204030204"/>
              </a:rPr>
              <a:t>Availability</a:t>
            </a:r>
            <a:endParaRPr lang="en-US" sz="1300" kern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7" name="Text 9">
            <a:extLst>
              <a:ext uri="{FF2B5EF4-FFF2-40B4-BE49-F238E27FC236}">
                <a16:creationId xmlns:a16="http://schemas.microsoft.com/office/drawing/2014/main" id="{A99D24F9-43D3-A3AB-3066-DDC98EB7559C}"/>
              </a:ext>
            </a:extLst>
          </p:cNvPr>
          <p:cNvSpPr/>
          <p:nvPr/>
        </p:nvSpPr>
        <p:spPr>
          <a:xfrm>
            <a:off x="777240" y="4535424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hangingPunct="1"/>
            <a:r>
              <a:rPr lang="en-US" sz="980" kern="1200">
                <a:solidFill>
                  <a:srgbClr val="9CB1C1"/>
                </a:solidFill>
                <a:latin typeface="Calibri" panose="020F0502020204030204"/>
              </a:rPr>
              <a:t>Convert surprise removals into planned maintenance windows</a:t>
            </a:r>
            <a:endParaRPr lang="en-US" sz="980" kern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8" name="Shape 10">
            <a:extLst>
              <a:ext uri="{FF2B5EF4-FFF2-40B4-BE49-F238E27FC236}">
                <a16:creationId xmlns:a16="http://schemas.microsoft.com/office/drawing/2014/main" id="{136B38F7-FA01-0407-9C0F-0272266C5EE2}"/>
              </a:ext>
            </a:extLst>
          </p:cNvPr>
          <p:cNvSpPr/>
          <p:nvPr/>
        </p:nvSpPr>
        <p:spPr>
          <a:xfrm>
            <a:off x="2816352" y="3017520"/>
            <a:ext cx="1965960" cy="2011680"/>
          </a:xfrm>
          <a:prstGeom prst="roundRect">
            <a:avLst>
              <a:gd name="adj" fmla="val 2791"/>
            </a:avLst>
          </a:prstGeom>
          <a:solidFill>
            <a:srgbClr val="0D2033"/>
          </a:solidFill>
          <a:ln w="19050">
            <a:solidFill>
              <a:srgbClr val="44D2B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Shape 11">
            <a:extLst>
              <a:ext uri="{FF2B5EF4-FFF2-40B4-BE49-F238E27FC236}">
                <a16:creationId xmlns:a16="http://schemas.microsoft.com/office/drawing/2014/main" id="{DF236CB1-29FE-DCE7-7980-C4C1DA21B470}"/>
              </a:ext>
            </a:extLst>
          </p:cNvPr>
          <p:cNvSpPr/>
          <p:nvPr/>
        </p:nvSpPr>
        <p:spPr>
          <a:xfrm>
            <a:off x="3474720" y="3310128"/>
            <a:ext cx="658368" cy="658368"/>
          </a:xfrm>
          <a:prstGeom prst="ellipse">
            <a:avLst/>
          </a:prstGeom>
          <a:solidFill>
            <a:srgbClr val="44D2B0">
              <a:alpha val="9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12">
            <a:extLst>
              <a:ext uri="{FF2B5EF4-FFF2-40B4-BE49-F238E27FC236}">
                <a16:creationId xmlns:a16="http://schemas.microsoft.com/office/drawing/2014/main" id="{49A70316-9CCB-971A-656A-6A87D9FC3C6A}"/>
              </a:ext>
            </a:extLst>
          </p:cNvPr>
          <p:cNvSpPr/>
          <p:nvPr/>
        </p:nvSpPr>
        <p:spPr>
          <a:xfrm>
            <a:off x="3474720" y="3456432"/>
            <a:ext cx="6583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hangingPunct="1"/>
            <a:r>
              <a:rPr lang="en-US" b="1" kern="1200">
                <a:solidFill>
                  <a:srgbClr val="07111F"/>
                </a:solidFill>
                <a:latin typeface="Calibri" panose="020F0502020204030204"/>
              </a:rPr>
              <a:t>↓</a:t>
            </a:r>
            <a:endParaRPr lang="en-US" kern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1" name="Text 13">
            <a:extLst>
              <a:ext uri="{FF2B5EF4-FFF2-40B4-BE49-F238E27FC236}">
                <a16:creationId xmlns:a16="http://schemas.microsoft.com/office/drawing/2014/main" id="{44322972-61FF-8203-0BEA-FE5D3A37FDF5}"/>
              </a:ext>
            </a:extLst>
          </p:cNvPr>
          <p:cNvSpPr/>
          <p:nvPr/>
        </p:nvSpPr>
        <p:spPr>
          <a:xfrm>
            <a:off x="2999232" y="416052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hangingPunct="1"/>
            <a:r>
              <a:rPr lang="en-US" sz="1300" b="1" kern="1200">
                <a:solidFill>
                  <a:srgbClr val="F3F7FA"/>
                </a:solidFill>
                <a:latin typeface="Calibri" panose="020F0502020204030204"/>
              </a:rPr>
              <a:t>Labor</a:t>
            </a:r>
            <a:endParaRPr lang="en-US" sz="1300" kern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2" name="Text 14">
            <a:extLst>
              <a:ext uri="{FF2B5EF4-FFF2-40B4-BE49-F238E27FC236}">
                <a16:creationId xmlns:a16="http://schemas.microsoft.com/office/drawing/2014/main" id="{F593408A-FA9F-A53C-ECD0-F2B957E9BBBD}"/>
              </a:ext>
            </a:extLst>
          </p:cNvPr>
          <p:cNvSpPr/>
          <p:nvPr/>
        </p:nvSpPr>
        <p:spPr>
          <a:xfrm>
            <a:off x="2999232" y="4535424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hangingPunct="1"/>
            <a:r>
              <a:rPr lang="en-US" sz="980" kern="1200">
                <a:solidFill>
                  <a:srgbClr val="9CB1C1"/>
                </a:solidFill>
                <a:latin typeface="Calibri" panose="020F0502020204030204"/>
              </a:rPr>
              <a:t>Reduce manual search and shorten fault isolation</a:t>
            </a:r>
            <a:endParaRPr lang="en-US" sz="980" kern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3" name="Shape 15">
            <a:extLst>
              <a:ext uri="{FF2B5EF4-FFF2-40B4-BE49-F238E27FC236}">
                <a16:creationId xmlns:a16="http://schemas.microsoft.com/office/drawing/2014/main" id="{9A69C145-64FF-5D8D-3571-64D17C6EB4F7}"/>
              </a:ext>
            </a:extLst>
          </p:cNvPr>
          <p:cNvSpPr/>
          <p:nvPr/>
        </p:nvSpPr>
        <p:spPr>
          <a:xfrm>
            <a:off x="5038344" y="3017520"/>
            <a:ext cx="1965960" cy="2011680"/>
          </a:xfrm>
          <a:prstGeom prst="roundRect">
            <a:avLst>
              <a:gd name="adj" fmla="val 2791"/>
            </a:avLst>
          </a:prstGeom>
          <a:solidFill>
            <a:srgbClr val="0D2033"/>
          </a:solidFill>
          <a:ln w="19050">
            <a:solidFill>
              <a:srgbClr val="FFB54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0" name="Shape 16">
            <a:extLst>
              <a:ext uri="{FF2B5EF4-FFF2-40B4-BE49-F238E27FC236}">
                <a16:creationId xmlns:a16="http://schemas.microsoft.com/office/drawing/2014/main" id="{0A529447-D123-8111-4243-AD0AF7A53E16}"/>
              </a:ext>
            </a:extLst>
          </p:cNvPr>
          <p:cNvSpPr/>
          <p:nvPr/>
        </p:nvSpPr>
        <p:spPr>
          <a:xfrm>
            <a:off x="5696712" y="3310128"/>
            <a:ext cx="658368" cy="658368"/>
          </a:xfrm>
          <a:prstGeom prst="ellipse">
            <a:avLst/>
          </a:prstGeom>
          <a:solidFill>
            <a:srgbClr val="FFB547">
              <a:alpha val="9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1" name="Text 17">
            <a:extLst>
              <a:ext uri="{FF2B5EF4-FFF2-40B4-BE49-F238E27FC236}">
                <a16:creationId xmlns:a16="http://schemas.microsoft.com/office/drawing/2014/main" id="{6792FB41-2C4D-DCBB-E561-7F6774D1ADED}"/>
              </a:ext>
            </a:extLst>
          </p:cNvPr>
          <p:cNvSpPr/>
          <p:nvPr/>
        </p:nvSpPr>
        <p:spPr>
          <a:xfrm>
            <a:off x="5696712" y="3456432"/>
            <a:ext cx="6583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hangingPunct="1"/>
            <a:r>
              <a:rPr lang="en-US" b="1" kern="1200">
                <a:solidFill>
                  <a:srgbClr val="07111F"/>
                </a:solidFill>
                <a:latin typeface="Calibri" panose="020F0502020204030204"/>
              </a:rPr>
              <a:t>◎</a:t>
            </a:r>
            <a:endParaRPr lang="en-US" kern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2" name="Text 18">
            <a:extLst>
              <a:ext uri="{FF2B5EF4-FFF2-40B4-BE49-F238E27FC236}">
                <a16:creationId xmlns:a16="http://schemas.microsoft.com/office/drawing/2014/main" id="{A9CBB45E-74CB-B5D7-8DBE-C1E500985957}"/>
              </a:ext>
            </a:extLst>
          </p:cNvPr>
          <p:cNvSpPr/>
          <p:nvPr/>
        </p:nvSpPr>
        <p:spPr>
          <a:xfrm>
            <a:off x="5221224" y="416052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hangingPunct="1"/>
            <a:r>
              <a:rPr lang="en-US" sz="1300" b="1" kern="1200">
                <a:solidFill>
                  <a:srgbClr val="F3F7FA"/>
                </a:solidFill>
                <a:latin typeface="Calibri" panose="020F0502020204030204"/>
              </a:rPr>
              <a:t>Material</a:t>
            </a:r>
            <a:endParaRPr lang="en-US" sz="1300" kern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3" name="Text 19">
            <a:extLst>
              <a:ext uri="{FF2B5EF4-FFF2-40B4-BE49-F238E27FC236}">
                <a16:creationId xmlns:a16="http://schemas.microsoft.com/office/drawing/2014/main" id="{E36C86A3-AD87-997A-DA04-A2275847DA25}"/>
              </a:ext>
            </a:extLst>
          </p:cNvPr>
          <p:cNvSpPr/>
          <p:nvPr/>
        </p:nvSpPr>
        <p:spPr>
          <a:xfrm>
            <a:off x="5221224" y="4535424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hangingPunct="1"/>
            <a:r>
              <a:rPr lang="en-US" sz="980" kern="1200">
                <a:solidFill>
                  <a:srgbClr val="9CB1C1"/>
                </a:solidFill>
                <a:latin typeface="Calibri" panose="020F0502020204030204"/>
              </a:rPr>
              <a:t>Replace the right component instead of broad troubleshooting</a:t>
            </a:r>
            <a:endParaRPr lang="en-US" sz="980" kern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4" name="Shape 20">
            <a:extLst>
              <a:ext uri="{FF2B5EF4-FFF2-40B4-BE49-F238E27FC236}">
                <a16:creationId xmlns:a16="http://schemas.microsoft.com/office/drawing/2014/main" id="{E0A47C98-1407-F49B-F83B-731C70445621}"/>
              </a:ext>
            </a:extLst>
          </p:cNvPr>
          <p:cNvSpPr/>
          <p:nvPr/>
        </p:nvSpPr>
        <p:spPr>
          <a:xfrm>
            <a:off x="7260336" y="3017520"/>
            <a:ext cx="1965960" cy="2011680"/>
          </a:xfrm>
          <a:prstGeom prst="roundRect">
            <a:avLst>
              <a:gd name="adj" fmla="val 2791"/>
            </a:avLst>
          </a:prstGeom>
          <a:solidFill>
            <a:srgbClr val="0D2033"/>
          </a:solidFill>
          <a:ln w="19050">
            <a:solidFill>
              <a:srgbClr val="B6E66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5" name="Shape 21">
            <a:extLst>
              <a:ext uri="{FF2B5EF4-FFF2-40B4-BE49-F238E27FC236}">
                <a16:creationId xmlns:a16="http://schemas.microsoft.com/office/drawing/2014/main" id="{F5AB816C-FA84-71A6-B1E3-993DF7730500}"/>
              </a:ext>
            </a:extLst>
          </p:cNvPr>
          <p:cNvSpPr/>
          <p:nvPr/>
        </p:nvSpPr>
        <p:spPr>
          <a:xfrm>
            <a:off x="7918704" y="3310128"/>
            <a:ext cx="658368" cy="658368"/>
          </a:xfrm>
          <a:prstGeom prst="ellipse">
            <a:avLst/>
          </a:prstGeom>
          <a:solidFill>
            <a:srgbClr val="B6E66A">
              <a:alpha val="9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6" name="Text 22">
            <a:extLst>
              <a:ext uri="{FF2B5EF4-FFF2-40B4-BE49-F238E27FC236}">
                <a16:creationId xmlns:a16="http://schemas.microsoft.com/office/drawing/2014/main" id="{CDE96A8D-9FB2-0D9C-3E44-E336329F5533}"/>
              </a:ext>
            </a:extLst>
          </p:cNvPr>
          <p:cNvSpPr/>
          <p:nvPr/>
        </p:nvSpPr>
        <p:spPr>
          <a:xfrm>
            <a:off x="7918704" y="3456432"/>
            <a:ext cx="6583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hangingPunct="1"/>
            <a:r>
              <a:rPr lang="en-US" b="1" kern="1200">
                <a:solidFill>
                  <a:srgbClr val="07111F"/>
                </a:solidFill>
                <a:latin typeface="Calibri" panose="020F0502020204030204"/>
              </a:rPr>
              <a:t>▦</a:t>
            </a:r>
            <a:endParaRPr lang="en-US" kern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7" name="Text 23">
            <a:extLst>
              <a:ext uri="{FF2B5EF4-FFF2-40B4-BE49-F238E27FC236}">
                <a16:creationId xmlns:a16="http://schemas.microsoft.com/office/drawing/2014/main" id="{545803F2-E012-B920-FC7D-F67C664920A1}"/>
              </a:ext>
            </a:extLst>
          </p:cNvPr>
          <p:cNvSpPr/>
          <p:nvPr/>
        </p:nvSpPr>
        <p:spPr>
          <a:xfrm>
            <a:off x="7443216" y="416052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hangingPunct="1"/>
            <a:r>
              <a:rPr lang="en-US" sz="1300" b="1" kern="1200">
                <a:solidFill>
                  <a:srgbClr val="F3F7FA"/>
                </a:solidFill>
                <a:latin typeface="Calibri" panose="020F0502020204030204"/>
              </a:rPr>
              <a:t>Inventory</a:t>
            </a:r>
            <a:endParaRPr lang="en-US" sz="1300" kern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8" name="Text 24">
            <a:extLst>
              <a:ext uri="{FF2B5EF4-FFF2-40B4-BE49-F238E27FC236}">
                <a16:creationId xmlns:a16="http://schemas.microsoft.com/office/drawing/2014/main" id="{6FC9A36A-B898-C70A-B135-CA61557A42C8}"/>
              </a:ext>
            </a:extLst>
          </p:cNvPr>
          <p:cNvSpPr/>
          <p:nvPr/>
        </p:nvSpPr>
        <p:spPr>
          <a:xfrm>
            <a:off x="7443216" y="4535424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hangingPunct="1"/>
            <a:r>
              <a:rPr lang="en-US" sz="980" kern="1200">
                <a:solidFill>
                  <a:srgbClr val="9CB1C1"/>
                </a:solidFill>
                <a:latin typeface="Calibri" panose="020F0502020204030204"/>
              </a:rPr>
              <a:t>Stage spares against measured risk, not blanket assumptions</a:t>
            </a:r>
            <a:endParaRPr lang="en-US" sz="980" kern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29" name="Shape 25">
            <a:extLst>
              <a:ext uri="{FF2B5EF4-FFF2-40B4-BE49-F238E27FC236}">
                <a16:creationId xmlns:a16="http://schemas.microsoft.com/office/drawing/2014/main" id="{24A3C0B0-3A0A-8395-E6AB-A5AB68AAAFEA}"/>
              </a:ext>
            </a:extLst>
          </p:cNvPr>
          <p:cNvSpPr/>
          <p:nvPr/>
        </p:nvSpPr>
        <p:spPr>
          <a:xfrm>
            <a:off x="9482328" y="3017520"/>
            <a:ext cx="1965960" cy="2011680"/>
          </a:xfrm>
          <a:prstGeom prst="roundRect">
            <a:avLst>
              <a:gd name="adj" fmla="val 2791"/>
            </a:avLst>
          </a:prstGeom>
          <a:solidFill>
            <a:srgbClr val="0D2033"/>
          </a:solidFill>
          <a:ln w="19050">
            <a:solidFill>
              <a:srgbClr val="FF667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0" name="Shape 26">
            <a:extLst>
              <a:ext uri="{FF2B5EF4-FFF2-40B4-BE49-F238E27FC236}">
                <a16:creationId xmlns:a16="http://schemas.microsoft.com/office/drawing/2014/main" id="{AD3736A7-E0B1-EF75-3872-77660C473D1A}"/>
              </a:ext>
            </a:extLst>
          </p:cNvPr>
          <p:cNvSpPr/>
          <p:nvPr/>
        </p:nvSpPr>
        <p:spPr>
          <a:xfrm>
            <a:off x="10140696" y="3310128"/>
            <a:ext cx="658368" cy="658368"/>
          </a:xfrm>
          <a:prstGeom prst="ellipse">
            <a:avLst/>
          </a:prstGeom>
          <a:solidFill>
            <a:srgbClr val="FF6673">
              <a:alpha val="9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1" name="Text 27">
            <a:extLst>
              <a:ext uri="{FF2B5EF4-FFF2-40B4-BE49-F238E27FC236}">
                <a16:creationId xmlns:a16="http://schemas.microsoft.com/office/drawing/2014/main" id="{3AE60F3A-28A3-F505-D711-81755E560011}"/>
              </a:ext>
            </a:extLst>
          </p:cNvPr>
          <p:cNvSpPr/>
          <p:nvPr/>
        </p:nvSpPr>
        <p:spPr>
          <a:xfrm>
            <a:off x="10140696" y="3456432"/>
            <a:ext cx="6583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hangingPunct="1"/>
            <a:r>
              <a:rPr lang="en-US" b="1" kern="1200">
                <a:solidFill>
                  <a:srgbClr val="07111F"/>
                </a:solidFill>
                <a:latin typeface="Calibri" panose="020F0502020204030204"/>
              </a:rPr>
              <a:t>↻</a:t>
            </a:r>
            <a:endParaRPr lang="en-US" kern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2" name="Text 28">
            <a:extLst>
              <a:ext uri="{FF2B5EF4-FFF2-40B4-BE49-F238E27FC236}">
                <a16:creationId xmlns:a16="http://schemas.microsoft.com/office/drawing/2014/main" id="{2C77D48E-309B-0290-452D-71EAB3303A90}"/>
              </a:ext>
            </a:extLst>
          </p:cNvPr>
          <p:cNvSpPr/>
          <p:nvPr/>
        </p:nvSpPr>
        <p:spPr>
          <a:xfrm>
            <a:off x="9665208" y="416052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hangingPunct="1"/>
            <a:r>
              <a:rPr lang="en-US" sz="1300" b="1" kern="1200">
                <a:solidFill>
                  <a:srgbClr val="F3F7FA"/>
                </a:solidFill>
                <a:latin typeface="Calibri" panose="020F0502020204030204"/>
              </a:rPr>
              <a:t>Customer impact</a:t>
            </a:r>
            <a:endParaRPr lang="en-US" sz="1300" kern="12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33" name="Text 29">
            <a:extLst>
              <a:ext uri="{FF2B5EF4-FFF2-40B4-BE49-F238E27FC236}">
                <a16:creationId xmlns:a16="http://schemas.microsoft.com/office/drawing/2014/main" id="{499B26DB-A3D0-B4AC-8E2D-D438AADAF674}"/>
              </a:ext>
            </a:extLst>
          </p:cNvPr>
          <p:cNvSpPr/>
          <p:nvPr/>
        </p:nvSpPr>
        <p:spPr>
          <a:xfrm>
            <a:off x="9665208" y="4535424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hangingPunct="1"/>
            <a:r>
              <a:rPr lang="en-US" sz="980" kern="1200">
                <a:solidFill>
                  <a:srgbClr val="9CB1C1"/>
                </a:solidFill>
                <a:latin typeface="Calibri" panose="020F0502020204030204"/>
              </a:rPr>
              <a:t>Reduce delays, cancellations and no-dispatch exposure</a:t>
            </a:r>
            <a:endParaRPr lang="en-US" sz="980" kern="1200">
              <a:solidFill>
                <a:prstClr val="black"/>
              </a:solidFill>
              <a:latin typeface="Calibri" panose="020F0502020204030204"/>
            </a:endParaRPr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4691" y="66621"/>
            <a:ext cx="1063969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061C2C"/>
                </a:solidFill>
              </a:rPr>
              <a:t>Current scenario: cost of unplanned maintenance by fleet scale</a:t>
            </a:r>
            <a:endParaRPr lang="en-US" sz="2600"/>
          </a:p>
        </p:txBody>
      </p:sp>
      <p:sp>
        <p:nvSpPr>
          <p:cNvPr id="3" name="Text 1"/>
          <p:cNvSpPr/>
          <p:nvPr/>
        </p:nvSpPr>
        <p:spPr>
          <a:xfrm>
            <a:off x="524692" y="59109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607487"/>
                </a:solidFill>
              </a:rPr>
              <a:t>Failure-driven costs create material, labour, logistics and operational disruption exposure.</a:t>
            </a:r>
            <a:endParaRPr lang="en-US" sz="1150"/>
          </a:p>
        </p:txBody>
      </p:sp>
      <p:sp>
        <p:nvSpPr>
          <p:cNvPr id="4" name="Shape 2"/>
          <p:cNvSpPr/>
          <p:nvPr/>
        </p:nvSpPr>
        <p:spPr>
          <a:xfrm>
            <a:off x="524692" y="938566"/>
            <a:ext cx="1143000" cy="45720"/>
          </a:xfrm>
          <a:prstGeom prst="rect">
            <a:avLst/>
          </a:prstGeom>
          <a:solidFill>
            <a:srgbClr val="D64B3C"/>
          </a:solidFill>
          <a:ln w="12700">
            <a:solidFill>
              <a:srgbClr val="D64B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3281037"/>
              </p:ext>
            </p:extLst>
          </p:nvPr>
        </p:nvGraphicFramePr>
        <p:xfrm>
          <a:off x="524692" y="1059615"/>
          <a:ext cx="6381205" cy="2752344"/>
        </p:xfrm>
        <a:graphic>
          <a:graphicData uri="http://schemas.openxmlformats.org/drawingml/2006/table">
            <a:tbl>
              <a:tblPr/>
              <a:tblGrid>
                <a:gridCol w="2512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58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27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Cost component</a:t>
                      </a:r>
                      <a:endParaRPr lang="en-US" sz="11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1C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 cost / event</a:t>
                      </a:r>
                      <a:endParaRPr lang="en-US" sz="11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1C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Calculation role</a:t>
                      </a:r>
                      <a:endParaRPr lang="en-US" sz="11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1C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2135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Direct material</a:t>
                      </a:r>
                      <a:endParaRPr lang="en-US" sz="11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2135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$65,000</a:t>
                      </a:r>
                      <a:endParaRPr lang="en-US" sz="11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2135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Replacement parts after failure</a:t>
                      </a:r>
                      <a:endParaRPr lang="en-US" sz="11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2135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Direct labour</a:t>
                      </a:r>
                      <a:endParaRPr lang="en-US" sz="11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2135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$20,000</a:t>
                      </a:r>
                      <a:endParaRPr lang="en-US" sz="11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2135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Unplanned maintenance effort</a:t>
                      </a:r>
                      <a:endParaRPr lang="en-US" sz="11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2135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Logistics &amp; freight</a:t>
                      </a:r>
                      <a:endParaRPr lang="en-US" sz="11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2135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$7,500</a:t>
                      </a:r>
                      <a:endParaRPr lang="en-US" sz="11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2135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Expedited movement of parts</a:t>
                      </a:r>
                      <a:endParaRPr lang="en-US" sz="11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2135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Operational downtime</a:t>
                      </a:r>
                      <a:endParaRPr lang="en-US" sz="11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2135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$40,000</a:t>
                      </a:r>
                      <a:endParaRPr lang="en-US" sz="11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2135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Unavailable operating time</a:t>
                      </a:r>
                      <a:endParaRPr lang="en-US" sz="11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2135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Passenger &amp; crew accommodation</a:t>
                      </a:r>
                      <a:endParaRPr lang="en-US" sz="11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2135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$10,000</a:t>
                      </a:r>
                      <a:endParaRPr lang="en-US" sz="11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2135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Disruption-related support</a:t>
                      </a:r>
                      <a:endParaRPr lang="en-US" sz="11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2135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Unplanned repair subtotal</a:t>
                      </a:r>
                      <a:endParaRPr lang="en-US" sz="11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2135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$142,500</a:t>
                      </a:r>
                      <a:endParaRPr lang="en-US" sz="11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2135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Per failure event</a:t>
                      </a:r>
                      <a:endParaRPr lang="en-US" sz="11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" name="Text 9"/>
          <p:cNvSpPr/>
          <p:nvPr/>
        </p:nvSpPr>
        <p:spPr>
          <a:xfrm>
            <a:off x="11064240" y="654710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748595"/>
                </a:solidFill>
              </a:rPr>
              <a:t>2</a:t>
            </a:r>
            <a:endParaRPr lang="en-US" sz="750"/>
          </a:p>
        </p:txBody>
      </p:sp>
      <p:graphicFrame>
        <p:nvGraphicFramePr>
          <p:cNvPr id="19" name="Table 0">
            <a:extLst>
              <a:ext uri="{FF2B5EF4-FFF2-40B4-BE49-F238E27FC236}">
                <a16:creationId xmlns:a16="http://schemas.microsoft.com/office/drawing/2014/main" id="{D19D03F2-3DCC-F136-E956-1CFC9A182B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0330398"/>
              </p:ext>
            </p:extLst>
          </p:nvPr>
        </p:nvGraphicFramePr>
        <p:xfrm>
          <a:off x="7132319" y="1088135"/>
          <a:ext cx="4853204" cy="2723825"/>
        </p:xfrm>
        <a:graphic>
          <a:graphicData uri="http://schemas.openxmlformats.org/drawingml/2006/table">
            <a:tbl>
              <a:tblPr/>
              <a:tblGrid>
                <a:gridCol w="20295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24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12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6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Calculation item</a:t>
                      </a:r>
                      <a:endParaRPr lang="en-US" sz="11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1C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100 engines</a:t>
                      </a:r>
                      <a:endParaRPr lang="en-US" sz="11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1C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4,000 engines</a:t>
                      </a:r>
                      <a:endParaRPr lang="en-US" sz="11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1C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6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2135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Engines in scope</a:t>
                      </a:r>
                      <a:endParaRPr lang="en-US" sz="11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2135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100</a:t>
                      </a:r>
                      <a:endParaRPr lang="en-US" sz="11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2135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4,000</a:t>
                      </a:r>
                      <a:endParaRPr lang="en-US" sz="11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6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2135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Expected failures at 5%</a:t>
                      </a:r>
                      <a:endParaRPr lang="en-US" sz="11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2135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</a:t>
                      </a:r>
                      <a:endParaRPr lang="en-US" sz="11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2135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200</a:t>
                      </a:r>
                      <a:endParaRPr lang="en-US" sz="11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14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2135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Unplanned repairs</a:t>
                      </a:r>
                      <a:endParaRPr lang="en-US" sz="11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2135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 × $142,500 = $712,500</a:t>
                      </a:r>
                      <a:endParaRPr lang="en-US" sz="11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2135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200 × $142,500 = $28,500,000</a:t>
                      </a:r>
                      <a:endParaRPr lang="en-US" sz="11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6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2135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Periodic inspections / tests</a:t>
                      </a:r>
                      <a:endParaRPr lang="en-US" sz="11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2135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$180,000</a:t>
                      </a:r>
                      <a:endParaRPr lang="en-US" sz="11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2135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$7,200,000</a:t>
                      </a:r>
                      <a:endParaRPr lang="en-US" sz="11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6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2135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current annual cost</a:t>
                      </a:r>
                      <a:endParaRPr lang="en-US" sz="11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2135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$892,500</a:t>
                      </a:r>
                      <a:endParaRPr lang="en-US" sz="11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2135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$35,700,000</a:t>
                      </a:r>
                      <a:endParaRPr lang="en-US" sz="11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6" name="Group 5">
            <a:extLst>
              <a:ext uri="{FF2B5EF4-FFF2-40B4-BE49-F238E27FC236}">
                <a16:creationId xmlns:a16="http://schemas.microsoft.com/office/drawing/2014/main" id="{814B1BE9-08BE-B4EF-CDA4-4299DE6EF8CD}"/>
              </a:ext>
            </a:extLst>
          </p:cNvPr>
          <p:cNvGrpSpPr/>
          <p:nvPr/>
        </p:nvGrpSpPr>
        <p:grpSpPr>
          <a:xfrm>
            <a:off x="8370595" y="4208646"/>
            <a:ext cx="3614928" cy="1771738"/>
            <a:chOff x="7592395" y="4249794"/>
            <a:chExt cx="3614928" cy="1771738"/>
          </a:xfrm>
        </p:grpSpPr>
        <p:sp>
          <p:nvSpPr>
            <p:cNvPr id="23" name="Shape 3">
              <a:extLst>
                <a:ext uri="{FF2B5EF4-FFF2-40B4-BE49-F238E27FC236}">
                  <a16:creationId xmlns:a16="http://schemas.microsoft.com/office/drawing/2014/main" id="{90EF92FA-FEB4-8D72-8733-E4A1CC915B5F}"/>
                </a:ext>
              </a:extLst>
            </p:cNvPr>
            <p:cNvSpPr/>
            <p:nvPr/>
          </p:nvSpPr>
          <p:spPr>
            <a:xfrm>
              <a:off x="7592395" y="4249794"/>
              <a:ext cx="3614928" cy="1771738"/>
            </a:xfrm>
            <a:prstGeom prst="roundRect">
              <a:avLst>
                <a:gd name="adj" fmla="val 1538"/>
              </a:avLst>
            </a:prstGeom>
            <a:solidFill>
              <a:srgbClr val="061C2C"/>
            </a:solidFill>
            <a:ln w="12700">
              <a:solidFill>
                <a:srgbClr val="061C2C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 4">
              <a:extLst>
                <a:ext uri="{FF2B5EF4-FFF2-40B4-BE49-F238E27FC236}">
                  <a16:creationId xmlns:a16="http://schemas.microsoft.com/office/drawing/2014/main" id="{B646B489-4683-EAB0-788E-A411F6ED492F}"/>
                </a:ext>
              </a:extLst>
            </p:cNvPr>
            <p:cNvSpPr/>
            <p:nvPr/>
          </p:nvSpPr>
          <p:spPr>
            <a:xfrm>
              <a:off x="8045782" y="4370832"/>
              <a:ext cx="2780714" cy="33635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3400">
                  <a:solidFill>
                    <a:srgbClr val="F3E6CF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$35.7M</a:t>
              </a:r>
              <a:endParaRPr lang="en-US" sz="3400"/>
            </a:p>
          </p:txBody>
        </p:sp>
        <p:sp>
          <p:nvSpPr>
            <p:cNvPr id="27" name="Text 5">
              <a:extLst>
                <a:ext uri="{FF2B5EF4-FFF2-40B4-BE49-F238E27FC236}">
                  <a16:creationId xmlns:a16="http://schemas.microsoft.com/office/drawing/2014/main" id="{DC9A934A-3ABF-E205-65E7-594BA4D342CC}"/>
                </a:ext>
              </a:extLst>
            </p:cNvPr>
            <p:cNvSpPr/>
            <p:nvPr/>
          </p:nvSpPr>
          <p:spPr>
            <a:xfrm>
              <a:off x="8017600" y="5074920"/>
              <a:ext cx="2836328" cy="33635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>
                  <a:solidFill>
                    <a:srgbClr val="A9C5D3"/>
                  </a:solidFill>
                </a:rPr>
                <a:t>CURRENT ANNUAL COST</a:t>
              </a:r>
              <a:endParaRPr lang="en-US" sz="1100"/>
            </a:p>
            <a:p>
              <a:pPr marL="0" indent="0" algn="ctr">
                <a:buNone/>
              </a:pPr>
              <a:r>
                <a:rPr lang="en-US" sz="1100" b="1">
                  <a:solidFill>
                    <a:srgbClr val="A9C5D3"/>
                  </a:solidFill>
                </a:rPr>
                <a:t>FOR 4,000 ENGINES</a:t>
              </a:r>
              <a:endParaRPr lang="en-US" sz="1100"/>
            </a:p>
          </p:txBody>
        </p:sp>
        <p:sp>
          <p:nvSpPr>
            <p:cNvPr id="29" name="Text 7">
              <a:extLst>
                <a:ext uri="{FF2B5EF4-FFF2-40B4-BE49-F238E27FC236}">
                  <a16:creationId xmlns:a16="http://schemas.microsoft.com/office/drawing/2014/main" id="{D6E71DE3-FFDA-28CB-96AB-FD43E2512567}"/>
                </a:ext>
              </a:extLst>
            </p:cNvPr>
            <p:cNvSpPr/>
            <p:nvPr/>
          </p:nvSpPr>
          <p:spPr>
            <a:xfrm>
              <a:off x="7892725" y="5596802"/>
              <a:ext cx="2947557" cy="24356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>
                  <a:solidFill>
                    <a:srgbClr val="FFFFFF"/>
                  </a:solidFill>
                </a:rPr>
                <a:t>200 expected failures annually</a:t>
              </a:r>
              <a:endParaRPr lang="en-US" sz="1200"/>
            </a:p>
          </p:txBody>
        </p:sp>
      </p:grpSp>
      <p:sp>
        <p:nvSpPr>
          <p:cNvPr id="40" name="Shape 3">
            <a:extLst>
              <a:ext uri="{FF2B5EF4-FFF2-40B4-BE49-F238E27FC236}">
                <a16:creationId xmlns:a16="http://schemas.microsoft.com/office/drawing/2014/main" id="{1F380E12-969C-2E19-5ABD-EF7A50730E36}"/>
              </a:ext>
            </a:extLst>
          </p:cNvPr>
          <p:cNvSpPr/>
          <p:nvPr/>
        </p:nvSpPr>
        <p:spPr>
          <a:xfrm>
            <a:off x="5540060" y="4582644"/>
            <a:ext cx="2651760" cy="1397740"/>
          </a:xfrm>
          <a:prstGeom prst="roundRect">
            <a:avLst>
              <a:gd name="adj" fmla="val 2809"/>
            </a:avLst>
          </a:prstGeom>
          <a:solidFill>
            <a:srgbClr val="FFF4EA"/>
          </a:solidFill>
          <a:ln w="12700">
            <a:solidFill>
              <a:srgbClr val="F0C69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4">
            <a:extLst>
              <a:ext uri="{FF2B5EF4-FFF2-40B4-BE49-F238E27FC236}">
                <a16:creationId xmlns:a16="http://schemas.microsoft.com/office/drawing/2014/main" id="{10184328-88B1-B480-DFC2-31192A1F6625}"/>
              </a:ext>
            </a:extLst>
          </p:cNvPr>
          <p:cNvSpPr/>
          <p:nvPr/>
        </p:nvSpPr>
        <p:spPr>
          <a:xfrm>
            <a:off x="5049479" y="462707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E58A3A"/>
                </a:solidFill>
              </a:rPr>
              <a:t>$712,500</a:t>
            </a:r>
            <a:endParaRPr lang="en-US" sz="2600"/>
          </a:p>
        </p:txBody>
      </p:sp>
      <p:sp>
        <p:nvSpPr>
          <p:cNvPr id="42" name="Text 5">
            <a:extLst>
              <a:ext uri="{FF2B5EF4-FFF2-40B4-BE49-F238E27FC236}">
                <a16:creationId xmlns:a16="http://schemas.microsoft.com/office/drawing/2014/main" id="{AE6BA15C-C548-2B87-FC00-76C3AEEA8DFB}"/>
              </a:ext>
            </a:extLst>
          </p:cNvPr>
          <p:cNvSpPr/>
          <p:nvPr/>
        </p:nvSpPr>
        <p:spPr>
          <a:xfrm>
            <a:off x="5076911" y="51025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213547"/>
                </a:solidFill>
              </a:rPr>
              <a:t>annual unplanned repair cost</a:t>
            </a:r>
            <a:endParaRPr lang="en-US" sz="1100"/>
          </a:p>
          <a:p>
            <a:pPr marL="0" indent="0" algn="ctr">
              <a:buNone/>
            </a:pPr>
            <a:r>
              <a:rPr lang="en-US" sz="1100">
                <a:solidFill>
                  <a:srgbClr val="213547"/>
                </a:solidFill>
              </a:rPr>
              <a:t>for 100 engines at 5% failures</a:t>
            </a:r>
            <a:endParaRPr lang="en-US" sz="1100"/>
          </a:p>
        </p:txBody>
      </p:sp>
      <p:sp>
        <p:nvSpPr>
          <p:cNvPr id="43" name="Text 6">
            <a:extLst>
              <a:ext uri="{FF2B5EF4-FFF2-40B4-BE49-F238E27FC236}">
                <a16:creationId xmlns:a16="http://schemas.microsoft.com/office/drawing/2014/main" id="{7BD31B51-8ED1-5869-B512-B508D6C832DF}"/>
              </a:ext>
            </a:extLst>
          </p:cNvPr>
          <p:cNvSpPr/>
          <p:nvPr/>
        </p:nvSpPr>
        <p:spPr>
          <a:xfrm>
            <a:off x="5140919" y="5632912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E58A3A"/>
                </a:solidFill>
              </a:rPr>
              <a:t>5 failures × $142,500</a:t>
            </a:r>
            <a:endParaRPr lang="en-US" sz="1000"/>
          </a:p>
        </p:txBody>
      </p:sp>
      <p:graphicFrame>
        <p:nvGraphicFramePr>
          <p:cNvPr id="44" name="Table 43">
            <a:extLst>
              <a:ext uri="{FF2B5EF4-FFF2-40B4-BE49-F238E27FC236}">
                <a16:creationId xmlns:a16="http://schemas.microsoft.com/office/drawing/2014/main" id="{E25273EE-44F4-DB30-062F-C2D1595A69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5355859"/>
              </p:ext>
            </p:extLst>
          </p:nvPr>
        </p:nvGraphicFramePr>
        <p:xfrm>
          <a:off x="362567" y="4340135"/>
          <a:ext cx="4508137" cy="165608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3293304">
                  <a:extLst>
                    <a:ext uri="{9D8B030D-6E8A-4147-A177-3AD203B41FA5}">
                      <a16:colId xmlns:a16="http://schemas.microsoft.com/office/drawing/2014/main" val="1144651721"/>
                    </a:ext>
                  </a:extLst>
                </a:gridCol>
                <a:gridCol w="1214833">
                  <a:extLst>
                    <a:ext uri="{9D8B030D-6E8A-4147-A177-3AD203B41FA5}">
                      <a16:colId xmlns:a16="http://schemas.microsoft.com/office/drawing/2014/main" val="18540322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kern="1200">
                          <a:solidFill>
                            <a:srgbClr val="213547"/>
                          </a:solidFill>
                          <a:latin typeface="Aptos" pitchFamily="34" charset="0"/>
                        </a:rPr>
                        <a:t>Current Cost Estimates For Unplanned Repair Activities</a:t>
                      </a:r>
                      <a:endParaRPr lang="en-IN" sz="1200" kern="1200">
                        <a:solidFill>
                          <a:srgbClr val="213547"/>
                        </a:solidFill>
                        <a:latin typeface="Aptos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kern="1200">
                          <a:solidFill>
                            <a:srgbClr val="213547"/>
                          </a:solidFill>
                          <a:latin typeface="Aptos" pitchFamily="34" charset="0"/>
                        </a:rPr>
                        <a:t>App Estimated Cost in $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73717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kern="1200">
                          <a:solidFill>
                            <a:srgbClr val="213547"/>
                          </a:solidFill>
                          <a:latin typeface="Aptos" pitchFamily="34" charset="0"/>
                        </a:rPr>
                        <a:t>Periodic Inspections and Test per Engine</a:t>
                      </a:r>
                      <a:endParaRPr lang="en-IN" sz="1200" kern="1200">
                        <a:solidFill>
                          <a:srgbClr val="213547"/>
                        </a:solidFill>
                        <a:latin typeface="Aptos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kern="1200">
                          <a:solidFill>
                            <a:srgbClr val="213547"/>
                          </a:solidFill>
                          <a:latin typeface="Aptos" pitchFamily="34" charset="0"/>
                        </a:rPr>
                        <a:t>20000</a:t>
                      </a:r>
                      <a:endParaRPr lang="en-IN" sz="1200" kern="1200">
                        <a:solidFill>
                          <a:srgbClr val="213547"/>
                        </a:solidFill>
                        <a:latin typeface="Aptos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65234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kern="1200">
                          <a:solidFill>
                            <a:srgbClr val="213547"/>
                          </a:solidFill>
                          <a:latin typeface="Aptos" pitchFamily="34" charset="0"/>
                        </a:rPr>
                        <a:t>Aircraft grounding time and loss of availability cost</a:t>
                      </a:r>
                      <a:endParaRPr lang="en-IN" sz="1200" kern="1200">
                        <a:solidFill>
                          <a:srgbClr val="213547"/>
                        </a:solidFill>
                        <a:latin typeface="Aptos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kern="1200">
                          <a:solidFill>
                            <a:srgbClr val="213547"/>
                          </a:solidFill>
                          <a:latin typeface="Aptos" pitchFamily="34" charset="0"/>
                        </a:rPr>
                        <a:t>25000</a:t>
                      </a:r>
                      <a:endParaRPr lang="en-IN" sz="1200" kern="1200">
                        <a:solidFill>
                          <a:srgbClr val="213547"/>
                        </a:solidFill>
                        <a:latin typeface="Aptos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7674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sz="1200" kern="1200">
                        <a:solidFill>
                          <a:srgbClr val="213547"/>
                        </a:solidFill>
                        <a:latin typeface="Aptos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kern="1200">
                          <a:solidFill>
                            <a:srgbClr val="213547"/>
                          </a:solidFill>
                          <a:latin typeface="Aptos" pitchFamily="34" charset="0"/>
                        </a:rPr>
                        <a:t>45000</a:t>
                      </a:r>
                      <a:endParaRPr lang="en-IN" sz="1200" kern="1200">
                        <a:solidFill>
                          <a:srgbClr val="213547"/>
                        </a:solidFill>
                        <a:latin typeface="Aptos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607862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8492" y="301752"/>
            <a:ext cx="929857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11184"/>
                </a:solidFill>
                <a:latin typeface="Book Antiqua" panose="02040602050305030304" pitchFamily="18" charset="0"/>
              </a:rPr>
              <a:t>Expected savings with predictive planned maintenance</a:t>
            </a:r>
            <a:endParaRPr lang="en-US" sz="2800">
              <a:solidFill>
                <a:srgbClr val="111184"/>
              </a:solidFill>
              <a:latin typeface="Book Antiqua" panose="0204060205030503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94360" y="91440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111184"/>
                </a:solidFill>
              </a:rPr>
              <a:t>Early intervention reduces direct repair costs and removes the modelled disruption-cost categories.</a:t>
            </a:r>
          </a:p>
        </p:txBody>
      </p:sp>
      <p:sp>
        <p:nvSpPr>
          <p:cNvPr id="4" name="Shape 2"/>
          <p:cNvSpPr/>
          <p:nvPr/>
        </p:nvSpPr>
        <p:spPr>
          <a:xfrm>
            <a:off x="594360" y="1225296"/>
            <a:ext cx="1143000" cy="45720"/>
          </a:xfrm>
          <a:prstGeom prst="rect">
            <a:avLst/>
          </a:prstGeom>
          <a:solidFill>
            <a:srgbClr val="D64B3C"/>
          </a:solidFill>
          <a:ln w="12700">
            <a:solidFill>
              <a:srgbClr val="D64B3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8614443"/>
              </p:ext>
            </p:extLst>
          </p:nvPr>
        </p:nvGraphicFramePr>
        <p:xfrm>
          <a:off x="566928" y="1444752"/>
          <a:ext cx="7818120" cy="2752344"/>
        </p:xfrm>
        <a:graphic>
          <a:graphicData uri="http://schemas.openxmlformats.org/drawingml/2006/table">
            <a:tbl>
              <a:tblPr/>
              <a:tblGrid>
                <a:gridCol w="2788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Cost component</a:t>
                      </a:r>
                      <a:endParaRPr lang="en-US" sz="12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1C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 / event</a:t>
                      </a:r>
                      <a:endParaRPr lang="en-US" sz="12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1C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Planned / event</a:t>
                      </a:r>
                      <a:endParaRPr lang="en-US" sz="12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1C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Savings / event</a:t>
                      </a:r>
                      <a:endParaRPr lang="en-US" sz="12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1C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2135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Direct material</a:t>
                      </a:r>
                      <a:endParaRPr lang="en-US" sz="12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2135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$65,000</a:t>
                      </a:r>
                      <a:endParaRPr lang="en-US" sz="12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2135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$35,000</a:t>
                      </a:r>
                      <a:endParaRPr lang="en-US" sz="12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2135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$30,000</a:t>
                      </a:r>
                      <a:endParaRPr lang="en-US" sz="12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2135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Direct labour</a:t>
                      </a:r>
                      <a:endParaRPr lang="en-US" sz="12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2135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$20,000</a:t>
                      </a:r>
                      <a:endParaRPr lang="en-US" sz="12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2135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$4,000</a:t>
                      </a:r>
                      <a:endParaRPr lang="en-US" sz="12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2135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$16,000</a:t>
                      </a:r>
                      <a:endParaRPr lang="en-US" sz="12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2135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Logistics &amp; freight</a:t>
                      </a:r>
                      <a:endParaRPr lang="en-US" sz="12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2135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$7,500</a:t>
                      </a:r>
                      <a:endParaRPr lang="en-US" sz="12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2135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$2,000</a:t>
                      </a:r>
                      <a:endParaRPr lang="en-US" sz="12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2135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$5,500</a:t>
                      </a:r>
                      <a:endParaRPr lang="en-US" sz="12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2135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Operational downtime</a:t>
                      </a:r>
                      <a:endParaRPr lang="en-US" sz="12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2135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$40,000</a:t>
                      </a:r>
                      <a:endParaRPr lang="en-US" sz="12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2135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$0</a:t>
                      </a:r>
                      <a:endParaRPr lang="en-US" sz="12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2135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$40,000</a:t>
                      </a:r>
                      <a:endParaRPr lang="en-US" sz="12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2135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Passenger &amp; crew accommodation</a:t>
                      </a:r>
                      <a:endParaRPr lang="en-US" sz="12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2135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$10,000</a:t>
                      </a:r>
                      <a:endParaRPr lang="en-US" sz="12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2135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$0</a:t>
                      </a:r>
                      <a:endParaRPr lang="en-US" sz="12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2135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$10,000</a:t>
                      </a:r>
                      <a:endParaRPr lang="en-US" sz="12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2135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</a:t>
                      </a:r>
                      <a:endParaRPr lang="en-US" sz="12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4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2135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$142,500</a:t>
                      </a:r>
                      <a:endParaRPr lang="en-US" sz="12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4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2135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$41,000</a:t>
                      </a:r>
                      <a:endParaRPr lang="en-US" sz="12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4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2135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$101,500</a:t>
                      </a:r>
                      <a:endParaRPr lang="en-US" sz="12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4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6" name="Image 0" descr="/mnt/data/3450a17d12.png"/>
          <p:cNvPicPr>
            <a:picLocks noChangeAspect="1"/>
          </p:cNvPicPr>
          <p:nvPr/>
        </p:nvPicPr>
        <p:blipFill>
          <a:blip r:embed="rId3"/>
          <a:srcRect t="781" b="781"/>
          <a:stretch/>
        </p:blipFill>
        <p:spPr>
          <a:xfrm>
            <a:off x="9866811" y="376738"/>
            <a:ext cx="1730829" cy="113585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064240" y="654710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rgbClr val="748595"/>
                </a:solidFill>
              </a:rPr>
              <a:t>4</a:t>
            </a:r>
            <a:endParaRPr lang="en-US" sz="750"/>
          </a:p>
        </p:txBody>
      </p:sp>
      <p:graphicFrame>
        <p:nvGraphicFramePr>
          <p:cNvPr id="15" name="Table 0">
            <a:extLst>
              <a:ext uri="{FF2B5EF4-FFF2-40B4-BE49-F238E27FC236}">
                <a16:creationId xmlns:a16="http://schemas.microsoft.com/office/drawing/2014/main" id="{53F67705-63B8-ADB4-1F7B-27F90A8624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7477571"/>
              </p:ext>
            </p:extLst>
          </p:nvPr>
        </p:nvGraphicFramePr>
        <p:xfrm>
          <a:off x="594358" y="4380411"/>
          <a:ext cx="5693231" cy="2230261"/>
        </p:xfrm>
        <a:graphic>
          <a:graphicData uri="http://schemas.openxmlformats.org/drawingml/2006/table">
            <a:tbl>
              <a:tblPr/>
              <a:tblGrid>
                <a:gridCol w="33290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641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80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Calculation item</a:t>
                      </a:r>
                      <a:endParaRPr lang="en-US" sz="12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1C2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4,000 engines</a:t>
                      </a:r>
                      <a:endParaRPr lang="en-US" sz="12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1C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6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2135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Engines in scope</a:t>
                      </a:r>
                      <a:endParaRPr lang="en-US" sz="12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2135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4,000</a:t>
                      </a:r>
                      <a:endParaRPr lang="en-US" sz="12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6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2135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Expected failures at 5%</a:t>
                      </a:r>
                      <a:endParaRPr lang="en-US" sz="12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2135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200 </a:t>
                      </a:r>
                      <a:endParaRPr lang="en-US" sz="12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26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2135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Planned repairs</a:t>
                      </a:r>
                      <a:endParaRPr lang="en-US" sz="12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2135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200 × $41,000 = $8,200,000</a:t>
                      </a:r>
                      <a:endParaRPr lang="en-US" sz="12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6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2135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Periodic inspections / tests</a:t>
                      </a:r>
                      <a:endParaRPr lang="en-US" sz="12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2135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$0</a:t>
                      </a:r>
                      <a:endParaRPr lang="en-US" sz="12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63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2135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annual cost after model deployment to production</a:t>
                      </a:r>
                      <a:endParaRPr lang="en-US" sz="12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2135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</a:t>
                      </a:r>
                      <a:r>
                        <a:rPr lang="en-US" sz="1200">
                          <a:solidFill>
                            <a:srgbClr val="2135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8,200,000</a:t>
                      </a:r>
                      <a:endParaRPr lang="en-US" sz="120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A8EDA0B8-D63B-6E1A-ADF7-40B568F773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8004516"/>
              </p:ext>
            </p:extLst>
          </p:nvPr>
        </p:nvGraphicFramePr>
        <p:xfrm>
          <a:off x="7053924" y="4741682"/>
          <a:ext cx="4694501" cy="173958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3429447">
                  <a:extLst>
                    <a:ext uri="{9D8B030D-6E8A-4147-A177-3AD203B41FA5}">
                      <a16:colId xmlns:a16="http://schemas.microsoft.com/office/drawing/2014/main" val="1144651721"/>
                    </a:ext>
                  </a:extLst>
                </a:gridCol>
                <a:gridCol w="1265054">
                  <a:extLst>
                    <a:ext uri="{9D8B030D-6E8A-4147-A177-3AD203B41FA5}">
                      <a16:colId xmlns:a16="http://schemas.microsoft.com/office/drawing/2014/main" val="1854032253"/>
                    </a:ext>
                  </a:extLst>
                </a:gridCol>
              </a:tblGrid>
              <a:tr h="440849">
                <a:tc>
                  <a:txBody>
                    <a:bodyPr/>
                    <a:lstStyle/>
                    <a:p>
                      <a:r>
                        <a:rPr lang="en-US" sz="1200" kern="1200">
                          <a:solidFill>
                            <a:srgbClr val="213547"/>
                          </a:solidFill>
                          <a:latin typeface="Aptos" pitchFamily="34" charset="0"/>
                        </a:rPr>
                        <a:t>Current Cost Estimates For Unplanned Repair Activities</a:t>
                      </a:r>
                      <a:endParaRPr lang="en-IN" sz="1200" kern="1200">
                        <a:solidFill>
                          <a:srgbClr val="213547"/>
                        </a:solidFill>
                        <a:latin typeface="Aptos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kern="1200">
                          <a:solidFill>
                            <a:srgbClr val="213547"/>
                          </a:solidFill>
                          <a:latin typeface="Aptos" pitchFamily="34" charset="0"/>
                        </a:rPr>
                        <a:t>App Estimated Cost in $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7371791"/>
                  </a:ext>
                </a:extLst>
              </a:tr>
              <a:tr h="412590">
                <a:tc>
                  <a:txBody>
                    <a:bodyPr/>
                    <a:lstStyle/>
                    <a:p>
                      <a:r>
                        <a:rPr lang="en-US" sz="1200" kern="1200">
                          <a:solidFill>
                            <a:srgbClr val="213547"/>
                          </a:solidFill>
                          <a:latin typeface="Aptos" pitchFamily="34" charset="0"/>
                        </a:rPr>
                        <a:t>Periodic Inspections and Test per Engine</a:t>
                      </a:r>
                      <a:endParaRPr lang="en-IN" sz="1200" kern="1200">
                        <a:solidFill>
                          <a:srgbClr val="213547"/>
                        </a:solidFill>
                        <a:latin typeface="Aptos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kern="1200">
                          <a:solidFill>
                            <a:srgbClr val="213547"/>
                          </a:solidFill>
                          <a:latin typeface="Aptos" pitchFamily="34" charset="0"/>
                        </a:rPr>
                        <a:t>0</a:t>
                      </a:r>
                      <a:endParaRPr lang="en-IN" sz="1200" kern="1200">
                        <a:solidFill>
                          <a:srgbClr val="213547"/>
                        </a:solidFill>
                        <a:latin typeface="Aptos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6523470"/>
                  </a:ext>
                </a:extLst>
              </a:tr>
              <a:tr h="412590">
                <a:tc>
                  <a:txBody>
                    <a:bodyPr/>
                    <a:lstStyle/>
                    <a:p>
                      <a:r>
                        <a:rPr lang="en-US" sz="1200" kern="1200">
                          <a:solidFill>
                            <a:srgbClr val="213547"/>
                          </a:solidFill>
                          <a:latin typeface="Aptos" pitchFamily="34" charset="0"/>
                        </a:rPr>
                        <a:t>Aircraft grounding time and loss of availability cost</a:t>
                      </a:r>
                      <a:endParaRPr lang="en-IN" sz="1200" kern="1200">
                        <a:solidFill>
                          <a:srgbClr val="213547"/>
                        </a:solidFill>
                        <a:latin typeface="Aptos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kern="1200">
                          <a:solidFill>
                            <a:srgbClr val="213547"/>
                          </a:solidFill>
                          <a:latin typeface="Aptos" pitchFamily="34" charset="0"/>
                        </a:rPr>
                        <a:t>0</a:t>
                      </a:r>
                      <a:endParaRPr lang="en-IN" sz="1200" kern="1200">
                        <a:solidFill>
                          <a:srgbClr val="213547"/>
                        </a:solidFill>
                        <a:latin typeface="Aptos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767460"/>
                  </a:ext>
                </a:extLst>
              </a:tr>
              <a:tr h="412590">
                <a:tc>
                  <a:txBody>
                    <a:bodyPr/>
                    <a:lstStyle/>
                    <a:p>
                      <a:r>
                        <a:rPr lang="en-US" sz="1200" kern="1200">
                          <a:solidFill>
                            <a:srgbClr val="213547"/>
                          </a:solidFill>
                          <a:latin typeface="Aptos" pitchFamily="34" charset="0"/>
                        </a:rPr>
                        <a:t>Total</a:t>
                      </a:r>
                      <a:endParaRPr lang="en-IN" sz="1200" kern="1200">
                        <a:solidFill>
                          <a:srgbClr val="213547"/>
                        </a:solidFill>
                        <a:latin typeface="Aptos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kern="1200">
                          <a:solidFill>
                            <a:srgbClr val="213547"/>
                          </a:solidFill>
                          <a:latin typeface="Aptos" pitchFamily="34" charset="0"/>
                        </a:rPr>
                        <a:t>0</a:t>
                      </a:r>
                      <a:endParaRPr lang="en-IN" sz="1200" kern="1200">
                        <a:solidFill>
                          <a:srgbClr val="213547"/>
                        </a:solidFill>
                        <a:latin typeface="Aptos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6078622"/>
                  </a:ext>
                </a:extLst>
              </a:tr>
            </a:tbl>
          </a:graphicData>
        </a:graphic>
      </p:graphicFrame>
      <p:sp>
        <p:nvSpPr>
          <p:cNvPr id="21" name="Shape 3">
            <a:extLst>
              <a:ext uri="{FF2B5EF4-FFF2-40B4-BE49-F238E27FC236}">
                <a16:creationId xmlns:a16="http://schemas.microsoft.com/office/drawing/2014/main" id="{CEF427BD-D031-7CA4-1DF6-06F75C4C39C4}"/>
              </a:ext>
            </a:extLst>
          </p:cNvPr>
          <p:cNvSpPr/>
          <p:nvPr/>
        </p:nvSpPr>
        <p:spPr>
          <a:xfrm>
            <a:off x="8917190" y="1726382"/>
            <a:ext cx="2331720" cy="1992003"/>
          </a:xfrm>
          <a:prstGeom prst="roundRect">
            <a:avLst>
              <a:gd name="adj" fmla="val 2128"/>
            </a:avLst>
          </a:prstGeom>
          <a:solidFill>
            <a:srgbClr val="E7F4EF"/>
          </a:solidFill>
          <a:ln w="12700">
            <a:solidFill>
              <a:srgbClr val="AFD8C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4">
            <a:extLst>
              <a:ext uri="{FF2B5EF4-FFF2-40B4-BE49-F238E27FC236}">
                <a16:creationId xmlns:a16="http://schemas.microsoft.com/office/drawing/2014/main" id="{DBF380F0-F910-A4FC-B346-C77B89D67DBA}"/>
              </a:ext>
            </a:extLst>
          </p:cNvPr>
          <p:cNvSpPr/>
          <p:nvPr/>
        </p:nvSpPr>
        <p:spPr>
          <a:xfrm>
            <a:off x="8750808" y="1957511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238B74"/>
                </a:solidFill>
              </a:rPr>
              <a:t>71.2%</a:t>
            </a:r>
            <a:endParaRPr lang="en-US" sz="2800"/>
          </a:p>
        </p:txBody>
      </p:sp>
      <p:sp>
        <p:nvSpPr>
          <p:cNvPr id="23" name="Text 5">
            <a:extLst>
              <a:ext uri="{FF2B5EF4-FFF2-40B4-BE49-F238E27FC236}">
                <a16:creationId xmlns:a16="http://schemas.microsoft.com/office/drawing/2014/main" id="{97C1B146-A81B-1364-C97F-FA366260B96D}"/>
              </a:ext>
            </a:extLst>
          </p:cNvPr>
          <p:cNvSpPr/>
          <p:nvPr/>
        </p:nvSpPr>
        <p:spPr>
          <a:xfrm>
            <a:off x="8732520" y="2469575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213547"/>
                </a:solidFill>
              </a:rPr>
              <a:t>cost reduction per repair event</a:t>
            </a:r>
            <a:endParaRPr lang="en-US" sz="1100"/>
          </a:p>
        </p:txBody>
      </p:sp>
      <p:sp>
        <p:nvSpPr>
          <p:cNvPr id="24" name="Text 6">
            <a:extLst>
              <a:ext uri="{FF2B5EF4-FFF2-40B4-BE49-F238E27FC236}">
                <a16:creationId xmlns:a16="http://schemas.microsoft.com/office/drawing/2014/main" id="{C070AE09-310C-CA3D-375A-227F04EF9220}"/>
              </a:ext>
            </a:extLst>
          </p:cNvPr>
          <p:cNvSpPr/>
          <p:nvPr/>
        </p:nvSpPr>
        <p:spPr>
          <a:xfrm>
            <a:off x="8732520" y="2981639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238B74"/>
                </a:solidFill>
              </a:rPr>
              <a:t>$101,500 saved per event</a:t>
            </a: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9471881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28600"/>
            <a:ext cx="10396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111184"/>
                </a:solidFill>
                <a:latin typeface="Book Antiqua" panose="02040602050305030304" pitchFamily="18" charset="0"/>
              </a:rPr>
              <a:t>Managerial implications for aircraft engines</a:t>
            </a:r>
            <a:endParaRPr lang="en-US" sz="3600">
              <a:solidFill>
                <a:srgbClr val="111184"/>
              </a:solidFill>
              <a:latin typeface="Book Antiqua" panose="0204060205030503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94360" y="91440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</a:rPr>
              <a:t>Predictive maintenance changes the operating model, not only the cost base.</a:t>
            </a:r>
          </a:p>
        </p:txBody>
      </p:sp>
      <p:sp>
        <p:nvSpPr>
          <p:cNvPr id="4" name="Shape 2"/>
          <p:cNvSpPr/>
          <p:nvPr/>
        </p:nvSpPr>
        <p:spPr>
          <a:xfrm>
            <a:off x="594360" y="1225296"/>
            <a:ext cx="1143000" cy="45720"/>
          </a:xfrm>
          <a:prstGeom prst="rect">
            <a:avLst/>
          </a:prstGeom>
          <a:solidFill>
            <a:srgbClr val="D64B3C"/>
          </a:solidFill>
          <a:ln w="12700">
            <a:solidFill>
              <a:srgbClr val="D64B3C"/>
            </a:solidFill>
            <a:prstDash val="solid"/>
          </a:ln>
        </p:spPr>
        <p:txBody>
          <a:bodyPr/>
          <a:lstStyle/>
          <a:p>
            <a:endParaRPr lang="en-IN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5" name="Image 0" descr="/mnt/data/3450a17d12.png"/>
          <p:cNvPicPr>
            <a:picLocks noChangeAspect="1"/>
          </p:cNvPicPr>
          <p:nvPr/>
        </p:nvPicPr>
        <p:blipFill>
          <a:blip r:embed="rId3"/>
          <a:srcRect l="21646" r="21646"/>
          <a:stretch/>
        </p:blipFill>
        <p:spPr>
          <a:xfrm>
            <a:off x="594360" y="1444752"/>
            <a:ext cx="3749040" cy="440740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645152" y="1444752"/>
            <a:ext cx="3127248" cy="187452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en-IN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" name="Shape 4"/>
          <p:cNvSpPr/>
          <p:nvPr/>
        </p:nvSpPr>
        <p:spPr>
          <a:xfrm>
            <a:off x="4645152" y="1444752"/>
            <a:ext cx="73152" cy="1874520"/>
          </a:xfrm>
          <a:prstGeom prst="rect">
            <a:avLst/>
          </a:prstGeom>
          <a:solidFill>
            <a:srgbClr val="2A6F97"/>
          </a:solidFill>
          <a:ln w="12700">
            <a:solidFill>
              <a:srgbClr val="2A6F97"/>
            </a:solidFill>
            <a:prstDash val="solid"/>
          </a:ln>
        </p:spPr>
        <p:txBody>
          <a:bodyPr/>
          <a:lstStyle/>
          <a:p>
            <a:endParaRPr lang="en-IN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4873752" y="167335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chemeClr val="tx1">
                    <a:lumMod val="95000"/>
                    <a:lumOff val="5000"/>
                  </a:schemeClr>
                </a:solidFill>
              </a:rPr>
              <a:t>Maintenance strategy</a:t>
            </a:r>
            <a:endParaRPr lang="en-US" sz="140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4873752" y="2157984"/>
            <a:ext cx="2697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chemeClr val="tx1">
                    <a:lumMod val="95000"/>
                    <a:lumOff val="5000"/>
                  </a:schemeClr>
                </a:solidFill>
              </a:rPr>
              <a:t>Shift from failure response to risk-based work planning; schedule interventions within available maintenance windows.</a:t>
            </a:r>
          </a:p>
        </p:txBody>
      </p:sp>
      <p:sp>
        <p:nvSpPr>
          <p:cNvPr id="10" name="Shape 7"/>
          <p:cNvSpPr/>
          <p:nvPr/>
        </p:nvSpPr>
        <p:spPr>
          <a:xfrm>
            <a:off x="8074152" y="1444752"/>
            <a:ext cx="3127248" cy="187452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en-IN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1" name="Shape 8"/>
          <p:cNvSpPr/>
          <p:nvPr/>
        </p:nvSpPr>
        <p:spPr>
          <a:xfrm>
            <a:off x="8074152" y="1444752"/>
            <a:ext cx="73152" cy="1874520"/>
          </a:xfrm>
          <a:prstGeom prst="rect">
            <a:avLst/>
          </a:prstGeom>
          <a:solidFill>
            <a:srgbClr val="238B74"/>
          </a:solidFill>
          <a:ln w="12700">
            <a:solidFill>
              <a:srgbClr val="238B74"/>
            </a:solidFill>
            <a:prstDash val="solid"/>
          </a:ln>
        </p:spPr>
        <p:txBody>
          <a:bodyPr/>
          <a:lstStyle/>
          <a:p>
            <a:endParaRPr lang="en-IN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2" name="Text 9"/>
          <p:cNvSpPr/>
          <p:nvPr/>
        </p:nvSpPr>
        <p:spPr>
          <a:xfrm>
            <a:off x="8302752" y="167335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chemeClr val="tx1">
                    <a:lumMod val="95000"/>
                    <a:lumOff val="5000"/>
                  </a:schemeClr>
                </a:solidFill>
              </a:rPr>
              <a:t>Fleet availability</a:t>
            </a:r>
            <a:endParaRPr lang="en-US" sz="140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3" name="Text 10"/>
          <p:cNvSpPr/>
          <p:nvPr/>
        </p:nvSpPr>
        <p:spPr>
          <a:xfrm>
            <a:off x="8302752" y="2157984"/>
            <a:ext cx="2697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chemeClr val="tx1">
                    <a:lumMod val="95000"/>
                    <a:lumOff val="5000"/>
                  </a:schemeClr>
                </a:solidFill>
              </a:rPr>
              <a:t>Reduce modelled downtime and accommodation costs; protect dispatch reliability and asset utilisation.</a:t>
            </a:r>
          </a:p>
        </p:txBody>
      </p:sp>
      <p:sp>
        <p:nvSpPr>
          <p:cNvPr id="14" name="Shape 11"/>
          <p:cNvSpPr/>
          <p:nvPr/>
        </p:nvSpPr>
        <p:spPr>
          <a:xfrm>
            <a:off x="4645152" y="3593592"/>
            <a:ext cx="3127248" cy="187452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en-IN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5" name="Shape 12"/>
          <p:cNvSpPr/>
          <p:nvPr/>
        </p:nvSpPr>
        <p:spPr>
          <a:xfrm>
            <a:off x="4645152" y="3593592"/>
            <a:ext cx="73152" cy="1874520"/>
          </a:xfrm>
          <a:prstGeom prst="rect">
            <a:avLst/>
          </a:prstGeom>
          <a:solidFill>
            <a:srgbClr val="E58A3A"/>
          </a:solidFill>
          <a:ln w="12700">
            <a:solidFill>
              <a:srgbClr val="E58A3A"/>
            </a:solidFill>
            <a:prstDash val="solid"/>
          </a:ln>
        </p:spPr>
        <p:txBody>
          <a:bodyPr/>
          <a:lstStyle/>
          <a:p>
            <a:endParaRPr lang="en-IN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6" name="Text 13"/>
          <p:cNvSpPr/>
          <p:nvPr/>
        </p:nvSpPr>
        <p:spPr>
          <a:xfrm>
            <a:off x="4873752" y="382219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chemeClr val="tx1">
                    <a:lumMod val="95000"/>
                    <a:lumOff val="5000"/>
                  </a:schemeClr>
                </a:solidFill>
              </a:rPr>
              <a:t>Parts &amp; workforce</a:t>
            </a:r>
            <a:endParaRPr lang="en-US" sz="140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7" name="Text 14"/>
          <p:cNvSpPr/>
          <p:nvPr/>
        </p:nvSpPr>
        <p:spPr>
          <a:xfrm>
            <a:off x="4873752" y="4306824"/>
            <a:ext cx="2697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chemeClr val="tx1">
                    <a:lumMod val="95000"/>
                    <a:lumOff val="5000"/>
                  </a:schemeClr>
                </a:solidFill>
              </a:rPr>
              <a:t>Pre-position material, avoid premium freight and align skilled labour with forecasted engine risk.</a:t>
            </a:r>
          </a:p>
        </p:txBody>
      </p:sp>
      <p:sp>
        <p:nvSpPr>
          <p:cNvPr id="18" name="Shape 15"/>
          <p:cNvSpPr/>
          <p:nvPr/>
        </p:nvSpPr>
        <p:spPr>
          <a:xfrm>
            <a:off x="8074152" y="3593592"/>
            <a:ext cx="3127248" cy="187452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en-IN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9" name="Shape 16"/>
          <p:cNvSpPr/>
          <p:nvPr/>
        </p:nvSpPr>
        <p:spPr>
          <a:xfrm>
            <a:off x="8074152" y="3593592"/>
            <a:ext cx="73152" cy="1874520"/>
          </a:xfrm>
          <a:prstGeom prst="rect">
            <a:avLst/>
          </a:prstGeom>
          <a:solidFill>
            <a:srgbClr val="D64B3C"/>
          </a:solidFill>
          <a:ln w="12700">
            <a:solidFill>
              <a:srgbClr val="D64B3C"/>
            </a:solidFill>
            <a:prstDash val="solid"/>
          </a:ln>
        </p:spPr>
        <p:txBody>
          <a:bodyPr/>
          <a:lstStyle/>
          <a:p>
            <a:endParaRPr lang="en-IN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0" name="Text 17"/>
          <p:cNvSpPr/>
          <p:nvPr/>
        </p:nvSpPr>
        <p:spPr>
          <a:xfrm>
            <a:off x="8302752" y="382219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>
                <a:solidFill>
                  <a:schemeClr val="tx1">
                    <a:lumMod val="95000"/>
                    <a:lumOff val="5000"/>
                  </a:schemeClr>
                </a:solidFill>
              </a:rPr>
              <a:t>Governance control &amp; Regulatory oversight</a:t>
            </a:r>
            <a:endParaRPr lang="en-US" sz="140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1" name="Text 18"/>
          <p:cNvSpPr/>
          <p:nvPr/>
        </p:nvSpPr>
        <p:spPr>
          <a:xfrm>
            <a:off x="8302752" y="4306824"/>
            <a:ext cx="2697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>
                <a:solidFill>
                  <a:schemeClr val="tx1">
                    <a:lumMod val="95000"/>
                    <a:lumOff val="5000"/>
                  </a:schemeClr>
                </a:solidFill>
              </a:rPr>
              <a:t>Track precision, recall, false alerts, avoided failures and </a:t>
            </a:r>
            <a:r>
              <a:rPr lang="en-US" sz="1200" err="1">
                <a:solidFill>
                  <a:schemeClr val="tx1">
                    <a:lumMod val="95000"/>
                    <a:lumOff val="5000"/>
                  </a:schemeClr>
                </a:solidFill>
              </a:rPr>
              <a:t>realised</a:t>
            </a:r>
            <a:r>
              <a:rPr lang="en-US" sz="1200">
                <a:solidFill>
                  <a:schemeClr val="tx1">
                    <a:lumMod val="95000"/>
                    <a:lumOff val="5000"/>
                  </a:schemeClr>
                </a:solidFill>
              </a:rPr>
              <a:t> savings; retain engineering sign-off. Approach to be approved by the regulator(DGCA/FAA)</a:t>
            </a:r>
          </a:p>
        </p:txBody>
      </p:sp>
      <p:sp>
        <p:nvSpPr>
          <p:cNvPr id="22" name="Shape 19"/>
          <p:cNvSpPr/>
          <p:nvPr/>
        </p:nvSpPr>
        <p:spPr>
          <a:xfrm>
            <a:off x="4645152" y="5541264"/>
            <a:ext cx="6556248" cy="457200"/>
          </a:xfrm>
          <a:prstGeom prst="roundRect">
            <a:avLst>
              <a:gd name="adj" fmla="val 8000"/>
            </a:avLst>
          </a:prstGeom>
          <a:solidFill>
            <a:srgbClr val="FFF4EA"/>
          </a:solidFill>
          <a:ln w="12700">
            <a:solidFill>
              <a:srgbClr val="F0C69F"/>
            </a:solidFill>
            <a:prstDash val="solid"/>
          </a:ln>
        </p:spPr>
        <p:txBody>
          <a:bodyPr/>
          <a:lstStyle/>
          <a:p>
            <a:endParaRPr lang="en-IN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3" name="Text 20"/>
          <p:cNvSpPr/>
          <p:nvPr/>
        </p:nvSpPr>
        <p:spPr>
          <a:xfrm>
            <a:off x="4864608" y="5669280"/>
            <a:ext cx="6126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>
                <a:solidFill>
                  <a:schemeClr val="tx1">
                    <a:lumMod val="95000"/>
                    <a:lumOff val="5000"/>
                  </a:schemeClr>
                </a:solidFill>
              </a:rPr>
              <a:t>Management action: validate the assumptions through a controlled pilot.</a:t>
            </a:r>
            <a:endParaRPr lang="en-US" sz="110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4" name="Shape 21"/>
          <p:cNvSpPr/>
          <p:nvPr/>
        </p:nvSpPr>
        <p:spPr>
          <a:xfrm>
            <a:off x="594360" y="6464808"/>
            <a:ext cx="10972800" cy="9144"/>
          </a:xfrm>
          <a:prstGeom prst="rect">
            <a:avLst/>
          </a:prstGeom>
          <a:solidFill>
            <a:srgbClr val="D8E1E8"/>
          </a:solidFill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en-IN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6" name="Text 23"/>
          <p:cNvSpPr/>
          <p:nvPr/>
        </p:nvSpPr>
        <p:spPr>
          <a:xfrm>
            <a:off x="11064240" y="654710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chemeClr val="tx1">
                    <a:lumMod val="95000"/>
                    <a:lumOff val="5000"/>
                  </a:schemeClr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4103609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EB8568-585B-D947-4512-9B0AF534B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10DA4E8-BBE4-873F-78BF-9A2391722199}"/>
              </a:ext>
            </a:extLst>
          </p:cNvPr>
          <p:cNvSpPr/>
          <p:nvPr/>
        </p:nvSpPr>
        <p:spPr>
          <a:xfrm>
            <a:off x="594360" y="228600"/>
            <a:ext cx="10396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>
                <a:solidFill>
                  <a:srgbClr val="111184"/>
                </a:solidFill>
                <a:latin typeface="Book Antiqua"/>
              </a:rPr>
              <a:t>Future scope of work</a:t>
            </a:r>
            <a:endParaRPr lang="en-US" sz="3600" b="1">
              <a:solidFill>
                <a:srgbClr val="111184"/>
              </a:solidFill>
              <a:latin typeface="Book Antiqua" panose="02040602050305030304" pitchFamily="18" charset="0"/>
            </a:endParaRPr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11D87B4B-0872-504C-BF96-DE0568F92CD6}"/>
              </a:ext>
            </a:extLst>
          </p:cNvPr>
          <p:cNvSpPr/>
          <p:nvPr/>
        </p:nvSpPr>
        <p:spPr>
          <a:xfrm>
            <a:off x="499872" y="1485392"/>
            <a:ext cx="3127248" cy="187452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en-IN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29063765-4058-F06C-EE60-FE7B808AF204}"/>
              </a:ext>
            </a:extLst>
          </p:cNvPr>
          <p:cNvSpPr/>
          <p:nvPr/>
        </p:nvSpPr>
        <p:spPr>
          <a:xfrm>
            <a:off x="428752" y="1444752"/>
            <a:ext cx="73152" cy="1874520"/>
          </a:xfrm>
          <a:prstGeom prst="rect">
            <a:avLst/>
          </a:prstGeom>
          <a:solidFill>
            <a:srgbClr val="2A6F97"/>
          </a:solidFill>
          <a:ln w="12700">
            <a:solidFill>
              <a:srgbClr val="2A6F97"/>
            </a:solidFill>
            <a:prstDash val="solid"/>
          </a:ln>
        </p:spPr>
        <p:txBody>
          <a:bodyPr/>
          <a:lstStyle/>
          <a:p>
            <a:endParaRPr lang="en-IN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FC7E87C2-77C0-2F00-062F-37A7F0546D78}"/>
              </a:ext>
            </a:extLst>
          </p:cNvPr>
          <p:cNvSpPr/>
          <p:nvPr/>
        </p:nvSpPr>
        <p:spPr>
          <a:xfrm>
            <a:off x="728472" y="171399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>
                <a:solidFill>
                  <a:schemeClr val="tx1">
                    <a:lumMod val="95000"/>
                    <a:lumOff val="5000"/>
                  </a:schemeClr>
                </a:solidFill>
              </a:rPr>
              <a:t>Maintenance actions is </a:t>
            </a:r>
            <a:r>
              <a:rPr lang="en-US" sz="1400" b="1" err="1">
                <a:solidFill>
                  <a:schemeClr val="tx1">
                    <a:lumMod val="95000"/>
                    <a:lumOff val="5000"/>
                  </a:schemeClr>
                </a:solidFill>
              </a:rPr>
              <a:t>digitised</a:t>
            </a:r>
            <a:endParaRPr lang="en-US" sz="1400" err="1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5EC9F3A0-426B-83A8-BA9A-2E3C5FB7D1F0}"/>
              </a:ext>
            </a:extLst>
          </p:cNvPr>
          <p:cNvSpPr/>
          <p:nvPr/>
        </p:nvSpPr>
        <p:spPr>
          <a:xfrm>
            <a:off x="728472" y="2198624"/>
            <a:ext cx="2697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>
                <a:solidFill>
                  <a:schemeClr val="tx1">
                    <a:lumMod val="95000"/>
                    <a:lumOff val="5000"/>
                  </a:schemeClr>
                </a:solidFill>
              </a:rPr>
              <a:t>Engine logbooks are being </a:t>
            </a:r>
            <a:r>
              <a:rPr lang="en-US" sz="1200" err="1">
                <a:solidFill>
                  <a:schemeClr val="tx1">
                    <a:lumMod val="95000"/>
                    <a:lumOff val="5000"/>
                  </a:schemeClr>
                </a:solidFill>
              </a:rPr>
              <a:t>digitised</a:t>
            </a:r>
            <a:r>
              <a:rPr lang="en-US" sz="1200">
                <a:solidFill>
                  <a:schemeClr val="tx1">
                    <a:lumMod val="95000"/>
                    <a:lumOff val="5000"/>
                  </a:schemeClr>
                </a:solidFill>
              </a:rPr>
              <a:t> and will be fed to the model</a:t>
            </a:r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A64C71D0-DBFE-6F82-300D-13B7F4D5A35D}"/>
              </a:ext>
            </a:extLst>
          </p:cNvPr>
          <p:cNvSpPr/>
          <p:nvPr/>
        </p:nvSpPr>
        <p:spPr>
          <a:xfrm>
            <a:off x="8074152" y="1444752"/>
            <a:ext cx="3127248" cy="187452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en-IN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1F8415EE-B511-43D9-C8C8-C760BFD8E71A}"/>
              </a:ext>
            </a:extLst>
          </p:cNvPr>
          <p:cNvSpPr/>
          <p:nvPr/>
        </p:nvSpPr>
        <p:spPr>
          <a:xfrm>
            <a:off x="8074152" y="1444752"/>
            <a:ext cx="73152" cy="1874520"/>
          </a:xfrm>
          <a:prstGeom prst="rect">
            <a:avLst/>
          </a:prstGeom>
          <a:solidFill>
            <a:srgbClr val="238B74"/>
          </a:solidFill>
          <a:ln w="12700">
            <a:solidFill>
              <a:srgbClr val="238B74"/>
            </a:solidFill>
            <a:prstDash val="solid"/>
          </a:ln>
        </p:spPr>
        <p:txBody>
          <a:bodyPr/>
          <a:lstStyle/>
          <a:p>
            <a:endParaRPr lang="en-IN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2F04E0D2-132D-41BB-372E-CFDDB7E13A11}"/>
              </a:ext>
            </a:extLst>
          </p:cNvPr>
          <p:cNvSpPr/>
          <p:nvPr/>
        </p:nvSpPr>
        <p:spPr>
          <a:xfrm>
            <a:off x="8302752" y="167335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>
                <a:solidFill>
                  <a:schemeClr val="tx1">
                    <a:lumMod val="95000"/>
                    <a:lumOff val="5000"/>
                  </a:schemeClr>
                </a:solidFill>
              </a:rPr>
              <a:t>Integration of borescope inspection Video records </a:t>
            </a: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A579BB32-AA33-7E22-B855-0ECD037D9537}"/>
              </a:ext>
            </a:extLst>
          </p:cNvPr>
          <p:cNvSpPr/>
          <p:nvPr/>
        </p:nvSpPr>
        <p:spPr>
          <a:xfrm>
            <a:off x="8302752" y="2157984"/>
            <a:ext cx="2697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>
                <a:solidFill>
                  <a:schemeClr val="tx1">
                    <a:lumMod val="95000"/>
                    <a:lumOff val="5000"/>
                  </a:schemeClr>
                </a:solidFill>
              </a:rPr>
              <a:t>Video records will be used for modelling for predicting the faults</a:t>
            </a:r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DDDFE624-372C-6E4B-2707-7AEB09197EFC}"/>
              </a:ext>
            </a:extLst>
          </p:cNvPr>
          <p:cNvSpPr/>
          <p:nvPr/>
        </p:nvSpPr>
        <p:spPr>
          <a:xfrm>
            <a:off x="510032" y="3593592"/>
            <a:ext cx="3127248" cy="187452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en-IN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88918F85-E42A-AE3E-9081-ABBBDDF975F3}"/>
              </a:ext>
            </a:extLst>
          </p:cNvPr>
          <p:cNvSpPr/>
          <p:nvPr/>
        </p:nvSpPr>
        <p:spPr>
          <a:xfrm>
            <a:off x="438912" y="3593592"/>
            <a:ext cx="73152" cy="1874520"/>
          </a:xfrm>
          <a:prstGeom prst="rect">
            <a:avLst/>
          </a:prstGeom>
          <a:solidFill>
            <a:srgbClr val="E58A3A"/>
          </a:solidFill>
          <a:ln w="12700">
            <a:solidFill>
              <a:srgbClr val="E58A3A"/>
            </a:solidFill>
            <a:prstDash val="solid"/>
          </a:ln>
        </p:spPr>
        <p:txBody>
          <a:bodyPr/>
          <a:lstStyle/>
          <a:p>
            <a:endParaRPr lang="en-IN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4F0B8A0E-2783-D2A0-A055-8132BEA34718}"/>
              </a:ext>
            </a:extLst>
          </p:cNvPr>
          <p:cNvSpPr/>
          <p:nvPr/>
        </p:nvSpPr>
        <p:spPr>
          <a:xfrm>
            <a:off x="738632" y="382219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>
                <a:solidFill>
                  <a:schemeClr val="tx1">
                    <a:lumMod val="95000"/>
                    <a:lumOff val="5000"/>
                  </a:schemeClr>
                </a:solidFill>
              </a:rPr>
              <a:t>Addition of High density data</a:t>
            </a:r>
            <a:endParaRPr 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BDE15C61-81CC-3EA8-06D0-FB37B2FF3DCD}"/>
              </a:ext>
            </a:extLst>
          </p:cNvPr>
          <p:cNvSpPr/>
          <p:nvPr/>
        </p:nvSpPr>
        <p:spPr>
          <a:xfrm>
            <a:off x="728472" y="4306824"/>
            <a:ext cx="2880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>
                <a:solidFill>
                  <a:schemeClr val="tx1">
                    <a:lumMod val="95000"/>
                    <a:lumOff val="5000"/>
                  </a:schemeClr>
                </a:solidFill>
              </a:rPr>
              <a:t>High Density data will be added to the model and it is expected to get ROC data up 0.8</a:t>
            </a:r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6BEC8F9A-AE06-BA3C-8646-05D8E82C70D9}"/>
              </a:ext>
            </a:extLst>
          </p:cNvPr>
          <p:cNvSpPr/>
          <p:nvPr/>
        </p:nvSpPr>
        <p:spPr>
          <a:xfrm>
            <a:off x="8074152" y="3593592"/>
            <a:ext cx="3127248" cy="187452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en-IN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DB4A48B3-6321-3791-D583-DA52E606F2F2}"/>
              </a:ext>
            </a:extLst>
          </p:cNvPr>
          <p:cNvSpPr/>
          <p:nvPr/>
        </p:nvSpPr>
        <p:spPr>
          <a:xfrm>
            <a:off x="8074152" y="3593592"/>
            <a:ext cx="73152" cy="1874520"/>
          </a:xfrm>
          <a:prstGeom prst="rect">
            <a:avLst/>
          </a:prstGeom>
          <a:solidFill>
            <a:srgbClr val="D64B3C"/>
          </a:solidFill>
          <a:ln w="12700">
            <a:solidFill>
              <a:srgbClr val="D64B3C"/>
            </a:solidFill>
            <a:prstDash val="solid"/>
          </a:ln>
        </p:spPr>
        <p:txBody>
          <a:bodyPr/>
          <a:lstStyle/>
          <a:p>
            <a:endParaRPr lang="en-IN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2FAF4CA7-8A78-2097-8B8F-728A0A3D0229}"/>
              </a:ext>
            </a:extLst>
          </p:cNvPr>
          <p:cNvSpPr/>
          <p:nvPr/>
        </p:nvSpPr>
        <p:spPr>
          <a:xfrm>
            <a:off x="8302752" y="382219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>
                <a:solidFill>
                  <a:schemeClr val="tx1">
                    <a:lumMod val="95000"/>
                    <a:lumOff val="5000"/>
                  </a:schemeClr>
                </a:solidFill>
              </a:rPr>
              <a:t>LLM integration on the edge device</a:t>
            </a:r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44977AEC-9123-4444-27A7-CC7D6659863D}"/>
              </a:ext>
            </a:extLst>
          </p:cNvPr>
          <p:cNvSpPr/>
          <p:nvPr/>
        </p:nvSpPr>
        <p:spPr>
          <a:xfrm>
            <a:off x="8302752" y="4306824"/>
            <a:ext cx="2697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>
                <a:solidFill>
                  <a:schemeClr val="tx1">
                    <a:lumMod val="95000"/>
                    <a:lumOff val="5000"/>
                  </a:schemeClr>
                </a:solidFill>
              </a:rPr>
              <a:t>Create actionable alerts </a:t>
            </a:r>
            <a:r>
              <a:rPr lang="en-US" sz="1200" err="1">
                <a:solidFill>
                  <a:schemeClr val="tx1">
                    <a:lumMod val="95000"/>
                    <a:lumOff val="5000"/>
                  </a:schemeClr>
                </a:solidFill>
              </a:rPr>
              <a:t>afte</a:t>
            </a:r>
            <a:r>
              <a:rPr lang="en-US" sz="1200">
                <a:solidFill>
                  <a:schemeClr val="tx1">
                    <a:lumMod val="95000"/>
                    <a:lumOff val="5000"/>
                  </a:schemeClr>
                </a:solidFill>
              </a:rPr>
              <a:t>r every landing</a:t>
            </a:r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765C114D-5E13-3E8C-D108-5FD0B5445A70}"/>
              </a:ext>
            </a:extLst>
          </p:cNvPr>
          <p:cNvSpPr/>
          <p:nvPr/>
        </p:nvSpPr>
        <p:spPr>
          <a:xfrm>
            <a:off x="594360" y="6464808"/>
            <a:ext cx="10972800" cy="9144"/>
          </a:xfrm>
          <a:prstGeom prst="rect">
            <a:avLst/>
          </a:prstGeom>
          <a:solidFill>
            <a:srgbClr val="D8E1E8"/>
          </a:solidFill>
          <a:ln w="12700">
            <a:solidFill>
              <a:srgbClr val="D8E1E8"/>
            </a:solidFill>
            <a:prstDash val="solid"/>
          </a:ln>
        </p:spPr>
        <p:txBody>
          <a:bodyPr/>
          <a:lstStyle/>
          <a:p>
            <a:endParaRPr lang="en-IN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4E7622AF-D8A2-A831-A708-17F3C43C78D8}"/>
              </a:ext>
            </a:extLst>
          </p:cNvPr>
          <p:cNvSpPr/>
          <p:nvPr/>
        </p:nvSpPr>
        <p:spPr>
          <a:xfrm>
            <a:off x="11064240" y="654710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>
                <a:solidFill>
                  <a:schemeClr val="tx1">
                    <a:lumMod val="95000"/>
                    <a:lumOff val="5000"/>
                  </a:schemeClr>
                </a:solidFill>
              </a:rPr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5752060-8BD5-A9A2-1B77-CCF2019D67A6}"/>
              </a:ext>
            </a:extLst>
          </p:cNvPr>
          <p:cNvSpPr txBox="1"/>
          <p:nvPr/>
        </p:nvSpPr>
        <p:spPr>
          <a:xfrm>
            <a:off x="1060753" y="5689497"/>
            <a:ext cx="9791513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Note: Work underway for the above which have higher impact on engine maintenance philosophy.</a:t>
            </a:r>
            <a:endParaRPr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3563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Title 16"/>
          <p:cNvSpPr txBox="1"/>
          <p:nvPr/>
        </p:nvSpPr>
        <p:spPr>
          <a:xfrm>
            <a:off x="541454" y="471086"/>
            <a:ext cx="11109092" cy="21832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 anchor="t">
            <a:sp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defRPr sz="5000" b="1">
                <a:solidFill>
                  <a:srgbClr val="FFFFFF"/>
                </a:solidFill>
                <a:latin typeface="Book Antiqua"/>
                <a:ea typeface="Book Antiqua"/>
                <a:cs typeface="Book Antiqua"/>
                <a:sym typeface="Book Antiqua"/>
              </a:defRPr>
            </a:pPr>
            <a:r>
              <a:rPr lang="en-US" sz="15000">
                <a:latin typeface="Aptos" panose="020B0004020202020204" pitchFamily="34" charset="0"/>
              </a:rPr>
              <a:t>Thank you</a:t>
            </a:r>
            <a:endParaRPr sz="15000">
              <a:latin typeface="Aptos" panose="020B00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 txBox="1"/>
          <p:nvPr/>
        </p:nvSpPr>
        <p:spPr>
          <a:xfrm>
            <a:off x="224549" y="375483"/>
            <a:ext cx="1196745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>
                <a:solidFill>
                  <a:schemeClr val="tx1">
                    <a:lumMod val="95000"/>
                    <a:lumOff val="5000"/>
                  </a:schemeClr>
                </a:solidFill>
                <a:latin typeface="Cambria"/>
                <a:ea typeface="Cambria"/>
                <a:cs typeface="Cambria" pitchFamily="34" charset="-120"/>
              </a:rPr>
              <a:t>The Strongest Natural Experiment Available- </a:t>
            </a:r>
            <a:r>
              <a:rPr lang="en-US" sz="2800" b="1" spc="200">
                <a:solidFill>
                  <a:schemeClr val="tx1">
                    <a:lumMod val="95000"/>
                    <a:lumOff val="5000"/>
                  </a:schemeClr>
                </a:solidFill>
                <a:latin typeface="Cambria"/>
                <a:ea typeface="Calibri"/>
                <a:cs typeface="Calibri"/>
              </a:rPr>
              <a:t>CROSS-ENGINE COMPARISON</a:t>
            </a:r>
            <a:endParaRPr lang="en-US" sz="2800">
              <a:solidFill>
                <a:schemeClr val="tx1">
                  <a:lumMod val="95000"/>
                  <a:lumOff val="5000"/>
                </a:schemeClr>
              </a:solidFill>
              <a:latin typeface="Cambria" pitchFamily="18" charset="0"/>
            </a:endParaRPr>
          </a:p>
          <a:p>
            <a:pPr marL="0" indent="0">
              <a:buNone/>
            </a:pPr>
            <a:endParaRPr lang="en-US" sz="2600">
              <a:solidFill>
                <a:schemeClr val="tx1">
                  <a:lumMod val="95000"/>
                  <a:lumOff val="5000"/>
                </a:schemeClr>
              </a:solidFill>
              <a:latin typeface="Cambria" pitchFamily="18" charset="0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548640" y="137160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  <a:latin typeface="Cambria" pitchFamily="18" charset="0"/>
                <a:ea typeface="Calibri" pitchFamily="34" charset="-122"/>
                <a:cs typeface="Calibri" pitchFamily="34" charset="-120"/>
              </a:rPr>
              <a:t>Two engines on the same aircraft, at the same landing, share almost everything that could otherwise confound a comparison: runway condition, aircraft weight, atmosphere, pilot technique.</a:t>
            </a:r>
            <a:endParaRPr lang="en-US" sz="1400">
              <a:solidFill>
                <a:schemeClr val="tx1">
                  <a:lumMod val="95000"/>
                  <a:lumOff val="5000"/>
                </a:schemeClr>
              </a:solidFill>
              <a:latin typeface="Cambria" pitchFamily="18" charset="0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463373" y="2684206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  <a:latin typeface="Cambria" pitchFamily="18" charset="0"/>
                <a:ea typeface="Calibri" pitchFamily="34" charset="-122"/>
                <a:cs typeface="Calibri" pitchFamily="34" charset="-120"/>
              </a:rPr>
              <a:t>That leaves engine health as close to the only variable as real operational data gets — a far cleaner comparison than across different landings or different aircraft.</a:t>
            </a:r>
            <a:endParaRPr lang="en-US" sz="1400">
              <a:solidFill>
                <a:schemeClr val="tx1">
                  <a:lumMod val="95000"/>
                  <a:lumOff val="5000"/>
                </a:schemeClr>
              </a:solidFill>
              <a:latin typeface="Cambria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6492240" y="1371600"/>
            <a:ext cx="5120640" cy="4754880"/>
          </a:xfrm>
          <a:prstGeom prst="roundRect">
            <a:avLst>
              <a:gd name="adj" fmla="val 1538"/>
            </a:avLst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endParaRPr lang="en-IN"/>
          </a:p>
        </p:txBody>
      </p:sp>
      <p:pic>
        <p:nvPicPr>
          <p:cNvPr id="12" name="Image 1" descr="/home/claude/tr_deck/icon_plan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0563" y="1423232"/>
            <a:ext cx="1005840" cy="100584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492240" y="247479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chemeClr val="tx1">
                    <a:lumMod val="95000"/>
                    <a:lumOff val="5000"/>
                  </a:schemeClr>
                </a:solidFill>
                <a:latin typeface="Cambria" pitchFamily="18" charset="0"/>
                <a:ea typeface="Cambria" pitchFamily="34" charset="-122"/>
                <a:cs typeface="Cambria" pitchFamily="34" charset="-120"/>
              </a:rPr>
              <a:t>Same Aircraft, Same Landing</a:t>
            </a:r>
            <a:endParaRPr lang="en-US" sz="1300">
              <a:solidFill>
                <a:schemeClr val="tx1">
                  <a:lumMod val="95000"/>
                  <a:lumOff val="5000"/>
                </a:schemeClr>
              </a:solidFill>
              <a:latin typeface="Cambria" pitchFamily="18" charset="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6949440" y="2992936"/>
            <a:ext cx="1554480" cy="1371600"/>
          </a:xfrm>
          <a:prstGeom prst="roundRect">
            <a:avLst>
              <a:gd name="adj" fmla="val 4000"/>
            </a:avLst>
          </a:prstGeom>
          <a:solidFill>
            <a:schemeClr val="accent2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1"/>
          <p:cNvSpPr txBox="1"/>
          <p:nvPr/>
        </p:nvSpPr>
        <p:spPr>
          <a:xfrm>
            <a:off x="6949440" y="3404416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chemeClr val="tx1">
                    <a:lumMod val="95000"/>
                    <a:lumOff val="5000"/>
                  </a:schemeClr>
                </a:solidFill>
                <a:latin typeface="Cambria" pitchFamily="18" charset="0"/>
                <a:ea typeface="Cambria" pitchFamily="34" charset="-122"/>
                <a:cs typeface="Cambria" pitchFamily="34" charset="-120"/>
              </a:rPr>
              <a:t>LEFT</a:t>
            </a:r>
            <a:endParaRPr lang="en-US" sz="1300">
              <a:solidFill>
                <a:schemeClr val="tx1">
                  <a:lumMod val="95000"/>
                  <a:lumOff val="5000"/>
                </a:schemeClr>
              </a:solidFill>
              <a:latin typeface="Cambria" pitchFamily="18" charset="0"/>
            </a:endParaRPr>
          </a:p>
          <a:p>
            <a:pPr marL="0" indent="0" algn="ctr">
              <a:buNone/>
            </a:pPr>
            <a:r>
              <a:rPr lang="en-US" sz="1300" b="1">
                <a:solidFill>
                  <a:schemeClr val="tx1">
                    <a:lumMod val="95000"/>
                    <a:lumOff val="5000"/>
                  </a:schemeClr>
                </a:solidFill>
                <a:latin typeface="Cambria" pitchFamily="18" charset="0"/>
                <a:ea typeface="Cambria" pitchFamily="34" charset="-122"/>
                <a:cs typeface="Cambria" pitchFamily="34" charset="-120"/>
              </a:rPr>
              <a:t>ENGINE</a:t>
            </a:r>
            <a:endParaRPr lang="en-US" sz="1300">
              <a:solidFill>
                <a:schemeClr val="tx1">
                  <a:lumMod val="95000"/>
                  <a:lumOff val="5000"/>
                </a:schemeClr>
              </a:solidFill>
              <a:latin typeface="Cambria" pitchFamily="18" charset="0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9601200" y="2992936"/>
            <a:ext cx="1554480" cy="1371600"/>
          </a:xfrm>
          <a:prstGeom prst="roundRect">
            <a:avLst>
              <a:gd name="adj" fmla="val 4000"/>
            </a:avLst>
          </a:prstGeom>
          <a:solidFill>
            <a:schemeClr val="accent4">
              <a:lumMod val="75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3"/>
          <p:cNvSpPr txBox="1"/>
          <p:nvPr/>
        </p:nvSpPr>
        <p:spPr>
          <a:xfrm>
            <a:off x="9601200" y="3404416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chemeClr val="tx1">
                    <a:lumMod val="95000"/>
                    <a:lumOff val="5000"/>
                  </a:schemeClr>
                </a:solidFill>
                <a:latin typeface="Cambria" pitchFamily="18" charset="0"/>
                <a:ea typeface="Cambria" pitchFamily="34" charset="-122"/>
                <a:cs typeface="Cambria" pitchFamily="34" charset="-120"/>
              </a:rPr>
              <a:t>RIGHT</a:t>
            </a:r>
            <a:endParaRPr lang="en-US" sz="1300">
              <a:solidFill>
                <a:schemeClr val="tx1">
                  <a:lumMod val="95000"/>
                  <a:lumOff val="5000"/>
                </a:schemeClr>
              </a:solidFill>
              <a:latin typeface="Cambria" pitchFamily="18" charset="0"/>
            </a:endParaRPr>
          </a:p>
          <a:p>
            <a:pPr marL="0" indent="0" algn="ctr">
              <a:buNone/>
            </a:pPr>
            <a:r>
              <a:rPr lang="en-US" sz="1300" b="1">
                <a:solidFill>
                  <a:schemeClr val="tx1">
                    <a:lumMod val="95000"/>
                    <a:lumOff val="5000"/>
                  </a:schemeClr>
                </a:solidFill>
                <a:latin typeface="Cambria" pitchFamily="18" charset="0"/>
                <a:ea typeface="Cambria" pitchFamily="34" charset="-122"/>
                <a:cs typeface="Cambria" pitchFamily="34" charset="-120"/>
              </a:rPr>
              <a:t>ENGINE</a:t>
            </a:r>
            <a:endParaRPr lang="en-US" sz="1300">
              <a:solidFill>
                <a:schemeClr val="tx1">
                  <a:lumMod val="95000"/>
                  <a:lumOff val="5000"/>
                </a:schemeClr>
              </a:solidFill>
              <a:latin typeface="Cambria" pitchFamily="18" charset="0"/>
            </a:endParaRPr>
          </a:p>
        </p:txBody>
      </p:sp>
      <p:sp>
        <p:nvSpPr>
          <p:cNvPr id="18" name="Shape 14"/>
          <p:cNvSpPr/>
          <p:nvPr/>
        </p:nvSpPr>
        <p:spPr>
          <a:xfrm>
            <a:off x="8503920" y="3678736"/>
            <a:ext cx="109728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5"/>
          <p:cNvSpPr txBox="1"/>
          <p:nvPr/>
        </p:nvSpPr>
        <p:spPr>
          <a:xfrm>
            <a:off x="8229600" y="378846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>
                <a:solidFill>
                  <a:schemeClr val="tx1">
                    <a:lumMod val="95000"/>
                    <a:lumOff val="5000"/>
                  </a:schemeClr>
                </a:solidFill>
                <a:latin typeface="Cambria" pitchFamily="18" charset="0"/>
                <a:ea typeface="Calibri" pitchFamily="34" charset="-122"/>
                <a:cs typeface="Calibri" pitchFamily="34" charset="-120"/>
              </a:rPr>
              <a:t>Δ trailing-window features</a:t>
            </a:r>
            <a:endParaRPr lang="en-US" sz="950">
              <a:solidFill>
                <a:schemeClr val="tx1">
                  <a:lumMod val="95000"/>
                  <a:lumOff val="5000"/>
                </a:schemeClr>
              </a:solidFill>
              <a:latin typeface="Cambria" pitchFamily="18" charset="0"/>
            </a:endParaRPr>
          </a:p>
        </p:txBody>
      </p:sp>
      <p:sp>
        <p:nvSpPr>
          <p:cNvPr id="20" name="Text 16"/>
          <p:cNvSpPr txBox="1"/>
          <p:nvPr/>
        </p:nvSpPr>
        <p:spPr>
          <a:xfrm>
            <a:off x="6492240" y="4930815"/>
            <a:ext cx="5120640" cy="10585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  <a:latin typeface="Cambria" pitchFamily="18" charset="0"/>
                <a:ea typeface="Calibri" pitchFamily="34" charset="-122"/>
                <a:cs typeface="Calibri" pitchFamily="34" charset="-120"/>
              </a:rPr>
              <a:t>A large, sustained delta between sides — not just an absolute level on one side — is a strong, physically grounded fault signature.</a:t>
            </a:r>
          </a:p>
          <a:p>
            <a:r>
              <a:rPr lang="en-IN" sz="1400">
                <a:solidFill>
                  <a:schemeClr val="tx1">
                    <a:lumMod val="95000"/>
                    <a:lumOff val="5000"/>
                  </a:schemeClr>
                </a:solidFill>
                <a:latin typeface="Cambria" pitchFamily="18" charset="0"/>
              </a:rPr>
              <a:t>“Is Engine A behaving differently from the other engine on the same aircraft?”</a:t>
            </a:r>
            <a:endParaRPr lang="en-US" sz="1400">
              <a:solidFill>
                <a:schemeClr val="tx1">
                  <a:lumMod val="95000"/>
                  <a:lumOff val="5000"/>
                </a:schemeClr>
              </a:solidFill>
              <a:latin typeface="Cambria" pitchFamily="18" charset="0"/>
            </a:endParaRPr>
          </a:p>
          <a:p>
            <a:r>
              <a:rPr lang="en-IN" sz="1400">
                <a:solidFill>
                  <a:schemeClr val="tx1">
                    <a:lumMod val="95000"/>
                    <a:lumOff val="5000"/>
                  </a:schemeClr>
                </a:solidFill>
                <a:latin typeface="Cambria" pitchFamily="18" charset="0"/>
              </a:rPr>
              <a:t>That can be a powerful predictive-maintenance signal.</a:t>
            </a:r>
            <a:endParaRPr lang="en-US" sz="1400">
              <a:solidFill>
                <a:schemeClr val="tx1">
                  <a:lumMod val="95000"/>
                  <a:lumOff val="5000"/>
                </a:schemeClr>
              </a:solidFill>
              <a:latin typeface="Cambria" pitchFamily="18" charset="0"/>
            </a:endParaRPr>
          </a:p>
          <a:p>
            <a:pPr marL="0" indent="0">
              <a:lnSpc>
                <a:spcPct val="125000"/>
              </a:lnSpc>
              <a:buNone/>
            </a:pPr>
            <a:endParaRPr lang="en-US" sz="1400">
              <a:solidFill>
                <a:schemeClr val="tx1">
                  <a:lumMod val="95000"/>
                  <a:lumOff val="5000"/>
                </a:schemeClr>
              </a:solidFill>
              <a:latin typeface="Cambria" pitchFamily="18" charset="0"/>
            </a:endParaRPr>
          </a:p>
        </p:txBody>
      </p:sp>
      <p:sp>
        <p:nvSpPr>
          <p:cNvPr id="21" name="Text 17"/>
          <p:cNvSpPr txBox="1"/>
          <p:nvPr/>
        </p:nvSpPr>
        <p:spPr>
          <a:xfrm>
            <a:off x="1161288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chemeClr val="tx1">
                    <a:lumMod val="95000"/>
                    <a:lumOff val="5000"/>
                  </a:schemeClr>
                </a:solidFill>
                <a:latin typeface="Cambria" pitchFamily="18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>
              <a:solidFill>
                <a:schemeClr val="tx1">
                  <a:lumMod val="95000"/>
                  <a:lumOff val="5000"/>
                </a:schemeClr>
              </a:solidFill>
              <a:latin typeface="Cambria" pitchFamily="18" charset="0"/>
            </a:endParaRPr>
          </a:p>
        </p:txBody>
      </p:sp>
      <p:sp>
        <p:nvSpPr>
          <p:cNvPr id="8193" name="Rectangle 1"/>
          <p:cNvSpPr>
            <a:spLocks noChangeArrowheads="1"/>
          </p:cNvSpPr>
          <p:nvPr/>
        </p:nvSpPr>
        <p:spPr bwMode="auto">
          <a:xfrm>
            <a:off x="463373" y="4327119"/>
            <a:ext cx="5236388" cy="11695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1400" b="0" i="0" u="none" strike="noStrike" cap="none" normalizeH="0" baseline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mbria" pitchFamily="18" charset="0"/>
                <a:ea typeface="Times New Roman" pitchFamily="18" charset="0"/>
                <a:cs typeface="Times New Roman" pitchFamily="18" charset="0"/>
              </a:rPr>
              <a:t>Suppose an aircraft has:</a:t>
            </a:r>
            <a:endParaRPr kumimoji="0" lang="en-US" sz="1400" b="0" i="0" u="none" strike="noStrike" cap="none" normalizeH="0" baseline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latin typeface="Cambria" pitchFamily="18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1400" b="0" i="0" u="none" strike="noStrike" cap="none" normalizeH="0" baseline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mbria" pitchFamily="18" charset="0"/>
                <a:ea typeface="Times New Roman" pitchFamily="18" charset="0"/>
                <a:cs typeface="Courier New" pitchFamily="49" charset="0"/>
              </a:rPr>
              <a:t>Engine A = left engine</a:t>
            </a:r>
            <a:endParaRPr kumimoji="0" lang="en-US" sz="1400" b="0" i="0" u="none" strike="noStrike" cap="none" normalizeH="0" baseline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latin typeface="Cambria" pitchFamily="18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1400" b="0" i="0" u="none" strike="noStrike" cap="none" normalizeH="0" baseline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mbria" pitchFamily="18" charset="0"/>
                <a:ea typeface="Times New Roman" pitchFamily="18" charset="0"/>
                <a:cs typeface="Courier New" pitchFamily="49" charset="0"/>
              </a:rPr>
              <a:t>Engine B = right engine</a:t>
            </a:r>
            <a:endParaRPr kumimoji="0" lang="en-US" sz="1400" b="0" i="0" u="none" strike="noStrike" cap="none" normalizeH="0" baseline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latin typeface="Cambria" pitchFamily="18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81025" algn="l"/>
                <a:tab pos="1163638" algn="l"/>
                <a:tab pos="1744663" algn="l"/>
                <a:tab pos="2327275" algn="l"/>
                <a:tab pos="2908300" algn="l"/>
                <a:tab pos="3489325" algn="l"/>
                <a:tab pos="4071938" algn="l"/>
                <a:tab pos="4652963" algn="l"/>
                <a:tab pos="5235575" algn="l"/>
                <a:tab pos="5816600" algn="l"/>
                <a:tab pos="6397625" algn="l"/>
                <a:tab pos="6980238" algn="l"/>
                <a:tab pos="7561263" algn="l"/>
                <a:tab pos="8143875" algn="l"/>
                <a:tab pos="8724900" algn="l"/>
                <a:tab pos="9305925" algn="l"/>
              </a:tabLst>
            </a:pPr>
            <a:r>
              <a:rPr kumimoji="0" lang="en-US" sz="1400" b="0" i="0" u="none" strike="noStrike" cap="none" normalizeH="0" baseline="0">
                <a:ln>
                  <a:noFill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mbria" pitchFamily="18" charset="0"/>
                <a:ea typeface="Times New Roman" pitchFamily="18" charset="0"/>
                <a:cs typeface="Times New Roman" pitchFamily="18" charset="0"/>
              </a:rPr>
              <a:t>and both engines are operating on the same aircraft during the same landing.</a:t>
            </a:r>
            <a:endParaRPr kumimoji="0" lang="en-US" sz="1600" b="0" i="0" u="none" strike="noStrike" cap="none" normalizeH="0" baseline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latin typeface="Cambria" pitchFamily="18" charset="0"/>
              <a:cs typeface="Arial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162F7E-2A67-2822-59DB-D31AA770FE6B}"/>
              </a:ext>
            </a:extLst>
          </p:cNvPr>
          <p:cNvSpPr txBox="1"/>
          <p:nvPr/>
        </p:nvSpPr>
        <p:spPr>
          <a:xfrm>
            <a:off x="216971" y="5797983"/>
            <a:ext cx="6014955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Work in Progress- to be further explored </a:t>
            </a:r>
            <a:endParaRPr kumimoji="0" lang="en-US" sz="18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Aptos Displa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Aptos Display"/>
        <a:ea typeface="Aptos Display"/>
        <a:cs typeface="Aptos Display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ptos Display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ptos Display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Aptos Display"/>
        <a:ea typeface="Aptos Display"/>
        <a:cs typeface="Aptos Display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ptos Display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ptos Display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Metadata/LabelInfo.xml><?xml version="1.0" encoding="utf-8"?>
<clbl:labelList xmlns:clbl="http://schemas.microsoft.com/office/2020/mipLabelMetadata">
  <clbl:label id="{70ea2e9a-ed1c-457b-8cb8-a3ba3a87d0ba}" enabled="1" method="Privileged" siteId="{7597b9d4-4dbf-4a04-888f-21d6563b1812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3279</Words>
  <Application>Microsoft Office PowerPoint</Application>
  <PresentationFormat>Widescreen</PresentationFormat>
  <Paragraphs>579</Paragraphs>
  <Slides>23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3" baseType="lpstr">
      <vt:lpstr>Aptos</vt:lpstr>
      <vt:lpstr>Aptos Display</vt:lpstr>
      <vt:lpstr>Arial</vt:lpstr>
      <vt:lpstr>Book Antiqua</vt:lpstr>
      <vt:lpstr>Calibri</vt:lpstr>
      <vt:lpstr>Cambria</vt:lpstr>
      <vt:lpstr>Candara</vt:lpstr>
      <vt:lpstr>Georgia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Srinivasa Vara Prasad</dc:creator>
  <cp:lastModifiedBy>Prabhala Srinivasa Vara Prasad</cp:lastModifiedBy>
  <cp:revision>1</cp:revision>
  <dcterms:created xsi:type="dcterms:W3CDTF">2026-09-28T12:45:29Z</dcterms:created>
  <dcterms:modified xsi:type="dcterms:W3CDTF">2026-10-08T09:55:54Z</dcterms:modified>
</cp:coreProperties>
</file>